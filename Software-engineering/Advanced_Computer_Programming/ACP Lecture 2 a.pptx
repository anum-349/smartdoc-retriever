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70" r:id="rId6"/>
    <p:sldId id="260" r:id="rId7"/>
    <p:sldId id="271" r:id="rId8"/>
    <p:sldId id="261" r:id="rId9"/>
    <p:sldId id="262" r:id="rId10"/>
    <p:sldId id="264" r:id="rId11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4717" autoAdjust="0"/>
  </p:normalViewPr>
  <p:slideViewPr>
    <p:cSldViewPr snapToGrid="0">
      <p:cViewPr varScale="1">
        <p:scale>
          <a:sx n="44" d="100"/>
          <a:sy n="44" d="100"/>
        </p:scale>
        <p:origin x="17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94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D83458-E1A7-4D71-B26D-DA9FCEC1DD77}" type="datetimeFigureOut">
              <a:rPr lang="en-AE" smtClean="0"/>
              <a:t>28/09/2024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1D7A7F-F500-4F17-9BBA-49702C9C85F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1860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System.out.printf</a:t>
            </a:r>
            <a:r>
              <a:rPr lang="en-GB" dirty="0"/>
              <a:t>(“%c”,</a:t>
            </a:r>
            <a:r>
              <a:rPr lang="en-GB" dirty="0" err="1"/>
              <a:t>ch</a:t>
            </a:r>
            <a:r>
              <a:rPr lang="en-GB" dirty="0"/>
              <a:t>)</a:t>
            </a:r>
          </a:p>
          <a:p>
            <a:r>
              <a:rPr lang="en-AE" dirty="0"/>
              <a:t>%d(Format specifier) -&gt; for int </a:t>
            </a:r>
          </a:p>
          <a:p>
            <a:r>
              <a:rPr lang="en-AE" dirty="0"/>
              <a:t>%f -&gt;for float</a:t>
            </a:r>
          </a:p>
          <a:p>
            <a:r>
              <a:rPr lang="en-AE" dirty="0"/>
              <a:t>%c -&gt; character</a:t>
            </a:r>
          </a:p>
          <a:p>
            <a:r>
              <a:rPr lang="en-AE" dirty="0"/>
              <a:t>%s -&gt; string</a:t>
            </a:r>
          </a:p>
          <a:p>
            <a:endParaRPr lang="en-AE" dirty="0"/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1D7A7F-F500-4F17-9BBA-49702C9C85FA}" type="slidenum">
              <a:rPr lang="en-AE" smtClean="0"/>
              <a:t>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17148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Car class has </a:t>
            </a:r>
            <a:r>
              <a:rPr lang="en-GB" b="1" dirty="0"/>
              <a:t>private</a:t>
            </a:r>
            <a:r>
              <a:rPr lang="en-GB" dirty="0"/>
              <a:t> attributes (fields) to protect the data and </a:t>
            </a:r>
            <a:r>
              <a:rPr lang="en-GB" b="1" dirty="0"/>
              <a:t>public</a:t>
            </a:r>
            <a:r>
              <a:rPr lang="en-GB" dirty="0"/>
              <a:t> methods (getters and setters) to access and modify the data. The </a:t>
            </a:r>
            <a:r>
              <a:rPr lang="en-GB" b="1" dirty="0"/>
              <a:t>constructor</a:t>
            </a:r>
            <a:r>
              <a:rPr lang="en-GB" dirty="0"/>
              <a:t> initializes the Car object with values for model, year, and price</a:t>
            </a:r>
            <a:br>
              <a:rPr lang="en-GB" dirty="0"/>
            </a:br>
            <a:br>
              <a:rPr lang="en-GB" dirty="0"/>
            </a:br>
            <a:r>
              <a:rPr lang="en-GB" b="1" dirty="0"/>
              <a:t>Creating Objects: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To use a class, create an instance (object) of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new keyword to invoke the constructor.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1D7A7F-F500-4F17-9BBA-49702C9C85FA}" type="slidenum">
              <a:rPr lang="en-AE" smtClean="0"/>
              <a:t>10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13320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7DDAA-A3F7-4BE8-9767-BD005BBBD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556A7F-32CA-AD0F-E280-C8C1E21FC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284B5-8F49-56B9-831E-E16B44D53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27C9-C5E9-4171-8D5C-3AE79279736F}" type="datetimeFigureOut">
              <a:rPr lang="en-AE" smtClean="0"/>
              <a:t>28/09/2024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5E728-3A7E-D44B-3D6A-9C711C9D0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365BD-DB36-E96A-B536-1EF2DCBE8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3FA4-88A5-470E-9392-0905F75FA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05370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8F830-E74F-EE26-A1CB-1C6B28D03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11EC2-5A38-C7D3-D662-6DD513D08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0E3AB-9D7D-F127-FE73-7407A228E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27C9-C5E9-4171-8D5C-3AE79279736F}" type="datetimeFigureOut">
              <a:rPr lang="en-AE" smtClean="0"/>
              <a:t>28/09/2024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97CA1-A1B9-1C1F-4DB8-9CCC0F80D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3155F-93D7-B19C-0DE0-CD3AEAA4D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3FA4-88A5-470E-9392-0905F75FA5B2}" type="slidenum">
              <a:rPr lang="en-AE" smtClean="0"/>
              <a:t>‹#›</a:t>
            </a:fld>
            <a:endParaRPr lang="en-AE"/>
          </a:p>
        </p:txBody>
      </p:sp>
      <p:pic>
        <p:nvPicPr>
          <p:cNvPr id="7" name="Picture 6" descr="java">
            <a:extLst>
              <a:ext uri="{FF2B5EF4-FFF2-40B4-BE49-F238E27FC236}">
                <a16:creationId xmlns:a16="http://schemas.microsoft.com/office/drawing/2014/main" id="{541F7D36-47AA-A397-71CC-2C28E90E54E3}"/>
              </a:ext>
            </a:extLst>
          </p:cNvPr>
          <p:cNvPicPr>
            <a:picLocks noGrp="1" noChangeAspect="1"/>
          </p:cNvPicPr>
          <p:nvPr isPhoto="1" userDrawn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3180" y="5059180"/>
            <a:ext cx="1798820" cy="179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918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D2829-8B34-D0AB-F1AE-D0FC9C32C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8A13D-7E70-392C-6314-CAFEE9702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A54CB-69CD-198C-E315-782981278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27C9-C5E9-4171-8D5C-3AE79279736F}" type="datetimeFigureOut">
              <a:rPr lang="en-AE" smtClean="0"/>
              <a:t>28/09/2024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3687B-8BC1-30ED-5356-50CD595CA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3ACC0-4355-730D-8610-56C990821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3FA4-88A5-470E-9392-0905F75FA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58608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646AA-6F48-78AA-DA40-3D6862988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E293-6AD1-FB87-482A-C122DA973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9F6C8F-04C4-DE61-108A-3AF8EC5FD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982F6-4327-9B2B-4B50-AB7765F50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27C9-C5E9-4171-8D5C-3AE79279736F}" type="datetimeFigureOut">
              <a:rPr lang="en-AE" smtClean="0"/>
              <a:t>28/09/2024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3FCE0-813B-FF87-57AA-A9D78D284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F4D83-1774-1C29-3651-04E26C94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3FA4-88A5-470E-9392-0905F75FA5B2}" type="slidenum">
              <a:rPr lang="en-AE" smtClean="0"/>
              <a:t>‹#›</a:t>
            </a:fld>
            <a:endParaRPr lang="en-AE"/>
          </a:p>
        </p:txBody>
      </p:sp>
      <p:pic>
        <p:nvPicPr>
          <p:cNvPr id="8" name="Picture 7" descr="java">
            <a:extLst>
              <a:ext uri="{FF2B5EF4-FFF2-40B4-BE49-F238E27FC236}">
                <a16:creationId xmlns:a16="http://schemas.microsoft.com/office/drawing/2014/main" id="{06366325-7F2F-2995-10C0-1C2ACC1EAD3E}"/>
              </a:ext>
            </a:extLst>
          </p:cNvPr>
          <p:cNvPicPr>
            <a:picLocks noGrp="1" noChangeAspect="1"/>
          </p:cNvPicPr>
          <p:nvPr isPhoto="1" userDrawn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705" y="28393"/>
            <a:ext cx="1662295" cy="166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203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CA039-7801-293D-7068-3FE8174D4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D7738-F275-5C00-6A12-47D8409CC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C6149D-C06C-704C-96CD-55BC070EB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AA8FBF-7796-DBD5-73AA-ACEDC7E1FD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D4A3B9-B4EE-E232-ADA4-B60357236E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4AF319-5EE7-3641-D3F6-0FCF5596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27C9-C5E9-4171-8D5C-3AE79279736F}" type="datetimeFigureOut">
              <a:rPr lang="en-AE" smtClean="0"/>
              <a:t>28/09/2024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6D844-A732-D559-FCA1-22CEA5444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BACFC5-2C08-3744-F3B4-71A7E89FF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3FA4-88A5-470E-9392-0905F75FA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79427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8C558-C2D8-D2AF-AC3B-11B6DBF2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79B9BF-9368-D460-AEF6-197FC7BDF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27C9-C5E9-4171-8D5C-3AE79279736F}" type="datetimeFigureOut">
              <a:rPr lang="en-AE" smtClean="0"/>
              <a:t>28/09/2024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356015-DEDC-259A-2EF5-8BDF1A54D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C8817B-424F-422F-D96A-EE268E8F0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3FA4-88A5-470E-9392-0905F75FA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74772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8B4390-55F7-DE1D-85D7-DE7A541A2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27C9-C5E9-4171-8D5C-3AE79279736F}" type="datetimeFigureOut">
              <a:rPr lang="en-AE" smtClean="0"/>
              <a:t>28/09/2024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1A64BD-C89E-2913-CF5D-D4A97DFFF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D04EE-CA29-4049-81E4-E5B2B8670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3FA4-88A5-470E-9392-0905F75FA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18747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B89D5-488E-DE71-2DD8-A0258EF0D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55AC3-02B0-846E-166F-47FF938C6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64C84C-3247-72C4-E2C7-16AD3A80C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890E5-6BC5-1B52-98D0-237F1B109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27C9-C5E9-4171-8D5C-3AE79279736F}" type="datetimeFigureOut">
              <a:rPr lang="en-AE" smtClean="0"/>
              <a:t>28/09/2024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1923F-8C93-DC79-D82F-7DA580CE6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BD07B-F2C2-3F77-1E58-D675B8BAC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3FA4-88A5-470E-9392-0905F75FA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0836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EA685-CC58-D6E6-2919-A27CD9AA9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427E36-6F9B-CAAD-376B-A64AD42BC5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D3DC1-93F3-3ED5-D234-8DD80779C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FE4F8-7EAF-FF2E-0A9D-551050DE6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27C9-C5E9-4171-8D5C-3AE79279736F}" type="datetimeFigureOut">
              <a:rPr lang="en-AE" smtClean="0"/>
              <a:t>28/09/2024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DDD7CA-E3BA-E7F1-CBED-D16262ED4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00CB0-9614-7F9D-BB7D-413CC7CB0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3FA4-88A5-470E-9392-0905F75FA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8576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E17B4-3D1D-F3CD-5563-968CC6394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0EB8AB-79EF-5CB4-35F8-011CDE390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16C5D-1FC0-2450-904A-428A10DE3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27C9-C5E9-4171-8D5C-3AE79279736F}" type="datetimeFigureOut">
              <a:rPr lang="en-AE" smtClean="0"/>
              <a:t>28/09/2024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31A9B-F17D-E5BA-FD56-E9B4198A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31651-3BCD-C83C-55A2-38ED82B5E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3FA4-88A5-470E-9392-0905F75FA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973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A23133-2F27-2434-C154-FAA177A367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B2988D-7C6D-92FF-5574-E556C0C9E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C6756-7FAC-C256-C4FC-BD0B6CEF1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27C9-C5E9-4171-8D5C-3AE79279736F}" type="datetimeFigureOut">
              <a:rPr lang="en-AE" smtClean="0"/>
              <a:t>28/09/2024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A234B-5E42-9FAF-7BC2-5BD54F3B5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B87-C700-B678-3309-61E2364F2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3FA4-88A5-470E-9392-0905F75FA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52678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56D65E-82E2-5F94-DDD2-6195AD557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5D61C-2143-1090-C3C4-AC28889D1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C17F2-FBE4-8B76-297C-7083E9EA3F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F27C9-C5E9-4171-8D5C-3AE79279736F}" type="datetimeFigureOut">
              <a:rPr lang="en-AE" smtClean="0"/>
              <a:t>28/09/2024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67F35-12A7-DB73-0314-D18960A6C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72EC7-3018-23CE-1BE4-BD8142C5B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73FA4-88A5-470E-9392-0905F75FA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44862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E283F-92C2-EE2B-377C-4EAF5797FF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latin typeface="Algerian" panose="04020705040A02060702" pitchFamily="82" charset="0"/>
              </a:rPr>
              <a:t>Advance Computer Programming</a:t>
            </a:r>
            <a:br>
              <a:rPr lang="en-US" altLang="en-US" dirty="0">
                <a:latin typeface="Algerian" panose="04020705040A02060702" pitchFamily="82" charset="0"/>
              </a:rPr>
            </a:br>
            <a:r>
              <a:rPr lang="en-US" altLang="en-US" dirty="0">
                <a:latin typeface="Algerian" panose="04020705040A02060702" pitchFamily="82" charset="0"/>
              </a:rPr>
              <a:t>(Java)</a:t>
            </a:r>
            <a:endParaRPr lang="en-AE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22E79A-4BC5-D16B-B351-DF19BA5A8F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latin typeface="Algerian" panose="04020705040A02060702" pitchFamily="82" charset="0"/>
              </a:rPr>
              <a:t>Lecture #02 </a:t>
            </a:r>
            <a:endParaRPr lang="en-AE" sz="32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764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F5C57-7478-8620-34AD-480B3C6BE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Introducing Strings and Arrays</a:t>
            </a:r>
            <a:endParaRPr lang="en-A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02980-3C41-5F8A-97E9-B591C6893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b="1" dirty="0"/>
              <a:t>Strings:</a:t>
            </a:r>
          </a:p>
          <a:p>
            <a:r>
              <a:rPr lang="en-GB" sz="3200" dirty="0"/>
              <a:t>A String is a sequence of characters.</a:t>
            </a:r>
          </a:p>
          <a:p>
            <a:r>
              <a:rPr lang="en-GB" sz="3200" dirty="0"/>
              <a:t>A string is instantiated as follows:</a:t>
            </a:r>
            <a:br>
              <a:rPr lang="en-GB" sz="3200" dirty="0"/>
            </a:br>
            <a:r>
              <a:rPr lang="en-GB" sz="3200" dirty="0"/>
              <a:t>	</a:t>
            </a:r>
            <a:r>
              <a:rPr lang="en-GB" sz="3200" b="1" dirty="0"/>
              <a:t>String name = new String(“hello world”);</a:t>
            </a:r>
          </a:p>
          <a:p>
            <a:r>
              <a:rPr lang="en-GB" sz="3200" dirty="0"/>
              <a:t>String is a class but can be used like a datatype.</a:t>
            </a:r>
          </a:p>
          <a:p>
            <a:r>
              <a:rPr lang="en-GB" sz="3200" dirty="0"/>
              <a:t>Immutable, meaning once created, they cannot be modified.</a:t>
            </a:r>
          </a:p>
        </p:txBody>
      </p:sp>
    </p:spTree>
    <p:extLst>
      <p:ext uri="{BB962C8B-B14F-4D97-AF65-F5344CB8AC3E}">
        <p14:creationId xmlns:p14="http://schemas.microsoft.com/office/powerpoint/2010/main" val="130890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C885B-9750-264C-B655-AC26521C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Example</a:t>
            </a:r>
            <a:endParaRPr lang="en-A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D905C-B2C2-C829-B82E-72E1977F2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3349"/>
          </a:xfrm>
        </p:spPr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StringArrayExample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GB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GB" sz="1800" b="1" dirty="0">
                <a:solidFill>
                  <a:srgbClr val="7F9FBF"/>
                </a:solidFill>
                <a:effectLst/>
                <a:latin typeface="Consolas" panose="020B0609020204030204" pitchFamily="49" charset="0"/>
              </a:rPr>
              <a:t>TODO</a:t>
            </a:r>
            <a:r>
              <a:rPr lang="en-GB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 Auto-generated method stub</a:t>
            </a: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String example</a:t>
            </a: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"Hello, World!"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GB" sz="1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376357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3775A-C8D9-C135-BCC6-2866DF9EB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String Functions</a:t>
            </a:r>
            <a:endParaRPr lang="en-A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568BF-55F8-D023-E77A-99CECAAE4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length(): Returns the length of the string.</a:t>
            </a:r>
          </a:p>
          <a:p>
            <a:r>
              <a:rPr lang="en-GB" dirty="0" err="1"/>
              <a:t>charAt</a:t>
            </a:r>
            <a:r>
              <a:rPr lang="en-GB" dirty="0"/>
              <a:t>(): Returns the character at the specified index.</a:t>
            </a:r>
          </a:p>
          <a:p>
            <a:r>
              <a:rPr lang="en-GB" dirty="0"/>
              <a:t>substring(int start): Extracts a portion of the string. ( Return a substring from start to the end. Index start from 0)</a:t>
            </a:r>
          </a:p>
          <a:p>
            <a:r>
              <a:rPr lang="en-GB" dirty="0"/>
              <a:t>substring(int start, int end end): Return a substring from start to the end Index. Start is included and end is excluded.</a:t>
            </a:r>
          </a:p>
          <a:p>
            <a:r>
              <a:rPr lang="en-GB" dirty="0"/>
              <a:t>equals(): Return true  if two strings for equal (case sensitive).</a:t>
            </a:r>
          </a:p>
          <a:p>
            <a:r>
              <a:rPr lang="en-GB" dirty="0" err="1"/>
              <a:t>equalsIgnoreCase</a:t>
            </a:r>
            <a:r>
              <a:rPr lang="en-GB" dirty="0"/>
              <a:t>(): Compares strings, ignoring case.</a:t>
            </a:r>
          </a:p>
          <a:p>
            <a:r>
              <a:rPr lang="en-GB" dirty="0" err="1"/>
              <a:t>toUpperCase</a:t>
            </a:r>
            <a:r>
              <a:rPr lang="en-GB" dirty="0"/>
              <a:t>(): Converts the string to uppercase.</a:t>
            </a:r>
          </a:p>
          <a:p>
            <a:r>
              <a:rPr lang="en-GB" dirty="0" err="1"/>
              <a:t>toLowerCase</a:t>
            </a:r>
            <a:r>
              <a:rPr lang="en-GB" dirty="0"/>
              <a:t>(): Converts the string to lowercase.</a:t>
            </a:r>
          </a:p>
          <a:p>
            <a:r>
              <a:rPr lang="en-GB" dirty="0" err="1"/>
              <a:t>indexOf</a:t>
            </a:r>
            <a:r>
              <a:rPr lang="en-GB" dirty="0"/>
              <a:t>(): Returns the index of the first occurrence of a character or substring.</a:t>
            </a:r>
          </a:p>
        </p:txBody>
      </p:sp>
    </p:spTree>
    <p:extLst>
      <p:ext uri="{BB962C8B-B14F-4D97-AF65-F5344CB8AC3E}">
        <p14:creationId xmlns:p14="http://schemas.microsoft.com/office/powerpoint/2010/main" val="136491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3775A-C8D9-C135-BCC6-2866DF9EB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String Functions</a:t>
            </a:r>
            <a:endParaRPr lang="en-A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568BF-55F8-D023-E77A-99CECAAE4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err="1"/>
              <a:t>lastIndexOf</a:t>
            </a:r>
            <a:r>
              <a:rPr lang="en-GB" dirty="0"/>
              <a:t>(): Returns the index of the last occurrence of a character or substring.</a:t>
            </a:r>
          </a:p>
          <a:p>
            <a:r>
              <a:rPr lang="en-GB" dirty="0"/>
              <a:t>replace(old, new): Replaces occurrences of a character or substring.</a:t>
            </a:r>
          </a:p>
          <a:p>
            <a:r>
              <a:rPr lang="en-GB" dirty="0"/>
              <a:t>contains(): Checks if a string contains a sequence of characters.</a:t>
            </a:r>
          </a:p>
          <a:p>
            <a:r>
              <a:rPr lang="en-GB" dirty="0" err="1"/>
              <a:t>startsWith</a:t>
            </a:r>
            <a:r>
              <a:rPr lang="en-GB" dirty="0"/>
              <a:t>(): Return true if a string starts with a specific prefix.</a:t>
            </a:r>
          </a:p>
          <a:p>
            <a:r>
              <a:rPr lang="en-GB" dirty="0" err="1"/>
              <a:t>endsWith</a:t>
            </a:r>
            <a:r>
              <a:rPr lang="en-GB" dirty="0"/>
              <a:t>(): Return true if a string ends with a specific suffix.</a:t>
            </a:r>
          </a:p>
          <a:p>
            <a:r>
              <a:rPr lang="en-GB" dirty="0"/>
              <a:t>trim(): Removes whitespace from the beginning and end of the string.</a:t>
            </a:r>
          </a:p>
          <a:p>
            <a:r>
              <a:rPr lang="en-GB" dirty="0"/>
              <a:t>split(): Splits a string based on a regular expression and returns an array.</a:t>
            </a:r>
          </a:p>
          <a:p>
            <a:r>
              <a:rPr lang="en-GB" dirty="0" err="1"/>
              <a:t>concat</a:t>
            </a:r>
            <a:r>
              <a:rPr lang="en-GB" dirty="0"/>
              <a:t>(): Concatenates two strings.</a:t>
            </a:r>
          </a:p>
        </p:txBody>
      </p:sp>
    </p:spTree>
    <p:extLst>
      <p:ext uri="{BB962C8B-B14F-4D97-AF65-F5344CB8AC3E}">
        <p14:creationId xmlns:p14="http://schemas.microsoft.com/office/powerpoint/2010/main" val="2187009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63124-F235-23E5-4AD5-82130DF8B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Arrays and Array Functions</a:t>
            </a:r>
            <a:endParaRPr lang="en-A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4F9A0-2B6B-A82E-EE32-2F89EA4CE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Arrays:</a:t>
            </a:r>
          </a:p>
          <a:p>
            <a:r>
              <a:rPr lang="en-GB" dirty="0"/>
              <a:t>Arrays are used to store multiple values of the same type.</a:t>
            </a:r>
          </a:p>
          <a:p>
            <a:r>
              <a:rPr lang="en-GB" dirty="0"/>
              <a:t>Fixed in size once initialized.</a:t>
            </a:r>
          </a:p>
          <a:p>
            <a:r>
              <a:rPr lang="en-GB" dirty="0"/>
              <a:t>Indexed starting from 0</a:t>
            </a:r>
          </a:p>
          <a:p>
            <a:pPr marL="0" indent="0">
              <a:buNone/>
            </a:pPr>
            <a:r>
              <a:rPr lang="en-GB" b="1" dirty="0"/>
              <a:t>Common Array Functions:</a:t>
            </a:r>
          </a:p>
          <a:p>
            <a:r>
              <a:rPr lang="en-GB" dirty="0"/>
              <a:t>length: Gets the size of the array.</a:t>
            </a:r>
          </a:p>
          <a:p>
            <a:r>
              <a:rPr lang="en-GB" dirty="0"/>
              <a:t>Iterating: Using loops to traverse array elements.</a:t>
            </a:r>
          </a:p>
          <a:p>
            <a:r>
              <a:rPr lang="en-GB" dirty="0"/>
              <a:t>Accessing Elements: Access elements via indices (array[index]).</a:t>
            </a:r>
            <a:endParaRPr lang="en-AE" dirty="0"/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539390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687D6-F889-C391-67DA-E2E911815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Example</a:t>
            </a:r>
            <a:endParaRPr lang="en-A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A56DC-6EBC-2D38-D1D7-95F41709A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ArrayExample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GB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Array of integers</a:t>
            </a: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{1, 2, 3, 4, 5};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GB" sz="1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"Length of Array : "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</a:t>
            </a:r>
            <a:r>
              <a:rPr lang="en-GB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80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Print each element</a:t>
            </a: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0; </a:t>
            </a:r>
            <a:r>
              <a:rPr lang="en-GB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GB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80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GB" sz="1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"Element at index "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GB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GB" sz="1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": "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GB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Access and modify an element</a:t>
            </a: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[3] = 50; </a:t>
            </a:r>
            <a:r>
              <a:rPr lang="en-GB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Change the third element to 10</a:t>
            </a: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GB" sz="1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"Modified element at index 2: "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[2]);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883760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0895F-84FF-2A94-BC19-F5D76B932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Introducing Classes and Their Fundamental Concepts</a:t>
            </a:r>
            <a:endParaRPr lang="en-A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37CAC-7028-2004-1B0B-B16F142E6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Class: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blueprint for creating objects. Defines data (fields) and </a:t>
            </a:r>
            <a:r>
              <a:rPr lang="en-GB" dirty="0" err="1"/>
              <a:t>behavior</a:t>
            </a:r>
            <a:r>
              <a:rPr lang="en-GB" dirty="0"/>
              <a:t> (methods).</a:t>
            </a:r>
          </a:p>
          <a:p>
            <a:r>
              <a:rPr lang="en-GB" b="1" dirty="0"/>
              <a:t>Object: </a:t>
            </a:r>
            <a:r>
              <a:rPr lang="en-GB" dirty="0"/>
              <a:t>An instance of a class.</a:t>
            </a:r>
          </a:p>
          <a:p>
            <a:r>
              <a:rPr lang="en-GB" b="1" dirty="0"/>
              <a:t>Attributes (or Fields): </a:t>
            </a:r>
            <a:r>
              <a:rPr lang="en-GB" dirty="0"/>
              <a:t>Variables that store the state of an object.</a:t>
            </a:r>
          </a:p>
          <a:p>
            <a:r>
              <a:rPr lang="en-GB" b="1" dirty="0"/>
              <a:t>Methods: </a:t>
            </a:r>
            <a:r>
              <a:rPr lang="en-GB" dirty="0"/>
              <a:t>Functions that define the </a:t>
            </a:r>
            <a:r>
              <a:rPr lang="en-GB" dirty="0" err="1"/>
              <a:t>behavior</a:t>
            </a:r>
            <a:r>
              <a:rPr lang="en-GB" dirty="0"/>
              <a:t> of an object.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370795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B3208-434B-1935-2ED8-87FB0960F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Access Modifiers and Constructor </a:t>
            </a:r>
            <a:endParaRPr lang="en-A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2F41C-323B-FCA8-B157-7093209DC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Access Modifiers: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Private</a:t>
            </a:r>
            <a:r>
              <a:rPr lang="en-GB" dirty="0"/>
              <a:t>: Accessible only within the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Public</a:t>
            </a:r>
            <a:r>
              <a:rPr lang="en-GB" dirty="0"/>
              <a:t>: Accessible from anywhere.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Protected</a:t>
            </a:r>
            <a:r>
              <a:rPr lang="en-GB" dirty="0"/>
              <a:t>: Accessible within the same package or subclasses.</a:t>
            </a:r>
          </a:p>
          <a:p>
            <a:pPr marL="0" indent="0">
              <a:buNone/>
            </a:pPr>
            <a:r>
              <a:rPr lang="en-GB" b="1" dirty="0"/>
              <a:t>Constructor: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special method used to initialize objects. It has the same name as the class and no return type.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516188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043E5-C4E6-2C07-7F2A-DA247F5EC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Declaring a Class with Encapsulation</a:t>
            </a:r>
            <a:endParaRPr lang="en-A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119CB-2324-50E8-BD23-ADF53A0E0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 marL="0" indent="0">
              <a:buNone/>
            </a:pPr>
            <a:r>
              <a:rPr lang="en-GB" b="1" dirty="0"/>
              <a:t>Encapsulation: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Encapsulation is achieved by making fields private and providing public getter and setter methods to control access.</a:t>
            </a:r>
          </a:p>
        </p:txBody>
      </p:sp>
    </p:spTree>
    <p:extLst>
      <p:ext uri="{BB962C8B-B14F-4D97-AF65-F5344CB8AC3E}">
        <p14:creationId xmlns:p14="http://schemas.microsoft.com/office/powerpoint/2010/main" val="1673398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354</TotalTime>
  <Words>772</Words>
  <Application>Microsoft Office PowerPoint</Application>
  <PresentationFormat>Widescreen</PresentationFormat>
  <Paragraphs>90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Algerian</vt:lpstr>
      <vt:lpstr>Arial</vt:lpstr>
      <vt:lpstr>Calibri</vt:lpstr>
      <vt:lpstr>Calibri Light</vt:lpstr>
      <vt:lpstr>Consolas</vt:lpstr>
      <vt:lpstr>Office Theme</vt:lpstr>
      <vt:lpstr>Advance Computer Programming (Java)</vt:lpstr>
      <vt:lpstr>Introducing Strings and Arrays</vt:lpstr>
      <vt:lpstr>Example</vt:lpstr>
      <vt:lpstr>String Functions</vt:lpstr>
      <vt:lpstr>String Functions</vt:lpstr>
      <vt:lpstr>Arrays and Array Functions</vt:lpstr>
      <vt:lpstr>Example</vt:lpstr>
      <vt:lpstr>Introducing Classes and Their Fundamental Concepts</vt:lpstr>
      <vt:lpstr>Access Modifiers and Constructor </vt:lpstr>
      <vt:lpstr>Declaring a Class with Encapsulation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30</cp:revision>
  <dcterms:created xsi:type="dcterms:W3CDTF">2024-09-19T19:48:28Z</dcterms:created>
  <dcterms:modified xsi:type="dcterms:W3CDTF">2024-09-28T06:48:56Z</dcterms:modified>
</cp:coreProperties>
</file>
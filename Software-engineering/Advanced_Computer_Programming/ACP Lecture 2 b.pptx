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5" r:id="rId4"/>
    <p:sldId id="274" r:id="rId5"/>
    <p:sldId id="276" r:id="rId6"/>
    <p:sldId id="277" r:id="rId7"/>
    <p:sldId id="278" r:id="rId8"/>
    <p:sldId id="279" r:id="rId9"/>
    <p:sldId id="280" r:id="rId10"/>
    <p:sldId id="266" r:id="rId11"/>
    <p:sldId id="281" r:id="rId12"/>
    <p:sldId id="282" r:id="rId13"/>
    <p:sldId id="283" r:id="rId14"/>
    <p:sldId id="284" r:id="rId15"/>
    <p:sldId id="268" r:id="rId16"/>
    <p:sldId id="285" r:id="rId17"/>
    <p:sldId id="286" r:id="rId18"/>
    <p:sldId id="287" r:id="rId19"/>
    <p:sldId id="288" r:id="rId20"/>
    <p:sldId id="289" r:id="rId21"/>
    <p:sldId id="290" r:id="rId22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86099" autoAdjust="0"/>
  </p:normalViewPr>
  <p:slideViewPr>
    <p:cSldViewPr snapToGrid="0">
      <p:cViewPr varScale="1">
        <p:scale>
          <a:sx n="59" d="100"/>
          <a:sy n="59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83458-E1A7-4D71-B26D-DA9FCEC1DD77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D7A7F-F500-4F17-9BBA-49702C9C85F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86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Sometimes our program grows in size and we want to separate the logic of main method to other method .</a:t>
            </a:r>
            <a:br>
              <a:rPr lang="en-GB" dirty="0"/>
            </a:br>
            <a:r>
              <a:rPr lang="en-GB" dirty="0"/>
              <a:t>For instance if we are calculating sum or </a:t>
            </a:r>
            <a:r>
              <a:rPr lang="en-GB" dirty="0" err="1"/>
              <a:t>avg</a:t>
            </a:r>
            <a:r>
              <a:rPr lang="en-GB" dirty="0"/>
              <a:t> of number  times we can use method to avoid repeating the logic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7A7F-F500-4F17-9BBA-49702C9C85FA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1583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this</a:t>
            </a:r>
            <a:r>
              <a:rPr lang="en-GB" dirty="0"/>
              <a:t> keyword is used to refer to the current object and is useful for differentiating between instance variables and parameters or invoking another constructor in the same class.</a:t>
            </a:r>
          </a:p>
          <a:p>
            <a:r>
              <a:rPr lang="en-GB" b="1" dirty="0"/>
              <a:t>super</a:t>
            </a:r>
            <a:r>
              <a:rPr lang="en-GB" dirty="0"/>
              <a:t> keyword is used to refer to the parent class, allowing you to call parent class constructors and methods or access parent class variables.</a:t>
            </a:r>
          </a:p>
          <a:p>
            <a:endParaRPr lang="en-GB" dirty="0"/>
          </a:p>
          <a:p>
            <a:r>
              <a:rPr lang="en-GB" b="1" dirty="0"/>
              <a:t>This Keyword: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Refers to the current object.</a:t>
            </a:r>
          </a:p>
          <a:p>
            <a:r>
              <a:rPr lang="en-GB" b="1" dirty="0"/>
              <a:t>Super Keyword: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Refers to the parent class and can be used to invoke the parent class’s constructor or methods.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7A7F-F500-4F17-9BBA-49702C9C85FA}" type="slidenum">
              <a:rPr lang="en-AE" smtClean="0"/>
              <a:t>16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5860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Inheritance: The subclass inherits everything from the parent class, including methods and variables.</a:t>
            </a:r>
          </a:p>
          <a:p>
            <a:r>
              <a:rPr lang="en-GB" dirty="0"/>
              <a:t>Composition: One class contains another class as an attribute or field. This allows the reuse of functionality without requiring inheritance.</a:t>
            </a:r>
            <a:endParaRPr lang="en-AE" dirty="0"/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7A7F-F500-4F17-9BBA-49702C9C85FA}" type="slidenum">
              <a:rPr lang="en-AE" smtClean="0"/>
              <a:t>21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007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DDAA-A3F7-4BE8-9767-BD005BBBD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56A7F-32CA-AD0F-E280-C8C1E21FC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84B5-8F49-56B9-831E-E16B44D5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5E728-3A7E-D44B-3D6A-9C711C9D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365BD-DB36-E96A-B536-1EF2DCBE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537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F830-E74F-EE26-A1CB-1C6B28D0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11EC2-5A38-C7D3-D662-6DD513D0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E3AB-9D7D-F127-FE73-7407A228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97CA1-A1B9-1C1F-4DB8-9CCC0F80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155F-93D7-B19C-0DE0-CD3AEAA4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  <p:pic>
        <p:nvPicPr>
          <p:cNvPr id="7" name="Picture 6" descr="java">
            <a:extLst>
              <a:ext uri="{FF2B5EF4-FFF2-40B4-BE49-F238E27FC236}">
                <a16:creationId xmlns:a16="http://schemas.microsoft.com/office/drawing/2014/main" id="{541F7D36-47AA-A397-71CC-2C28E90E54E3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80" y="5059180"/>
            <a:ext cx="1798820" cy="179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1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2829-8B34-D0AB-F1AE-D0FC9C32C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8A13D-7E70-392C-6314-CAFEE9702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A54CB-69CD-198C-E315-78298127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3687B-8BC1-30ED-5356-50CD595C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ACC0-4355-730D-8610-56C99082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860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46AA-6F48-78AA-DA40-3D686298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E293-6AD1-FB87-482A-C122DA973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F6C8F-04C4-DE61-108A-3AF8EC5FD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982F6-4327-9B2B-4B50-AB7765F5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FCE0-813B-FF87-57AA-A9D78D28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F4D83-1774-1C29-3651-04E26C94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  <p:pic>
        <p:nvPicPr>
          <p:cNvPr id="8" name="Picture 7" descr="java">
            <a:extLst>
              <a:ext uri="{FF2B5EF4-FFF2-40B4-BE49-F238E27FC236}">
                <a16:creationId xmlns:a16="http://schemas.microsoft.com/office/drawing/2014/main" id="{06366325-7F2F-2995-10C0-1C2ACC1EAD3E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705" y="28393"/>
            <a:ext cx="1662295" cy="166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0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A039-7801-293D-7068-3FE8174D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D7738-F275-5C00-6A12-47D8409CC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6149D-C06C-704C-96CD-55BC070EB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A8FBF-7796-DBD5-73AA-ACEDC7E1F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4A3B9-B4EE-E232-ADA4-B60357236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AF319-5EE7-3641-D3F6-0FCF5596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6D844-A732-D559-FCA1-22CEA544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BACFC5-2C08-3744-F3B4-71A7E89F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7942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C558-C2D8-D2AF-AC3B-11B6DBF2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9B9BF-9368-D460-AEF6-197FC7BD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56015-DEDC-259A-2EF5-8BDF1A54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8817B-424F-422F-D96A-EE268E8F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477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B4390-55F7-DE1D-85D7-DE7A541A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1A64BD-C89E-2913-CF5D-D4A97DFF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D04EE-CA29-4049-81E4-E5B2B867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874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89D5-488E-DE71-2DD8-A0258EF0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55AC3-02B0-846E-166F-47FF938C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4C84C-3247-72C4-E2C7-16AD3A80C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890E5-6BC5-1B52-98D0-237F1B10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1923F-8C93-DC79-D82F-7DA580CE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BD07B-F2C2-3F77-1E58-D675B8BA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083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A685-CC58-D6E6-2919-A27CD9AA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27E36-6F9B-CAAD-376B-A64AD42BC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D3DC1-93F3-3ED5-D234-8DD80779C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FE4F8-7EAF-FF2E-0A9D-551050DE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DD7CA-E3BA-E7F1-CBED-D16262ED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00CB0-9614-7F9D-BB7D-413CC7CB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8576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E17B4-3D1D-F3CD-5563-968CC639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EB8AB-79EF-5CB4-35F8-011CDE390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16C5D-1FC0-2450-904A-428A10DE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31A9B-F17D-E5BA-FD56-E9B4198A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31651-3BCD-C83C-55A2-38ED82B5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73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23133-2F27-2434-C154-FAA177A36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988D-7C6D-92FF-5574-E556C0C9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C6756-7FAC-C256-C4FC-BD0B6CEF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A234B-5E42-9FAF-7BC2-5BD54F3B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B87-C700-B678-3309-61E2364F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5267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6D65E-82E2-5F94-DDD2-6195AD55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5D61C-2143-1090-C3C4-AC28889D1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C17F2-FBE4-8B76-297C-7083E9EA3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F27C9-C5E9-4171-8D5C-3AE79279736F}" type="datetimeFigureOut">
              <a:rPr lang="en-AE" smtClean="0"/>
              <a:t>27/09/2024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7F35-12A7-DB73-0314-D18960A6C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72EC7-3018-23CE-1BE4-BD8142C5B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73FA4-88A5-470E-9392-0905F75FA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4486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283F-92C2-EE2B-377C-4EAF5797F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Algerian" panose="04020705040A02060702" pitchFamily="82" charset="0"/>
              </a:rPr>
              <a:t>Advance Computer Programming</a:t>
            </a:r>
            <a:br>
              <a:rPr lang="en-US" altLang="en-US" dirty="0">
                <a:latin typeface="Algerian" panose="04020705040A02060702" pitchFamily="82" charset="0"/>
              </a:rPr>
            </a:br>
            <a:r>
              <a:rPr lang="en-US" altLang="en-US" dirty="0">
                <a:latin typeface="Algerian" panose="04020705040A02060702" pitchFamily="82" charset="0"/>
              </a:rPr>
              <a:t>(Java)</a:t>
            </a:r>
            <a:endParaRPr lang="en-AE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2E79A-4BC5-D16B-B351-DF19BA5A8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Algerian" panose="04020705040A02060702" pitchFamily="82" charset="0"/>
              </a:rPr>
              <a:t>Lecture #02 </a:t>
            </a:r>
            <a:endParaRPr lang="en-AE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6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518D-7B63-C537-6305-040E9E05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Methods in Java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E6579-EACB-DB35-8894-2D29C397C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method is a function written inside a class .</a:t>
            </a:r>
          </a:p>
          <a:p>
            <a:r>
              <a:rPr lang="en-GB" dirty="0"/>
              <a:t>Since java is an object oriented language, we need to write the method inside some class</a:t>
            </a:r>
          </a:p>
          <a:p>
            <a:r>
              <a:rPr lang="en-AE" dirty="0"/>
              <a:t> Syntax </a:t>
            </a:r>
          </a:p>
          <a:p>
            <a:pPr marL="0" indent="0">
              <a:buNone/>
            </a:pPr>
            <a:r>
              <a:rPr lang="en-AE" dirty="0"/>
              <a:t>     datatype </a:t>
            </a:r>
            <a:r>
              <a:rPr lang="en-AE" dirty="0" err="1"/>
              <a:t>methodName</a:t>
            </a:r>
            <a:r>
              <a:rPr lang="en-AE" dirty="0"/>
              <a:t>()</a:t>
            </a:r>
          </a:p>
          <a:p>
            <a:pPr marL="0" indent="0">
              <a:buNone/>
            </a:pPr>
            <a:r>
              <a:rPr lang="en-AE" dirty="0"/>
              <a:t>     {</a:t>
            </a:r>
          </a:p>
          <a:p>
            <a:pPr marL="457200" lvl="1" indent="0">
              <a:buNone/>
            </a:pPr>
            <a:r>
              <a:rPr lang="en-AE" dirty="0"/>
              <a:t>    //method body</a:t>
            </a:r>
            <a:br>
              <a:rPr lang="en-AE" dirty="0"/>
            </a:br>
            <a:r>
              <a:rPr lang="en-AE" dirty="0"/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99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80AD-6AF7-DB4A-9EB4-BCD0B245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6574-B9B2-1D51-0AF6-DB4B54A8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int sum(int a, int b)</a:t>
            </a:r>
          </a:p>
          <a:p>
            <a:pPr marL="0" indent="0">
              <a:buNone/>
            </a:pPr>
            <a:r>
              <a:rPr lang="en-GB" dirty="0"/>
              <a:t>{</a:t>
            </a:r>
          </a:p>
          <a:p>
            <a:pPr marL="0" indent="0">
              <a:buNone/>
            </a:pPr>
            <a:r>
              <a:rPr lang="en-GB" dirty="0"/>
              <a:t>	int c = </a:t>
            </a:r>
            <a:r>
              <a:rPr lang="en-GB" dirty="0" err="1"/>
              <a:t>a+b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	return c;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5341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82CD-FF80-45DC-CD70-42A64267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Calling a Method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89FD0-59DE-D16A-CF7C-DAA55DBAB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method can be called by creating an object of the class in which the method exists.</a:t>
            </a:r>
          </a:p>
          <a:p>
            <a:r>
              <a:rPr lang="en-GB" dirty="0"/>
              <a:t>For example 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ClassName</a:t>
            </a:r>
            <a:r>
              <a:rPr lang="en-GB" dirty="0"/>
              <a:t> </a:t>
            </a:r>
            <a:r>
              <a:rPr lang="en-GB" dirty="0" err="1"/>
              <a:t>obj</a:t>
            </a:r>
            <a:r>
              <a:rPr lang="en-GB" dirty="0"/>
              <a:t> = new </a:t>
            </a:r>
            <a:r>
              <a:rPr lang="en-GB" dirty="0" err="1"/>
              <a:t>ClassName</a:t>
            </a:r>
            <a:r>
              <a:rPr lang="en-GB" dirty="0"/>
              <a:t>() -&gt; Object creation</a:t>
            </a:r>
          </a:p>
          <a:p>
            <a:pPr marL="457200" lvl="1" indent="0">
              <a:buNone/>
            </a:pPr>
            <a:r>
              <a:rPr lang="en-GB" dirty="0"/>
              <a:t>   </a:t>
            </a:r>
            <a:r>
              <a:rPr lang="en-GB" sz="2800" dirty="0" err="1"/>
              <a:t>obj.sum</a:t>
            </a:r>
            <a:r>
              <a:rPr lang="en-GB" sz="2800" dirty="0"/>
              <a:t>(</a:t>
            </a:r>
            <a:r>
              <a:rPr lang="en-GB" sz="2800" dirty="0" err="1"/>
              <a:t>a,b</a:t>
            </a:r>
            <a:r>
              <a:rPr lang="en-GB" sz="2800" dirty="0"/>
              <a:t>) -&gt; method call</a:t>
            </a:r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64133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2A68-553B-0DFB-907A-6301352C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Keyword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A6498-0B6F-4F02-2786-1BAE3B6A3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static method belongs to the class rather than to instances (objects) of the class.</a:t>
            </a:r>
          </a:p>
          <a:p>
            <a:r>
              <a:rPr lang="en-GB" dirty="0"/>
              <a:t>It can be invoked without creating an object of the class.</a:t>
            </a:r>
          </a:p>
          <a:p>
            <a:r>
              <a:rPr lang="en-GB" b="1" dirty="0"/>
              <a:t>Why Use Static Methods?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we want to create utility functions (such as math functions, conversion functions) that do not depend on object state.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Useful for methods that perform common tasks across all instances or when no instance-specific data is needed.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284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35F4-981E-017E-B4FF-1D0715E7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220A-713F-4FD7-AE8B-75CCB0AAA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Calculator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Static method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Call the static method without creating an object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(10, 30);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5045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19C0-3037-17B3-A69B-CCAEA4D8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Variables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C1262-CD1F-708F-291D-F3559567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 static variable is shared by all instances of a class.</a:t>
            </a:r>
          </a:p>
          <a:p>
            <a:r>
              <a:rPr lang="en-GB" dirty="0"/>
              <a:t>Unlike instance variables, which have a separate copy for each object, static variables have a single copy that is shared across all objects of the class.</a:t>
            </a:r>
          </a:p>
          <a:p>
            <a:r>
              <a:rPr lang="en-GB" dirty="0"/>
              <a:t>Static variables are also known as class variables because they are associated with the class, not instances.</a:t>
            </a:r>
          </a:p>
          <a:p>
            <a:r>
              <a:rPr lang="en-GB" b="1" dirty="0"/>
              <a:t>Why Use Static Variables?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you need to maintain </a:t>
            </a:r>
            <a:r>
              <a:rPr lang="en-GB" b="1" dirty="0"/>
              <a:t>shared data</a:t>
            </a:r>
            <a:r>
              <a:rPr lang="en-GB" dirty="0"/>
              <a:t> among all instances of a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Examples: Counting the number of objects created from a class, configuration constants, etc.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9140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0188-002D-0693-C2EE-8F849D71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Keyword in Java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EE8A-0958-B9A3-03A8-FA5EF962E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243"/>
            <a:ext cx="10515600" cy="50396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The final keyword in Java is used to restrict the user in various contexts:</a:t>
            </a:r>
          </a:p>
          <a:p>
            <a:r>
              <a:rPr lang="en-GB" b="1" dirty="0"/>
              <a:t>Final Variables: </a:t>
            </a:r>
            <a:r>
              <a:rPr lang="en-GB" dirty="0"/>
              <a:t>The value of a variable marked as final cannot be changed after it has been initialized.</a:t>
            </a:r>
          </a:p>
          <a:p>
            <a:r>
              <a:rPr lang="en-GB" b="1" dirty="0"/>
              <a:t>Final Methods: </a:t>
            </a:r>
            <a:r>
              <a:rPr lang="en-GB" dirty="0"/>
              <a:t>A method marked as final cannot be overridden by subclasses.</a:t>
            </a:r>
          </a:p>
          <a:p>
            <a:r>
              <a:rPr lang="en-GB" b="1" dirty="0"/>
              <a:t>Final Classes: </a:t>
            </a:r>
            <a:r>
              <a:rPr lang="en-GB" dirty="0"/>
              <a:t>A class marked as final cannot be extended (no subclass can be created).</a:t>
            </a:r>
          </a:p>
          <a:p>
            <a:pPr marL="0" indent="0">
              <a:buNone/>
            </a:pPr>
            <a:r>
              <a:rPr lang="en-GB" dirty="0"/>
              <a:t>Why Use the Final Keyword?</a:t>
            </a:r>
          </a:p>
          <a:p>
            <a:r>
              <a:rPr lang="en-GB" b="1" dirty="0"/>
              <a:t>Final variables </a:t>
            </a:r>
            <a:r>
              <a:rPr lang="en-GB" dirty="0"/>
              <a:t>are used to define constants.</a:t>
            </a:r>
          </a:p>
          <a:p>
            <a:r>
              <a:rPr lang="en-GB" b="1" dirty="0"/>
              <a:t>Final methods </a:t>
            </a:r>
            <a:r>
              <a:rPr lang="en-GB" dirty="0"/>
              <a:t>prevent </a:t>
            </a:r>
            <a:r>
              <a:rPr lang="en-GB" dirty="0" err="1"/>
              <a:t>behavior</a:t>
            </a:r>
            <a:r>
              <a:rPr lang="en-GB" dirty="0"/>
              <a:t> changes in child classes.</a:t>
            </a:r>
          </a:p>
          <a:p>
            <a:r>
              <a:rPr lang="en-GB" b="1" dirty="0"/>
              <a:t>Final classes </a:t>
            </a:r>
            <a:r>
              <a:rPr lang="en-GB" dirty="0"/>
              <a:t>provide immutability and prevent inheritance where it's not required or harmful.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9088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6C1B5-E613-5862-D102-6615B3AF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22576-61D9-843C-9673-5580B5FAD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929"/>
            <a:ext cx="10515600" cy="5225142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//Final class cannot be extended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Final variable (constant) - must be initialized when declared or in the constructor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GB" sz="16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Constructor to initialize the final variable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Vehicle(String </a:t>
            </a:r>
            <a:r>
              <a:rPr lang="en-GB" sz="16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Final method - cannot be overridden by subclasses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displayInfo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6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"Vehicle Model: 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6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Getter for the final variable (no setter provided to keep it immutable)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16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Create an instance of the final class Vehicle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 </a:t>
            </a:r>
            <a:r>
              <a:rPr lang="en-GB" sz="16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</a:t>
            </a:r>
            <a:r>
              <a:rPr lang="en-GB" sz="16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"Toyota Corolla"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Call the final method to display vehicle info</a:t>
            </a: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GB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.displayInfo</a:t>
            </a: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48149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EDA5-5738-B2E9-DFC3-A029D50D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Varargs</a:t>
            </a:r>
            <a:r>
              <a:rPr lang="en-GB" dirty="0"/>
              <a:t> (Variable arguments)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898D-A273-66C5-23DF-A36E89F5D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/>
              <a:t>Varargs</a:t>
            </a:r>
            <a:r>
              <a:rPr lang="en-GB" dirty="0"/>
              <a:t> (Variable Arguments) allow a method to accept zero or more arguments of a specified type. Instead of specifying a fixed number of parameters, you can use </a:t>
            </a:r>
            <a:r>
              <a:rPr lang="en-GB" dirty="0" err="1"/>
              <a:t>Varargs</a:t>
            </a:r>
            <a:r>
              <a:rPr lang="en-GB" dirty="0"/>
              <a:t> to allow flexibility in the number of arguments.</a:t>
            </a:r>
          </a:p>
          <a:p>
            <a:r>
              <a:rPr lang="en-GB" dirty="0"/>
              <a:t>It is denoted by three dots (...) after the type of the argument (e.g., int... numbers).</a:t>
            </a:r>
          </a:p>
          <a:p>
            <a:r>
              <a:rPr lang="en-GB" b="1" dirty="0"/>
              <a:t>Why Use </a:t>
            </a:r>
            <a:r>
              <a:rPr lang="en-GB" b="1" dirty="0" err="1"/>
              <a:t>Varargs</a:t>
            </a:r>
            <a:r>
              <a:rPr lang="en-GB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allow methods to accept </a:t>
            </a:r>
            <a:r>
              <a:rPr lang="en-GB" b="1" dirty="0"/>
              <a:t>a variable number of arguments</a:t>
            </a:r>
            <a:r>
              <a:rPr lang="en-GB" dirty="0"/>
              <a:t> of the same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simplifies method calls when the number of arguments is not known in advance.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method treats the variable arguments as an </a:t>
            </a:r>
            <a:r>
              <a:rPr lang="en-GB" b="1" dirty="0"/>
              <a:t>array</a:t>
            </a:r>
            <a:r>
              <a:rPr lang="en-GB" dirty="0"/>
              <a:t> internally.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11114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1D76-3322-06AE-DE65-057FB18E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Syntax for </a:t>
            </a:r>
            <a:r>
              <a:rPr lang="en-GB" b="1" dirty="0" err="1"/>
              <a:t>Varargs</a:t>
            </a:r>
            <a:r>
              <a:rPr lang="en-GB" b="1" dirty="0"/>
              <a:t> in Java</a:t>
            </a:r>
            <a:r>
              <a:rPr lang="en-GB" dirty="0"/>
              <a:t>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30F52-B066-4B09-3BEB-C5060D79B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returnType</a:t>
            </a:r>
            <a:r>
              <a:rPr lang="en-GB" dirty="0"/>
              <a:t> </a:t>
            </a:r>
            <a:r>
              <a:rPr lang="en-GB" dirty="0" err="1"/>
              <a:t>methodName</a:t>
            </a:r>
            <a:r>
              <a:rPr lang="en-GB" dirty="0"/>
              <a:t>(</a:t>
            </a:r>
            <a:r>
              <a:rPr lang="en-GB" dirty="0" err="1"/>
              <a:t>dataType</a:t>
            </a:r>
            <a:r>
              <a:rPr lang="en-GB" dirty="0"/>
              <a:t>... </a:t>
            </a:r>
            <a:r>
              <a:rPr lang="en-GB" dirty="0" err="1"/>
              <a:t>variableName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{ </a:t>
            </a:r>
          </a:p>
          <a:p>
            <a:pPr marL="0" indent="0">
              <a:buNone/>
            </a:pPr>
            <a:r>
              <a:rPr lang="en-GB" dirty="0"/>
              <a:t>// method body</a:t>
            </a:r>
          </a:p>
          <a:p>
            <a:pPr marL="0" indent="0">
              <a:buNone/>
            </a:pPr>
            <a:r>
              <a:rPr lang="en-GB" dirty="0"/>
              <a:t> }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err="1"/>
              <a:t>dataType</a:t>
            </a:r>
            <a:r>
              <a:rPr lang="en-GB" dirty="0"/>
              <a:t> specifies the type of the arguments.</a:t>
            </a:r>
          </a:p>
          <a:p>
            <a:r>
              <a:rPr lang="en-GB" dirty="0" err="1"/>
              <a:t>variableName</a:t>
            </a:r>
            <a:r>
              <a:rPr lang="en-GB" dirty="0"/>
              <a:t> is the name of the array that will hold the arguments.</a:t>
            </a:r>
          </a:p>
          <a:p>
            <a:r>
              <a:rPr lang="en-GB" dirty="0"/>
              <a:t>Inside the method, the </a:t>
            </a:r>
            <a:r>
              <a:rPr lang="en-GB" dirty="0" err="1"/>
              <a:t>varargs</a:t>
            </a:r>
            <a:r>
              <a:rPr lang="en-GB" dirty="0"/>
              <a:t> parameter is treated like an array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8794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A345-723B-A341-1AF8-F3625367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15FF0-35F3-CF00-91A0-4A282AF4F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Varargs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Method that uses </a:t>
            </a:r>
            <a:r>
              <a:rPr lang="en-GB" sz="1800" u="sng" dirty="0" err="1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varargs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to add any number of integers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Summing up all the numbers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Calling the sum method with different numbers of arguments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 (2 arguments):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(10, 20));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 (3 arguments):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(10, 20, 30));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 (5 arguments):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(10, 20, 30, 40, 50));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168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19D3-9EF3-DC36-9848-9B37A6CA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Overloading in Java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338EB-E790-6ED6-080E-1357D83E7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Method Overloading allows multiple methods in the same class to have the same name but with different parameter lists.</a:t>
            </a:r>
          </a:p>
          <a:p>
            <a:r>
              <a:rPr lang="en-GB" dirty="0"/>
              <a:t>Overloaded methods must differ in either:</a:t>
            </a:r>
          </a:p>
          <a:p>
            <a:pPr lvl="1"/>
            <a:r>
              <a:rPr lang="en-GB" sz="2800" dirty="0"/>
              <a:t>The number of parameters.</a:t>
            </a:r>
          </a:p>
          <a:p>
            <a:pPr lvl="1"/>
            <a:r>
              <a:rPr lang="en-GB" sz="2800" dirty="0"/>
              <a:t>The type of parameters.</a:t>
            </a:r>
            <a:endParaRPr lang="en-GB" dirty="0"/>
          </a:p>
          <a:p>
            <a:r>
              <a:rPr lang="en-GB" dirty="0"/>
              <a:t>Method overloading provides flexibility to handle different types of inputs with the same method name.</a:t>
            </a:r>
          </a:p>
          <a:p>
            <a:r>
              <a:rPr lang="en-GB" dirty="0"/>
              <a:t>Return type is not considered for method overloading.</a:t>
            </a:r>
          </a:p>
        </p:txBody>
      </p:sp>
    </p:spTree>
    <p:extLst>
      <p:ext uri="{BB962C8B-B14F-4D97-AF65-F5344CB8AC3E}">
        <p14:creationId xmlns:p14="http://schemas.microsoft.com/office/powerpoint/2010/main" val="68572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DBCA-4320-183D-9BC6-159AB8A1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E2E86-CD82-3A7F-B58F-C7628617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382"/>
            <a:ext cx="10515600" cy="5179332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MethodOverloading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Overloaded method with two </a:t>
            </a:r>
            <a:r>
              <a:rPr lang="en-GB" sz="1800" u="sng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parameters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Overloaded method with three </a:t>
            </a:r>
            <a:r>
              <a:rPr lang="en-GB" sz="1800" u="sng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parameters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Overloaded method with two double parameters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MethodOverloading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MethodOverloading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 (2 </a:t>
            </a:r>
            <a:r>
              <a:rPr lang="en-GB" sz="180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ints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):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(10, 20)); 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Calls first method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 (3 </a:t>
            </a:r>
            <a:r>
              <a:rPr lang="en-GB" sz="1800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ints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):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(10, 20, 30)); 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Calls second method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18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"Sum (2 doubles): "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.add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(10.5, 20.5)); </a:t>
            </a: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Calls third method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193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C64F-CD5E-5776-465C-0B2A10F7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Constructor Overloading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85E87-7239-47DD-4399-DEFE3E15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Constructor Overloading</a:t>
            </a:r>
            <a:r>
              <a:rPr lang="en-GB" dirty="0"/>
              <a:t> allows a class to have more than one constructor with different parameter lists.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constructor provides a different way to create an object.</a:t>
            </a:r>
          </a:p>
          <a:p>
            <a:r>
              <a:rPr lang="en-GB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Constructors differ by the number or type of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Provides flexibility for object creation with different levels of information.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02207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DFD2-FA7F-F471-65BB-5BB9E88C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A7CF-3A3E-0DEF-05A1-F44044190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Constructor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Car(String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carCount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 </a:t>
            </a:r>
            <a:r>
              <a:rPr lang="en-GB" sz="24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Increment the static variable</a:t>
            </a:r>
            <a:endParaRPr lang="en-GB" sz="2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2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Overloaded constructor with 2 parameters</a:t>
            </a:r>
            <a:endParaRPr lang="en-GB" sz="2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Car(String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4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GB" sz="24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Default price</a:t>
            </a:r>
            <a:endParaRPr lang="en-GB" sz="2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955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4537-F65F-2B23-A31E-CF24B380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b="1" dirty="0"/>
              <a:t>Inheritance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2D41-DC81-C1AB-5491-FCEA5D626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1" dirty="0"/>
              <a:t>Inheritance</a:t>
            </a:r>
            <a:r>
              <a:rPr lang="en-GB" dirty="0"/>
              <a:t> allows a class (child class or subclass) to </a:t>
            </a:r>
            <a:r>
              <a:rPr lang="en-GB" b="1" dirty="0"/>
              <a:t>inherit</a:t>
            </a:r>
            <a:r>
              <a:rPr lang="en-GB" dirty="0"/>
              <a:t> properties (fields) and </a:t>
            </a:r>
            <a:r>
              <a:rPr lang="en-GB" dirty="0" err="1"/>
              <a:t>behavior</a:t>
            </a:r>
            <a:r>
              <a:rPr lang="en-GB" dirty="0"/>
              <a:t> (methods) from another class (parent class or superclass).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This promotes </a:t>
            </a:r>
            <a:r>
              <a:rPr lang="en-GB" b="1" dirty="0"/>
              <a:t>code reuse</a:t>
            </a:r>
            <a:r>
              <a:rPr lang="en-GB" dirty="0"/>
              <a:t> and the creation of </a:t>
            </a:r>
            <a:r>
              <a:rPr lang="en-GB" b="1" dirty="0"/>
              <a:t>hierarchical relationships</a:t>
            </a:r>
            <a:r>
              <a:rPr lang="en-GB" dirty="0"/>
              <a:t> between classes.</a:t>
            </a:r>
          </a:p>
          <a:p>
            <a:pPr marL="0" indent="0" algn="just">
              <a:buNone/>
            </a:pPr>
            <a:r>
              <a:rPr lang="en-GB" b="1" dirty="0"/>
              <a:t>Key Points:</a:t>
            </a:r>
          </a:p>
          <a:p>
            <a:pPr algn="just"/>
            <a:r>
              <a:rPr lang="en-GB" b="1" dirty="0"/>
              <a:t>Parent Class (Super Class)</a:t>
            </a:r>
            <a:r>
              <a:rPr lang="en-GB" dirty="0"/>
              <a:t>: The class whose features are inherited.</a:t>
            </a:r>
          </a:p>
          <a:p>
            <a:pPr algn="just"/>
            <a:r>
              <a:rPr lang="en-GB" b="1" dirty="0"/>
              <a:t>Child Class (Sub Class)</a:t>
            </a:r>
            <a:r>
              <a:rPr lang="en-GB" dirty="0"/>
              <a:t>: The class that inherits from the parent class.</a:t>
            </a:r>
          </a:p>
          <a:p>
            <a:pPr algn="just"/>
            <a:r>
              <a:rPr lang="en-GB" b="1" dirty="0"/>
              <a:t>Benefits of Inheritance</a:t>
            </a:r>
            <a:r>
              <a:rPr lang="en-GB" dirty="0"/>
              <a:t>: Reusability, better organization, and ease of maintenance.</a:t>
            </a:r>
          </a:p>
        </p:txBody>
      </p:sp>
    </p:spTree>
    <p:extLst>
      <p:ext uri="{BB962C8B-B14F-4D97-AF65-F5344CB8AC3E}">
        <p14:creationId xmlns:p14="http://schemas.microsoft.com/office/powerpoint/2010/main" val="2569055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8E4E-18E7-7B31-C916-17FC04EB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CE76E-C974-8D82-AC9F-5373B2C7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Fields and methods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ParentClass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Child class can access fields and methods of </a:t>
            </a:r>
            <a:r>
              <a:rPr lang="en-GB" sz="1800" dirty="0" err="1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ParentClass</a:t>
            </a: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86629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A02D-29EA-C546-D178-586AACCD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EAD1B-278B-41E8-089F-82DC0C170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GB" sz="24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Parent class</a:t>
            </a:r>
            <a:endParaRPr lang="en-GB" sz="2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Animal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eat()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24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"This animal eats food."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//Child class that inherits from Animal</a:t>
            </a:r>
            <a:endParaRPr lang="en-GB" sz="24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Dog </a:t>
            </a: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Animal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bark()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lang="en-GB" sz="2400" b="1" i="1" dirty="0" err="1">
                <a:solidFill>
                  <a:srgbClr val="0000C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"The dog barks."</a:t>
            </a: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D93622-244F-AF7D-2329-67DAA08FFEAA}"/>
              </a:ext>
            </a:extLst>
          </p:cNvPr>
          <p:cNvSpPr txBox="1">
            <a:spLocks/>
          </p:cNvSpPr>
          <p:nvPr/>
        </p:nvSpPr>
        <p:spPr>
          <a:xfrm>
            <a:off x="7070271" y="1690688"/>
            <a:ext cx="51217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GB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Dog </a:t>
            </a:r>
            <a:r>
              <a:rPr lang="en-GB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myDog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Dog();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myDog</a:t>
            </a:r>
            <a:r>
              <a:rPr lang="en-GB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.eat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GB" sz="20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Inherited method from Animal class</a:t>
            </a:r>
            <a:endParaRPr lang="en-GB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myDog</a:t>
            </a:r>
            <a:r>
              <a:rPr lang="en-GB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.bark</a:t>
            </a: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GB" sz="20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Method from Dog class</a:t>
            </a:r>
            <a:endParaRPr lang="en-GB" sz="2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020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C01F-FF98-EB35-39ED-5235AD52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 Keyword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E1FE-7ED3-7861-DECE-254BDE35F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GB" dirty="0"/>
              <a:t>The super keyword refers to the parent class (superclass) and is used to:</a:t>
            </a:r>
          </a:p>
          <a:p>
            <a:pPr lvl="1" algn="just"/>
            <a:r>
              <a:rPr lang="en-GB" sz="2800" dirty="0"/>
              <a:t>Call the parent class’s constructor.</a:t>
            </a:r>
          </a:p>
          <a:p>
            <a:pPr lvl="1" algn="just"/>
            <a:r>
              <a:rPr lang="en-GB" sz="2800" dirty="0"/>
              <a:t>Access methods or variables from the parent class.</a:t>
            </a:r>
            <a:endParaRPr lang="en-GB" dirty="0"/>
          </a:p>
          <a:p>
            <a:pPr marL="0" indent="0" algn="just">
              <a:buNone/>
            </a:pPr>
            <a:r>
              <a:rPr lang="en-GB" dirty="0"/>
              <a:t>Key Points:</a:t>
            </a:r>
          </a:p>
          <a:p>
            <a:pPr algn="just"/>
            <a:r>
              <a:rPr lang="en-GB" b="1" dirty="0"/>
              <a:t>super() </a:t>
            </a:r>
            <a:r>
              <a:rPr lang="en-GB" dirty="0"/>
              <a:t>is used to call the parent class’s constructor from the child class.</a:t>
            </a:r>
          </a:p>
          <a:p>
            <a:pPr algn="just"/>
            <a:r>
              <a:rPr lang="en-GB" b="1" dirty="0" err="1"/>
              <a:t>super.methodName</a:t>
            </a:r>
            <a:r>
              <a:rPr lang="en-GB" b="1" dirty="0"/>
              <a:t>() </a:t>
            </a:r>
            <a:r>
              <a:rPr lang="en-GB" dirty="0"/>
              <a:t>is used to call the parent class’s method when it has been overridden by the child class.</a:t>
            </a:r>
          </a:p>
          <a:p>
            <a:pPr algn="just"/>
            <a:r>
              <a:rPr lang="en-GB" b="1" dirty="0" err="1"/>
              <a:t>super.variableName</a:t>
            </a:r>
            <a:r>
              <a:rPr lang="en-GB" b="1" dirty="0"/>
              <a:t> </a:t>
            </a:r>
            <a:r>
              <a:rPr lang="en-GB" dirty="0"/>
              <a:t>is used to access the parent class’s variable if the child class has a variable with the same name.</a:t>
            </a:r>
          </a:p>
          <a:p>
            <a:pPr lvl="1"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90601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EE1F-15F0-9450-17CA-A84147D3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Inheritance vs. Composition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CDF84-58A2-3AA0-1D2C-60981E427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Inheritance:</a:t>
            </a:r>
          </a:p>
          <a:p>
            <a:r>
              <a:rPr lang="en-GB" dirty="0"/>
              <a:t>Creates an "is-a" relationship between classes (e.g., a Dog is an Animal).</a:t>
            </a:r>
          </a:p>
          <a:p>
            <a:r>
              <a:rPr lang="en-GB" dirty="0"/>
              <a:t>Promotes code reuse by extending existing classes.</a:t>
            </a:r>
          </a:p>
          <a:p>
            <a:pPr marL="0" indent="0">
              <a:buNone/>
            </a:pPr>
            <a:r>
              <a:rPr lang="en-GB" b="1" dirty="0"/>
              <a:t>Composition:</a:t>
            </a:r>
          </a:p>
          <a:p>
            <a:r>
              <a:rPr lang="en-GB" dirty="0"/>
              <a:t>Creates a "has-a" relationship between classes (e.g., a Car has an Engine).</a:t>
            </a:r>
          </a:p>
          <a:p>
            <a:r>
              <a:rPr lang="en-GB" dirty="0"/>
              <a:t>Promotes code reuse by including other classes as fields.</a:t>
            </a:r>
          </a:p>
          <a:p>
            <a:r>
              <a:rPr lang="en-GB" dirty="0"/>
              <a:t>More flexible than inheritance because it allows greater control over relationships between objects.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3056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1862</Words>
  <Application>Microsoft Office PowerPoint</Application>
  <PresentationFormat>Widescreen</PresentationFormat>
  <Paragraphs>230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Algerian</vt:lpstr>
      <vt:lpstr>Arial</vt:lpstr>
      <vt:lpstr>Calibri</vt:lpstr>
      <vt:lpstr>Calibri Light</vt:lpstr>
      <vt:lpstr>Consolas</vt:lpstr>
      <vt:lpstr>Office Theme</vt:lpstr>
      <vt:lpstr>Advance Computer Programming (Java)</vt:lpstr>
      <vt:lpstr>Methods in Java</vt:lpstr>
      <vt:lpstr>Example</vt:lpstr>
      <vt:lpstr>Calling a Method </vt:lpstr>
      <vt:lpstr>Static Keyword</vt:lpstr>
      <vt:lpstr>Example</vt:lpstr>
      <vt:lpstr>Static Variables</vt:lpstr>
      <vt:lpstr>Final Keyword in Java</vt:lpstr>
      <vt:lpstr>Example</vt:lpstr>
      <vt:lpstr>Varargs (Variable arguments)</vt:lpstr>
      <vt:lpstr>Syntax for Varargs in Java:</vt:lpstr>
      <vt:lpstr>Example:</vt:lpstr>
      <vt:lpstr>Method Overloading in Java</vt:lpstr>
      <vt:lpstr>Example</vt:lpstr>
      <vt:lpstr>Constructor Overloading </vt:lpstr>
      <vt:lpstr>Example</vt:lpstr>
      <vt:lpstr>Inheritance</vt:lpstr>
      <vt:lpstr>Syntax</vt:lpstr>
      <vt:lpstr>Example</vt:lpstr>
      <vt:lpstr>Super Keyword</vt:lpstr>
      <vt:lpstr>Inheritance vs. 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35</cp:revision>
  <dcterms:created xsi:type="dcterms:W3CDTF">2024-09-19T19:48:28Z</dcterms:created>
  <dcterms:modified xsi:type="dcterms:W3CDTF">2024-09-27T16:42:41Z</dcterms:modified>
</cp:coreProperties>
</file>
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318" r:id="rId2"/>
    <p:sldId id="257" r:id="rId3"/>
    <p:sldId id="258" r:id="rId4"/>
    <p:sldId id="259" r:id="rId5"/>
    <p:sldId id="264" r:id="rId6"/>
    <p:sldId id="265" r:id="rId7"/>
    <p:sldId id="303" r:id="rId8"/>
    <p:sldId id="304" r:id="rId9"/>
    <p:sldId id="260" r:id="rId10"/>
    <p:sldId id="305" r:id="rId11"/>
    <p:sldId id="306" r:id="rId12"/>
    <p:sldId id="261" r:id="rId13"/>
    <p:sldId id="262" r:id="rId14"/>
    <p:sldId id="263" r:id="rId15"/>
    <p:sldId id="287" r:id="rId16"/>
    <p:sldId id="288" r:id="rId17"/>
    <p:sldId id="266" r:id="rId18"/>
    <p:sldId id="267" r:id="rId19"/>
    <p:sldId id="268" r:id="rId20"/>
    <p:sldId id="309" r:id="rId21"/>
    <p:sldId id="270" r:id="rId22"/>
    <p:sldId id="307" r:id="rId23"/>
    <p:sldId id="310" r:id="rId24"/>
    <p:sldId id="311" r:id="rId25"/>
    <p:sldId id="312" r:id="rId26"/>
    <p:sldId id="313" r:id="rId27"/>
    <p:sldId id="314" r:id="rId28"/>
    <p:sldId id="315" r:id="rId29"/>
    <p:sldId id="316" r:id="rId30"/>
    <p:sldId id="317" r:id="rId31"/>
    <p:sldId id="319" r:id="rId32"/>
    <p:sldId id="320" r:id="rId33"/>
    <p:sldId id="321" r:id="rId34"/>
    <p:sldId id="322" r:id="rId35"/>
    <p:sldId id="323" r:id="rId36"/>
    <p:sldId id="324" r:id="rId37"/>
    <p:sldId id="325" r:id="rId38"/>
    <p:sldId id="326" r:id="rId39"/>
    <p:sldId id="328" r:id="rId40"/>
    <p:sldId id="329" r:id="rId41"/>
    <p:sldId id="330" r:id="rId42"/>
    <p:sldId id="331" r:id="rId43"/>
    <p:sldId id="332" r:id="rId44"/>
    <p:sldId id="333" r:id="rId45"/>
    <p:sldId id="334" r:id="rId46"/>
    <p:sldId id="335" r:id="rId47"/>
    <p:sldId id="336" r:id="rId48"/>
    <p:sldId id="337" r:id="rId49"/>
    <p:sldId id="338" r:id="rId50"/>
    <p:sldId id="339" r:id="rId51"/>
    <p:sldId id="340" r:id="rId52"/>
    <p:sldId id="341" r:id="rId53"/>
    <p:sldId id="342" r:id="rId54"/>
    <p:sldId id="343" r:id="rId55"/>
    <p:sldId id="344" r:id="rId56"/>
    <p:sldId id="345" r:id="rId57"/>
    <p:sldId id="348" r:id="rId58"/>
    <p:sldId id="347" r:id="rId59"/>
    <p:sldId id="346" r:id="rId60"/>
    <p:sldId id="273" r:id="rId61"/>
    <p:sldId id="349" r:id="rId62"/>
    <p:sldId id="350" r:id="rId63"/>
    <p:sldId id="351" r:id="rId64"/>
    <p:sldId id="352" r:id="rId65"/>
    <p:sldId id="353" r:id="rId66"/>
    <p:sldId id="354" r:id="rId67"/>
    <p:sldId id="275" r:id="rId68"/>
    <p:sldId id="364" r:id="rId69"/>
    <p:sldId id="355" r:id="rId70"/>
    <p:sldId id="363" r:id="rId71"/>
    <p:sldId id="356" r:id="rId72"/>
    <p:sldId id="357" r:id="rId73"/>
    <p:sldId id="358" r:id="rId74"/>
    <p:sldId id="359" r:id="rId75"/>
    <p:sldId id="361" r:id="rId76"/>
    <p:sldId id="362" r:id="rId77"/>
    <p:sldId id="360" r:id="rId7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70A1"/>
    <a:srgbClr val="F5CA4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68616" autoAdjust="0"/>
  </p:normalViewPr>
  <p:slideViewPr>
    <p:cSldViewPr snapToGrid="0" snapToObjects="1">
      <p:cViewPr varScale="1">
        <p:scale>
          <a:sx n="47" d="100"/>
          <a:sy n="47" d="100"/>
        </p:scale>
        <p:origin x="2058"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62C84-2B26-478E-A24D-D7927436A9FA}" type="datetimeFigureOut">
              <a:rPr lang="en-AE" smtClean="0"/>
              <a:t>02/03/2025</a:t>
            </a:fld>
            <a:endParaRPr lang="en-A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0BBE9E-C29F-4FB2-AFDC-9BC42C25FCC0}" type="slidenum">
              <a:rPr lang="en-AE" smtClean="0"/>
              <a:t>‹#›</a:t>
            </a:fld>
            <a:endParaRPr lang="en-AE"/>
          </a:p>
        </p:txBody>
      </p:sp>
    </p:spTree>
    <p:extLst>
      <p:ext uri="{BB962C8B-B14F-4D97-AF65-F5344CB8AC3E}">
        <p14:creationId xmlns:p14="http://schemas.microsoft.com/office/powerpoint/2010/main" val="2110411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000000"/>
                </a:solidFill>
                <a:effectLst/>
                <a:latin typeface="Poppins" panose="00000500000000000000" pitchFamily="2" charset="0"/>
              </a:rPr>
              <a:t>It is Interpreted and platform-independent which makes debugging very easy.</a:t>
            </a:r>
          </a:p>
        </p:txBody>
      </p:sp>
      <p:sp>
        <p:nvSpPr>
          <p:cNvPr id="4" name="Slide Number Placeholder 3"/>
          <p:cNvSpPr>
            <a:spLocks noGrp="1"/>
          </p:cNvSpPr>
          <p:nvPr>
            <p:ph type="sldNum" sz="quarter" idx="5"/>
          </p:nvPr>
        </p:nvSpPr>
        <p:spPr/>
        <p:txBody>
          <a:bodyPr/>
          <a:lstStyle/>
          <a:p>
            <a:fld id="{9F0BBE9E-C29F-4FB2-AFDC-9BC42C25FCC0}" type="slidenum">
              <a:rPr lang="en-AE" smtClean="0"/>
              <a:t>3</a:t>
            </a:fld>
            <a:endParaRPr lang="en-AE"/>
          </a:p>
        </p:txBody>
      </p:sp>
    </p:spTree>
    <p:extLst>
      <p:ext uri="{BB962C8B-B14F-4D97-AF65-F5344CB8AC3E}">
        <p14:creationId xmlns:p14="http://schemas.microsoft.com/office/powerpoint/2010/main" val="2051930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Apple</a:t>
            </a:r>
          </a:p>
          <a:p>
            <a:r>
              <a:rPr lang="en-GB" dirty="0"/>
              <a:t>Pie</a:t>
            </a:r>
          </a:p>
          <a:p>
            <a:r>
              <a:rPr lang="en-GB" dirty="0" err="1"/>
              <a:t>pleP</a:t>
            </a:r>
            <a:endParaRPr lang="en-GB" dirty="0"/>
          </a:p>
          <a:p>
            <a:r>
              <a:rPr lang="en-GB" dirty="0" err="1"/>
              <a:t>ApplePie</a:t>
            </a:r>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35</a:t>
            </a:fld>
            <a:endParaRPr lang="en-AE"/>
          </a:p>
        </p:txBody>
      </p:sp>
    </p:spTree>
    <p:extLst>
      <p:ext uri="{BB962C8B-B14F-4D97-AF65-F5344CB8AC3E}">
        <p14:creationId xmlns:p14="http://schemas.microsoft.com/office/powerpoint/2010/main" val="3987743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['Silver', 'Spoon’]</a:t>
            </a:r>
          </a:p>
          <a:p>
            <a:r>
              <a:rPr lang="en-GB" b="0" i="0" dirty="0">
                <a:solidFill>
                  <a:srgbClr val="000000"/>
                </a:solidFill>
                <a:effectLst/>
                <a:latin typeface="Poppins" panose="00000500000000000000" pitchFamily="2" charset="0"/>
              </a:rPr>
              <a:t>We can use various other string methods to modify our strings.</a:t>
            </a:r>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41</a:t>
            </a:fld>
            <a:endParaRPr lang="en-AE"/>
          </a:p>
        </p:txBody>
      </p:sp>
    </p:spTree>
    <p:extLst>
      <p:ext uri="{BB962C8B-B14F-4D97-AF65-F5344CB8AC3E}">
        <p14:creationId xmlns:p14="http://schemas.microsoft.com/office/powerpoint/2010/main" val="3059435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C96FC-E1D5-DAE9-0218-78BE46001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5D53C-7ACD-1523-CF84-C84F009EC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3F052-2479-C5BB-F20D-FF517D1300D3}"/>
              </a:ext>
            </a:extLst>
          </p:cNvPr>
          <p:cNvSpPr>
            <a:spLocks noGrp="1"/>
          </p:cNvSpPr>
          <p:nvPr>
            <p:ph type="body" idx="1"/>
          </p:nvPr>
        </p:nvSpPr>
        <p:spPr/>
        <p:txBody>
          <a:bodyPr/>
          <a:lstStyle/>
          <a:p>
            <a:r>
              <a:rPr lang="en-GB" dirty="0"/>
              <a:t>['Silver', 'Spoon’]</a:t>
            </a:r>
          </a:p>
        </p:txBody>
      </p:sp>
      <p:sp>
        <p:nvSpPr>
          <p:cNvPr id="4" name="Slide Number Placeholder 3">
            <a:extLst>
              <a:ext uri="{FF2B5EF4-FFF2-40B4-BE49-F238E27FC236}">
                <a16:creationId xmlns:a16="http://schemas.microsoft.com/office/drawing/2014/main" id="{950AEDCD-8C8E-E7AF-EA61-F4BB80F4E308}"/>
              </a:ext>
            </a:extLst>
          </p:cNvPr>
          <p:cNvSpPr>
            <a:spLocks noGrp="1"/>
          </p:cNvSpPr>
          <p:nvPr>
            <p:ph type="sldNum" sz="quarter" idx="5"/>
          </p:nvPr>
        </p:nvSpPr>
        <p:spPr/>
        <p:txBody>
          <a:bodyPr/>
          <a:lstStyle/>
          <a:p>
            <a:fld id="{9F0BBE9E-C29F-4FB2-AFDC-9BC42C25FCC0}" type="slidenum">
              <a:rPr lang="en-AE" smtClean="0"/>
              <a:t>42</a:t>
            </a:fld>
            <a:endParaRPr lang="en-AE"/>
          </a:p>
        </p:txBody>
      </p:sp>
    </p:spTree>
    <p:extLst>
      <p:ext uri="{BB962C8B-B14F-4D97-AF65-F5344CB8AC3E}">
        <p14:creationId xmlns:p14="http://schemas.microsoft.com/office/powerpoint/2010/main" val="2110710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B86EE-5B8C-E32F-7EA5-80EA21F4D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71C4D-5D66-F140-1066-D1EE1D286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20F8F-1992-10DF-417B-3075626D0CDA}"/>
              </a:ext>
            </a:extLst>
          </p:cNvPr>
          <p:cNvSpPr>
            <a:spLocks noGrp="1"/>
          </p:cNvSpPr>
          <p:nvPr>
            <p:ph type="body" idx="1"/>
          </p:nvPr>
        </p:nvSpPr>
        <p:spPr/>
        <p:txBody>
          <a:bodyPr/>
          <a:lstStyle/>
          <a:p>
            <a:pPr marL="342900" indent="-342900" algn="l" defTabSz="457200" rtl="0" eaLnBrk="1" latinLnBrk="0" hangingPunct="1">
              <a:spcBef>
                <a:spcPts val="1125"/>
              </a:spcBef>
              <a:spcAft>
                <a:spcPts val="900"/>
              </a:spcAft>
              <a:buFont typeface="Arial"/>
              <a:buChar char="•"/>
            </a:pPr>
            <a:endParaRPr lang="en-AE" sz="3200" b="1" i="0" kern="1200" dirty="0">
              <a:solidFill>
                <a:schemeClr val="tx1"/>
              </a:solidFill>
              <a:effectLst/>
              <a:latin typeface="+mj-lt"/>
              <a:ea typeface="+mn-ea"/>
              <a:cs typeface="+mn-cs"/>
            </a:endParaRPr>
          </a:p>
        </p:txBody>
      </p:sp>
      <p:sp>
        <p:nvSpPr>
          <p:cNvPr id="4" name="Slide Number Placeholder 3">
            <a:extLst>
              <a:ext uri="{FF2B5EF4-FFF2-40B4-BE49-F238E27FC236}">
                <a16:creationId xmlns:a16="http://schemas.microsoft.com/office/drawing/2014/main" id="{13F88171-350D-DB71-2308-0ACCC82B47D4}"/>
              </a:ext>
            </a:extLst>
          </p:cNvPr>
          <p:cNvSpPr>
            <a:spLocks noGrp="1"/>
          </p:cNvSpPr>
          <p:nvPr>
            <p:ph type="sldNum" sz="quarter" idx="5"/>
          </p:nvPr>
        </p:nvSpPr>
        <p:spPr/>
        <p:txBody>
          <a:bodyPr/>
          <a:lstStyle/>
          <a:p>
            <a:fld id="{9F0BBE9E-C29F-4FB2-AFDC-9BC42C25FCC0}" type="slidenum">
              <a:rPr lang="en-AE" smtClean="0"/>
              <a:t>43</a:t>
            </a:fld>
            <a:endParaRPr lang="en-AE"/>
          </a:p>
        </p:txBody>
      </p:sp>
    </p:spTree>
    <p:extLst>
      <p:ext uri="{BB962C8B-B14F-4D97-AF65-F5344CB8AC3E}">
        <p14:creationId xmlns:p14="http://schemas.microsoft.com/office/powerpoint/2010/main" val="2715407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C2156-0F30-A468-FFE4-39543C948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ECB8F-104A-5141-2BF7-2CA175AF6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A513E-4BA7-4F91-AD96-906999BBA606}"/>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7D53270B-9056-3019-95D0-75C2C2F414A9}"/>
              </a:ext>
            </a:extLst>
          </p:cNvPr>
          <p:cNvSpPr>
            <a:spLocks noGrp="1"/>
          </p:cNvSpPr>
          <p:nvPr>
            <p:ph type="sldNum" sz="quarter" idx="5"/>
          </p:nvPr>
        </p:nvSpPr>
        <p:spPr/>
        <p:txBody>
          <a:bodyPr/>
          <a:lstStyle/>
          <a:p>
            <a:fld id="{9F0BBE9E-C29F-4FB2-AFDC-9BC42C25FCC0}" type="slidenum">
              <a:rPr lang="en-AE" smtClean="0"/>
              <a:t>44</a:t>
            </a:fld>
            <a:endParaRPr lang="en-AE"/>
          </a:p>
        </p:txBody>
      </p:sp>
    </p:spTree>
    <p:extLst>
      <p:ext uri="{BB962C8B-B14F-4D97-AF65-F5344CB8AC3E}">
        <p14:creationId xmlns:p14="http://schemas.microsoft.com/office/powerpoint/2010/main" val="354686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B16EF-D667-0B2E-1D42-47BB0E095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6B26A-33F7-E9E2-40E6-01141C4CC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155EF-6D33-2CDC-92AF-CC7B63C3BA1C}"/>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9F8CE058-51BA-79F1-E84B-4B61424A5524}"/>
              </a:ext>
            </a:extLst>
          </p:cNvPr>
          <p:cNvSpPr>
            <a:spLocks noGrp="1"/>
          </p:cNvSpPr>
          <p:nvPr>
            <p:ph type="sldNum" sz="quarter" idx="5"/>
          </p:nvPr>
        </p:nvSpPr>
        <p:spPr/>
        <p:txBody>
          <a:bodyPr/>
          <a:lstStyle/>
          <a:p>
            <a:fld id="{9F0BBE9E-C29F-4FB2-AFDC-9BC42C25FCC0}" type="slidenum">
              <a:rPr lang="en-AE" smtClean="0"/>
              <a:t>45</a:t>
            </a:fld>
            <a:endParaRPr lang="en-AE"/>
          </a:p>
        </p:txBody>
      </p:sp>
    </p:spTree>
    <p:extLst>
      <p:ext uri="{BB962C8B-B14F-4D97-AF65-F5344CB8AC3E}">
        <p14:creationId xmlns:p14="http://schemas.microsoft.com/office/powerpoint/2010/main" val="1979355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D2C-D8AB-98FC-3F14-5F8A79074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09566-31E1-F3CD-03FA-8F9833D52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2E876-0E9A-A28A-092A-C918B5B2D3C7}"/>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F3E7FF28-07D5-5A18-C055-F89B59BD45DA}"/>
              </a:ext>
            </a:extLst>
          </p:cNvPr>
          <p:cNvSpPr>
            <a:spLocks noGrp="1"/>
          </p:cNvSpPr>
          <p:nvPr>
            <p:ph type="sldNum" sz="quarter" idx="5"/>
          </p:nvPr>
        </p:nvSpPr>
        <p:spPr/>
        <p:txBody>
          <a:bodyPr/>
          <a:lstStyle/>
          <a:p>
            <a:fld id="{9F0BBE9E-C29F-4FB2-AFDC-9BC42C25FCC0}" type="slidenum">
              <a:rPr lang="en-AE" smtClean="0"/>
              <a:t>46</a:t>
            </a:fld>
            <a:endParaRPr lang="en-AE"/>
          </a:p>
        </p:txBody>
      </p:sp>
    </p:spTree>
    <p:extLst>
      <p:ext uri="{BB962C8B-B14F-4D97-AF65-F5344CB8AC3E}">
        <p14:creationId xmlns:p14="http://schemas.microsoft.com/office/powerpoint/2010/main" val="3996347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FAD76-672E-BC15-3142-EE2DE1539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61CBB-0766-D9CE-891C-C32E34A1EB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6DC41F-B65E-5328-3E22-F25C84CFB06F}"/>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7EA769E3-3782-A489-FB76-DE12AE1479DA}"/>
              </a:ext>
            </a:extLst>
          </p:cNvPr>
          <p:cNvSpPr>
            <a:spLocks noGrp="1"/>
          </p:cNvSpPr>
          <p:nvPr>
            <p:ph type="sldNum" sz="quarter" idx="5"/>
          </p:nvPr>
        </p:nvSpPr>
        <p:spPr/>
        <p:txBody>
          <a:bodyPr/>
          <a:lstStyle/>
          <a:p>
            <a:fld id="{9F0BBE9E-C29F-4FB2-AFDC-9BC42C25FCC0}" type="slidenum">
              <a:rPr lang="en-AE" smtClean="0"/>
              <a:t>47</a:t>
            </a:fld>
            <a:endParaRPr lang="en-AE"/>
          </a:p>
        </p:txBody>
      </p:sp>
    </p:spTree>
    <p:extLst>
      <p:ext uri="{BB962C8B-B14F-4D97-AF65-F5344CB8AC3E}">
        <p14:creationId xmlns:p14="http://schemas.microsoft.com/office/powerpoint/2010/main" val="3736170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44EA4-24AF-E985-EA58-A73FB95EA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868CE-4345-6086-14EB-C4D63A29C2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BA59C-BE5F-FCDA-AA6C-406A3690B40C}"/>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5669697D-C213-AF03-C0D1-8B4EDB4E44D2}"/>
              </a:ext>
            </a:extLst>
          </p:cNvPr>
          <p:cNvSpPr>
            <a:spLocks noGrp="1"/>
          </p:cNvSpPr>
          <p:nvPr>
            <p:ph type="sldNum" sz="quarter" idx="5"/>
          </p:nvPr>
        </p:nvSpPr>
        <p:spPr/>
        <p:txBody>
          <a:bodyPr/>
          <a:lstStyle/>
          <a:p>
            <a:fld id="{9F0BBE9E-C29F-4FB2-AFDC-9BC42C25FCC0}" type="slidenum">
              <a:rPr lang="en-AE" smtClean="0"/>
              <a:t>48</a:t>
            </a:fld>
            <a:endParaRPr lang="en-AE"/>
          </a:p>
        </p:txBody>
      </p:sp>
    </p:spTree>
    <p:extLst>
      <p:ext uri="{BB962C8B-B14F-4D97-AF65-F5344CB8AC3E}">
        <p14:creationId xmlns:p14="http://schemas.microsoft.com/office/powerpoint/2010/main" val="219010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985A5-2B8B-CA8E-4531-5E55837D4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06942-9E9C-8368-ECD3-FE13BEFEC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085BD-97A5-8B4D-B57C-D3FC633FF01A}"/>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A9A72547-DF8C-A73C-C263-3FE4E3247882}"/>
              </a:ext>
            </a:extLst>
          </p:cNvPr>
          <p:cNvSpPr>
            <a:spLocks noGrp="1"/>
          </p:cNvSpPr>
          <p:nvPr>
            <p:ph type="sldNum" sz="quarter" idx="5"/>
          </p:nvPr>
        </p:nvSpPr>
        <p:spPr/>
        <p:txBody>
          <a:bodyPr/>
          <a:lstStyle/>
          <a:p>
            <a:fld id="{9F0BBE9E-C29F-4FB2-AFDC-9BC42C25FCC0}" type="slidenum">
              <a:rPr lang="en-AE" smtClean="0"/>
              <a:t>49</a:t>
            </a:fld>
            <a:endParaRPr lang="en-AE"/>
          </a:p>
        </p:txBody>
      </p:sp>
    </p:spTree>
    <p:extLst>
      <p:ext uri="{BB962C8B-B14F-4D97-AF65-F5344CB8AC3E}">
        <p14:creationId xmlns:p14="http://schemas.microsoft.com/office/powerpoint/2010/main" val="3335032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3A60-5551-D3CD-63B3-6C5E82FFD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2DEA2-370F-1C44-766B-720B41CF9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8C375-84D3-DCDE-8095-368E103F3168}"/>
              </a:ext>
            </a:extLst>
          </p:cNvPr>
          <p:cNvSpPr>
            <a:spLocks noGrp="1"/>
          </p:cNvSpPr>
          <p:nvPr>
            <p:ph type="body" idx="1"/>
          </p:nvPr>
        </p:nvSpPr>
        <p:spPr/>
        <p:txBody>
          <a:bodyPr/>
          <a:lstStyle/>
          <a:p>
            <a:r>
              <a:rPr lang="en-GB" b="0" i="0" dirty="0">
                <a:solidFill>
                  <a:srgbClr val="000000"/>
                </a:solidFill>
                <a:effectLst/>
                <a:latin typeface="Poppins" panose="00000500000000000000" pitchFamily="2" charset="0"/>
              </a:rPr>
              <a:t>The major difference being that index() raises an exception if value is absent whereas find() does not.</a:t>
            </a:r>
          </a:p>
          <a:p>
            <a:endParaRPr lang="en-GB" b="0" i="0" dirty="0">
              <a:solidFill>
                <a:srgbClr val="000000"/>
              </a:solidFill>
              <a:effectLst/>
              <a:latin typeface="Poppins" panose="00000500000000000000" pitchFamily="2" charset="0"/>
            </a:endParaRPr>
          </a:p>
          <a:p>
            <a:r>
              <a:rPr lang="en-GB" dirty="0" err="1"/>
              <a:t>ValueError</a:t>
            </a:r>
            <a:r>
              <a:rPr lang="en-GB" dirty="0">
                <a:solidFill>
                  <a:srgbClr val="F8F8F2"/>
                </a:solidFill>
                <a:effectLst/>
              </a:rPr>
              <a:t>:</a:t>
            </a:r>
            <a:r>
              <a:rPr lang="en-GB" dirty="0"/>
              <a:t> substring </a:t>
            </a:r>
            <a:r>
              <a:rPr lang="en-GB" dirty="0">
                <a:solidFill>
                  <a:srgbClr val="66D9EF"/>
                </a:solidFill>
                <a:effectLst/>
              </a:rPr>
              <a:t>not</a:t>
            </a:r>
            <a:r>
              <a:rPr lang="en-GB" dirty="0"/>
              <a:t> found</a:t>
            </a:r>
            <a:endParaRPr lang="en-AE" dirty="0"/>
          </a:p>
        </p:txBody>
      </p:sp>
      <p:sp>
        <p:nvSpPr>
          <p:cNvPr id="4" name="Slide Number Placeholder 3">
            <a:extLst>
              <a:ext uri="{FF2B5EF4-FFF2-40B4-BE49-F238E27FC236}">
                <a16:creationId xmlns:a16="http://schemas.microsoft.com/office/drawing/2014/main" id="{9A606521-637E-B0CA-8561-66F2FA5F38C3}"/>
              </a:ext>
            </a:extLst>
          </p:cNvPr>
          <p:cNvSpPr>
            <a:spLocks noGrp="1"/>
          </p:cNvSpPr>
          <p:nvPr>
            <p:ph type="sldNum" sz="quarter" idx="5"/>
          </p:nvPr>
        </p:nvSpPr>
        <p:spPr/>
        <p:txBody>
          <a:bodyPr/>
          <a:lstStyle/>
          <a:p>
            <a:fld id="{9F0BBE9E-C29F-4FB2-AFDC-9BC42C25FCC0}" type="slidenum">
              <a:rPr lang="en-AE" smtClean="0"/>
              <a:t>50</a:t>
            </a:fld>
            <a:endParaRPr lang="en-AE"/>
          </a:p>
        </p:txBody>
      </p:sp>
    </p:spTree>
    <p:extLst>
      <p:ext uri="{BB962C8B-B14F-4D97-AF65-F5344CB8AC3E}">
        <p14:creationId xmlns:p14="http://schemas.microsoft.com/office/powerpoint/2010/main" val="2336915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E3FD1-EB0C-4ACB-1606-4C3595936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22FF2-51F6-7E49-5FA1-58A925E91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571F2-40A1-33F4-CFD1-FC6414106E11}"/>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44160D0D-C630-80F3-AAFB-C35E75C9031D}"/>
              </a:ext>
            </a:extLst>
          </p:cNvPr>
          <p:cNvSpPr>
            <a:spLocks noGrp="1"/>
          </p:cNvSpPr>
          <p:nvPr>
            <p:ph type="sldNum" sz="quarter" idx="5"/>
          </p:nvPr>
        </p:nvSpPr>
        <p:spPr/>
        <p:txBody>
          <a:bodyPr/>
          <a:lstStyle/>
          <a:p>
            <a:fld id="{9F0BBE9E-C29F-4FB2-AFDC-9BC42C25FCC0}" type="slidenum">
              <a:rPr lang="en-AE" smtClean="0"/>
              <a:t>51</a:t>
            </a:fld>
            <a:endParaRPr lang="en-AE"/>
          </a:p>
        </p:txBody>
      </p:sp>
    </p:spTree>
    <p:extLst>
      <p:ext uri="{BB962C8B-B14F-4D97-AF65-F5344CB8AC3E}">
        <p14:creationId xmlns:p14="http://schemas.microsoft.com/office/powerpoint/2010/main" val="2032005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1744-6013-87FC-EDC6-CEB70AFF5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D4C66-2A41-BD91-5733-C1331CE7F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A5E976-C58E-03CE-ABB1-42D58ECE5E05}"/>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FCA2C963-73B6-6C69-E283-D72073A5BF76}"/>
              </a:ext>
            </a:extLst>
          </p:cNvPr>
          <p:cNvSpPr>
            <a:spLocks noGrp="1"/>
          </p:cNvSpPr>
          <p:nvPr>
            <p:ph type="sldNum" sz="quarter" idx="5"/>
          </p:nvPr>
        </p:nvSpPr>
        <p:spPr/>
        <p:txBody>
          <a:bodyPr/>
          <a:lstStyle/>
          <a:p>
            <a:fld id="{9F0BBE9E-C29F-4FB2-AFDC-9BC42C25FCC0}" type="slidenum">
              <a:rPr lang="en-AE" smtClean="0"/>
              <a:t>52</a:t>
            </a:fld>
            <a:endParaRPr lang="en-AE"/>
          </a:p>
        </p:txBody>
      </p:sp>
    </p:spTree>
    <p:extLst>
      <p:ext uri="{BB962C8B-B14F-4D97-AF65-F5344CB8AC3E}">
        <p14:creationId xmlns:p14="http://schemas.microsoft.com/office/powerpoint/2010/main" val="26892370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A027-053A-518A-29B5-630457049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7104D-BEDD-CB7F-561D-A8C7256B1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C3A3B-4EC1-127A-5647-D43E8F57320D}"/>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76F61A91-C26A-D1D8-EBCC-B76761DEDF01}"/>
              </a:ext>
            </a:extLst>
          </p:cNvPr>
          <p:cNvSpPr>
            <a:spLocks noGrp="1"/>
          </p:cNvSpPr>
          <p:nvPr>
            <p:ph type="sldNum" sz="quarter" idx="5"/>
          </p:nvPr>
        </p:nvSpPr>
        <p:spPr/>
        <p:txBody>
          <a:bodyPr/>
          <a:lstStyle/>
          <a:p>
            <a:fld id="{9F0BBE9E-C29F-4FB2-AFDC-9BC42C25FCC0}" type="slidenum">
              <a:rPr lang="en-AE" smtClean="0"/>
              <a:t>53</a:t>
            </a:fld>
            <a:endParaRPr lang="en-AE"/>
          </a:p>
        </p:txBody>
      </p:sp>
    </p:spTree>
    <p:extLst>
      <p:ext uri="{BB962C8B-B14F-4D97-AF65-F5344CB8AC3E}">
        <p14:creationId xmlns:p14="http://schemas.microsoft.com/office/powerpoint/2010/main" val="1813867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95E33-1FE2-EB7E-0D35-003F5E3258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C6A5C1-027B-8B2A-FDC0-464A657D1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B58C0-539E-B9C2-E8A5-C359A448C7D1}"/>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6429E405-EF3F-5222-8991-49EDDD79AE62}"/>
              </a:ext>
            </a:extLst>
          </p:cNvPr>
          <p:cNvSpPr>
            <a:spLocks noGrp="1"/>
          </p:cNvSpPr>
          <p:nvPr>
            <p:ph type="sldNum" sz="quarter" idx="5"/>
          </p:nvPr>
        </p:nvSpPr>
        <p:spPr/>
        <p:txBody>
          <a:bodyPr/>
          <a:lstStyle/>
          <a:p>
            <a:fld id="{9F0BBE9E-C29F-4FB2-AFDC-9BC42C25FCC0}" type="slidenum">
              <a:rPr lang="en-AE" smtClean="0"/>
              <a:t>54</a:t>
            </a:fld>
            <a:endParaRPr lang="en-AE"/>
          </a:p>
        </p:txBody>
      </p:sp>
    </p:spTree>
    <p:extLst>
      <p:ext uri="{BB962C8B-B14F-4D97-AF65-F5344CB8AC3E}">
        <p14:creationId xmlns:p14="http://schemas.microsoft.com/office/powerpoint/2010/main" val="4261366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711D-C59C-FE44-6B60-97891A84E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1D0BA-7150-ABFD-0701-4093A7037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26B74-A9B1-3215-9FC4-62520DE9737F}"/>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5CA9BDDB-F465-6C26-29E7-DFCF94B7FBBF}"/>
              </a:ext>
            </a:extLst>
          </p:cNvPr>
          <p:cNvSpPr>
            <a:spLocks noGrp="1"/>
          </p:cNvSpPr>
          <p:nvPr>
            <p:ph type="sldNum" sz="quarter" idx="5"/>
          </p:nvPr>
        </p:nvSpPr>
        <p:spPr/>
        <p:txBody>
          <a:bodyPr/>
          <a:lstStyle/>
          <a:p>
            <a:fld id="{9F0BBE9E-C29F-4FB2-AFDC-9BC42C25FCC0}" type="slidenum">
              <a:rPr lang="en-AE" smtClean="0"/>
              <a:t>55</a:t>
            </a:fld>
            <a:endParaRPr lang="en-AE"/>
          </a:p>
        </p:txBody>
      </p:sp>
    </p:spTree>
    <p:extLst>
      <p:ext uri="{BB962C8B-B14F-4D97-AF65-F5344CB8AC3E}">
        <p14:creationId xmlns:p14="http://schemas.microsoft.com/office/powerpoint/2010/main" val="38160328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7E290-C7D8-E24A-6CE4-A20911E96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A3101-0B8A-0A15-9368-EA09FE3FA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A5380-E27A-EF18-9AEC-89DA579795BB}"/>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D9C27224-70B6-A790-EC4D-AA5CF28E0322}"/>
              </a:ext>
            </a:extLst>
          </p:cNvPr>
          <p:cNvSpPr>
            <a:spLocks noGrp="1"/>
          </p:cNvSpPr>
          <p:nvPr>
            <p:ph type="sldNum" sz="quarter" idx="5"/>
          </p:nvPr>
        </p:nvSpPr>
        <p:spPr/>
        <p:txBody>
          <a:bodyPr/>
          <a:lstStyle/>
          <a:p>
            <a:fld id="{9F0BBE9E-C29F-4FB2-AFDC-9BC42C25FCC0}" type="slidenum">
              <a:rPr lang="en-AE" smtClean="0"/>
              <a:t>56</a:t>
            </a:fld>
            <a:endParaRPr lang="en-AE"/>
          </a:p>
        </p:txBody>
      </p:sp>
    </p:spTree>
    <p:extLst>
      <p:ext uri="{BB962C8B-B14F-4D97-AF65-F5344CB8AC3E}">
        <p14:creationId xmlns:p14="http://schemas.microsoft.com/office/powerpoint/2010/main" val="992403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529D-CAEA-6DD6-2B64-635BEEC8E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5B3DE-55A5-99AA-71A3-EA5CD85A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66657-9B89-64FD-959C-97492766802A}"/>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23A8069C-70FB-C521-19C0-123AFE6B605D}"/>
              </a:ext>
            </a:extLst>
          </p:cNvPr>
          <p:cNvSpPr>
            <a:spLocks noGrp="1"/>
          </p:cNvSpPr>
          <p:nvPr>
            <p:ph type="sldNum" sz="quarter" idx="5"/>
          </p:nvPr>
        </p:nvSpPr>
        <p:spPr/>
        <p:txBody>
          <a:bodyPr/>
          <a:lstStyle/>
          <a:p>
            <a:fld id="{9F0BBE9E-C29F-4FB2-AFDC-9BC42C25FCC0}" type="slidenum">
              <a:rPr lang="en-AE" smtClean="0"/>
              <a:t>57</a:t>
            </a:fld>
            <a:endParaRPr lang="en-AE"/>
          </a:p>
        </p:txBody>
      </p:sp>
    </p:spTree>
    <p:extLst>
      <p:ext uri="{BB962C8B-B14F-4D97-AF65-F5344CB8AC3E}">
        <p14:creationId xmlns:p14="http://schemas.microsoft.com/office/powerpoint/2010/main" val="404663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C5924-EEFC-5737-4748-CD234C3CE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71938-3659-F47C-315F-7D15AF39E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51A12-A3A8-CB00-140C-3402ADD99AA0}"/>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E4628817-13DE-1A8B-0AE3-460668F361C8}"/>
              </a:ext>
            </a:extLst>
          </p:cNvPr>
          <p:cNvSpPr>
            <a:spLocks noGrp="1"/>
          </p:cNvSpPr>
          <p:nvPr>
            <p:ph type="sldNum" sz="quarter" idx="5"/>
          </p:nvPr>
        </p:nvSpPr>
        <p:spPr/>
        <p:txBody>
          <a:bodyPr/>
          <a:lstStyle/>
          <a:p>
            <a:fld id="{9F0BBE9E-C29F-4FB2-AFDC-9BC42C25FCC0}" type="slidenum">
              <a:rPr lang="en-AE" smtClean="0"/>
              <a:t>58</a:t>
            </a:fld>
            <a:endParaRPr lang="en-AE"/>
          </a:p>
        </p:txBody>
      </p:sp>
    </p:spTree>
    <p:extLst>
      <p:ext uri="{BB962C8B-B14F-4D97-AF65-F5344CB8AC3E}">
        <p14:creationId xmlns:p14="http://schemas.microsoft.com/office/powerpoint/2010/main" val="3927165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E86D9-9126-D8B3-2C47-3EBF17558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30C6D-440E-802B-6D06-DFD3CBB4C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88A19B-4202-8B34-C75A-1480CF2A76B0}"/>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BC2353D5-7796-C41B-980C-BCA475795789}"/>
              </a:ext>
            </a:extLst>
          </p:cNvPr>
          <p:cNvSpPr>
            <a:spLocks noGrp="1"/>
          </p:cNvSpPr>
          <p:nvPr>
            <p:ph type="sldNum" sz="quarter" idx="5"/>
          </p:nvPr>
        </p:nvSpPr>
        <p:spPr/>
        <p:txBody>
          <a:bodyPr/>
          <a:lstStyle/>
          <a:p>
            <a:fld id="{9F0BBE9E-C29F-4FB2-AFDC-9BC42C25FCC0}" type="slidenum">
              <a:rPr lang="en-AE" smtClean="0"/>
              <a:t>59</a:t>
            </a:fld>
            <a:endParaRPr lang="en-AE"/>
          </a:p>
        </p:txBody>
      </p:sp>
    </p:spTree>
    <p:extLst>
      <p:ext uri="{BB962C8B-B14F-4D97-AF65-F5344CB8AC3E}">
        <p14:creationId xmlns:p14="http://schemas.microsoft.com/office/powerpoint/2010/main" val="3299938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65</a:t>
            </a:fld>
            <a:endParaRPr lang="en-AE"/>
          </a:p>
        </p:txBody>
      </p:sp>
    </p:spTree>
    <p:extLst>
      <p:ext uri="{BB962C8B-B14F-4D97-AF65-F5344CB8AC3E}">
        <p14:creationId xmlns:p14="http://schemas.microsoft.com/office/powerpoint/2010/main" val="1977053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67</a:t>
            </a:fld>
            <a:endParaRPr lang="en-AE"/>
          </a:p>
        </p:txBody>
      </p:sp>
    </p:spTree>
    <p:extLst>
      <p:ext uri="{BB962C8B-B14F-4D97-AF65-F5344CB8AC3E}">
        <p14:creationId xmlns:p14="http://schemas.microsoft.com/office/powerpoint/2010/main" val="2407856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70</a:t>
            </a:fld>
            <a:endParaRPr lang="en-AE"/>
          </a:p>
        </p:txBody>
      </p:sp>
    </p:spTree>
    <p:extLst>
      <p:ext uri="{BB962C8B-B14F-4D97-AF65-F5344CB8AC3E}">
        <p14:creationId xmlns:p14="http://schemas.microsoft.com/office/powerpoint/2010/main" val="3371060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dirty="0"/>
              <a:t>- break: Stops loop execution.</a:t>
            </a:r>
          </a:p>
          <a:p>
            <a:pPr marL="0" indent="0">
              <a:buNone/>
            </a:pPr>
            <a:r>
              <a:rPr lang="en-GB" dirty="0"/>
              <a:t>- continue: Skips current iteration.</a:t>
            </a:r>
          </a:p>
          <a:p>
            <a:pPr marL="0" indent="0">
              <a:buNone/>
            </a:pPr>
            <a:r>
              <a:rPr lang="en-GB" dirty="0"/>
              <a:t>- pass: Placeholder with no action.</a:t>
            </a:r>
          </a:p>
          <a:p>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72</a:t>
            </a:fld>
            <a:endParaRPr lang="en-AE"/>
          </a:p>
        </p:txBody>
      </p:sp>
    </p:spTree>
    <p:extLst>
      <p:ext uri="{BB962C8B-B14F-4D97-AF65-F5344CB8AC3E}">
        <p14:creationId xmlns:p14="http://schemas.microsoft.com/office/powerpoint/2010/main" val="2509693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dirty="0"/>
              <a:t>0  </a:t>
            </a:r>
          </a:p>
          <a:p>
            <a:r>
              <a:rPr lang="en-AE" dirty="0"/>
              <a:t>1  </a:t>
            </a:r>
          </a:p>
          <a:p>
            <a:r>
              <a:rPr lang="en-AE" dirty="0"/>
              <a:t>2  </a:t>
            </a:r>
          </a:p>
          <a:p>
            <a:r>
              <a:rPr lang="en-AE" dirty="0"/>
              <a:t>3  </a:t>
            </a:r>
          </a:p>
          <a:p>
            <a:r>
              <a:rPr lang="en-AE" dirty="0"/>
              <a:t>4 </a:t>
            </a:r>
          </a:p>
        </p:txBody>
      </p:sp>
      <p:sp>
        <p:nvSpPr>
          <p:cNvPr id="4" name="Slide Number Placeholder 3"/>
          <p:cNvSpPr>
            <a:spLocks noGrp="1"/>
          </p:cNvSpPr>
          <p:nvPr>
            <p:ph type="sldNum" sz="quarter" idx="5"/>
          </p:nvPr>
        </p:nvSpPr>
        <p:spPr/>
        <p:txBody>
          <a:bodyPr/>
          <a:lstStyle/>
          <a:p>
            <a:fld id="{9F0BBE9E-C29F-4FB2-AFDC-9BC42C25FCC0}" type="slidenum">
              <a:rPr lang="en-AE" smtClean="0"/>
              <a:t>73</a:t>
            </a:fld>
            <a:endParaRPr lang="en-AE"/>
          </a:p>
        </p:txBody>
      </p:sp>
    </p:spTree>
    <p:extLst>
      <p:ext uri="{BB962C8B-B14F-4D97-AF65-F5344CB8AC3E}">
        <p14:creationId xmlns:p14="http://schemas.microsoft.com/office/powerpoint/2010/main" val="9825862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0  </a:t>
            </a:r>
          </a:p>
          <a:p>
            <a:r>
              <a:rPr lang="en-GB" dirty="0"/>
              <a:t>1  </a:t>
            </a:r>
          </a:p>
          <a:p>
            <a:r>
              <a:rPr lang="en-GB" dirty="0"/>
              <a:t>3  </a:t>
            </a:r>
          </a:p>
          <a:p>
            <a:r>
              <a:rPr lang="en-GB" dirty="0"/>
              <a:t>4 </a:t>
            </a:r>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74</a:t>
            </a:fld>
            <a:endParaRPr lang="en-AE"/>
          </a:p>
        </p:txBody>
      </p:sp>
    </p:spTree>
    <p:extLst>
      <p:ext uri="{BB962C8B-B14F-4D97-AF65-F5344CB8AC3E}">
        <p14:creationId xmlns:p14="http://schemas.microsoft.com/office/powerpoint/2010/main" val="42845311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dirty="0"/>
              <a:t>0</a:t>
            </a:r>
          </a:p>
          <a:p>
            <a:r>
              <a:rPr lang="en-AE" dirty="0"/>
              <a:t>1</a:t>
            </a:r>
          </a:p>
          <a:p>
            <a:r>
              <a:rPr lang="en-AE" dirty="0"/>
              <a:t>2</a:t>
            </a:r>
          </a:p>
          <a:p>
            <a:r>
              <a:rPr lang="en-AE" dirty="0"/>
              <a:t>4</a:t>
            </a:r>
          </a:p>
          <a:p>
            <a:endParaRPr lang="en-AE" dirty="0"/>
          </a:p>
        </p:txBody>
      </p:sp>
      <p:sp>
        <p:nvSpPr>
          <p:cNvPr id="4" name="Slide Number Placeholder 3"/>
          <p:cNvSpPr>
            <a:spLocks noGrp="1"/>
          </p:cNvSpPr>
          <p:nvPr>
            <p:ph type="sldNum" sz="quarter" idx="5"/>
          </p:nvPr>
        </p:nvSpPr>
        <p:spPr/>
        <p:txBody>
          <a:bodyPr/>
          <a:lstStyle/>
          <a:p>
            <a:fld id="{9F0BBE9E-C29F-4FB2-AFDC-9BC42C25FCC0}" type="slidenum">
              <a:rPr lang="en-AE" smtClean="0"/>
              <a:t>76</a:t>
            </a:fld>
            <a:endParaRPr lang="en-AE"/>
          </a:p>
        </p:txBody>
      </p:sp>
    </p:spTree>
    <p:extLst>
      <p:ext uri="{BB962C8B-B14F-4D97-AF65-F5344CB8AC3E}">
        <p14:creationId xmlns:p14="http://schemas.microsoft.com/office/powerpoint/2010/main" val="36499679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0" name="Picture 9">
            <a:extLst>
              <a:ext uri="{FF2B5EF4-FFF2-40B4-BE49-F238E27FC236}">
                <a16:creationId xmlns:a16="http://schemas.microsoft.com/office/drawing/2014/main" id="{83750EB8-5EB5-0D33-7E47-B2E00DCE2505}"/>
              </a:ext>
            </a:extLst>
          </p:cNvPr>
          <p:cNvPicPr>
            <a:picLocks noChangeAspect="1"/>
          </p:cNvPicPr>
          <p:nvPr userDrawn="1"/>
        </p:nvPicPr>
        <p:blipFill>
          <a:blip r:embed="rId2"/>
          <a:stretch>
            <a:fillRect/>
          </a:stretch>
        </p:blipFill>
        <p:spPr>
          <a:xfrm>
            <a:off x="318654" y="231668"/>
            <a:ext cx="1769094" cy="2251574"/>
          </a:xfrm>
          <a:prstGeom prst="rect">
            <a:avLst/>
          </a:prstGeom>
        </p:spPr>
      </p:pic>
    </p:spTree>
    <p:extLst>
      <p:ext uri="{BB962C8B-B14F-4D97-AF65-F5344CB8AC3E}">
        <p14:creationId xmlns:p14="http://schemas.microsoft.com/office/powerpoint/2010/main" val="31680755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Python Programming</a:t>
            </a:r>
          </a:p>
        </p:txBody>
      </p:sp>
      <p:sp>
        <p:nvSpPr>
          <p:cNvPr id="3" name="Subtitle 2"/>
          <p:cNvSpPr>
            <a:spLocks noGrp="1"/>
          </p:cNvSpPr>
          <p:nvPr>
            <p:ph type="subTitle" idx="1"/>
          </p:nvPr>
        </p:nvSpPr>
        <p:spPr/>
        <p:txBody>
          <a:bodyPr/>
          <a:lstStyle/>
          <a:p>
            <a:r>
              <a:rPr lang="en-GB" dirty="0"/>
              <a:t>Lecture 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Python?</a:t>
            </a:r>
          </a:p>
        </p:txBody>
      </p:sp>
      <p:sp>
        <p:nvSpPr>
          <p:cNvPr id="3" name="Content Placeholder 2"/>
          <p:cNvSpPr>
            <a:spLocks noGrp="1"/>
          </p:cNvSpPr>
          <p:nvPr>
            <p:ph idx="1"/>
          </p:nvPr>
        </p:nvSpPr>
        <p:spPr/>
        <p:txBody>
          <a:bodyPr/>
          <a:lstStyle/>
          <a:p>
            <a:pPr algn="just"/>
            <a:r>
              <a:rPr lang="en-GB" dirty="0"/>
              <a:t>P</a:t>
            </a:r>
            <a:r>
              <a:rPr dirty="0" err="1"/>
              <a:t>ython</a:t>
            </a:r>
            <a:r>
              <a:rPr dirty="0"/>
              <a:t> is a high-level, interpreted programming language.</a:t>
            </a:r>
          </a:p>
          <a:p>
            <a:pPr algn="just"/>
            <a:r>
              <a:rPr dirty="0"/>
              <a:t>It is known for simplicity and readability.</a:t>
            </a:r>
          </a:p>
          <a:p>
            <a:pPr algn="just"/>
            <a:r>
              <a:rPr dirty="0"/>
              <a:t>Used in various fields like web development, data science, automation, AI,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Python?</a:t>
            </a:r>
          </a:p>
        </p:txBody>
      </p:sp>
      <p:sp>
        <p:nvSpPr>
          <p:cNvPr id="3" name="Content Placeholder 2"/>
          <p:cNvSpPr>
            <a:spLocks noGrp="1"/>
          </p:cNvSpPr>
          <p:nvPr>
            <p:ph idx="1"/>
          </p:nvPr>
        </p:nvSpPr>
        <p:spPr/>
        <p:txBody>
          <a:bodyPr/>
          <a:lstStyle/>
          <a:p>
            <a:r>
              <a:rPr dirty="0"/>
              <a:t>Easy to learn and use.</a:t>
            </a:r>
          </a:p>
          <a:p>
            <a:r>
              <a:rPr dirty="0"/>
              <a:t>Supports multiple paradigms: Procedural, Object-Oriented, and Functional.</a:t>
            </a:r>
          </a:p>
          <a:p>
            <a:r>
              <a:rPr dirty="0"/>
              <a:t>Large community and extensive libraries.</a:t>
            </a:r>
          </a:p>
          <a:p>
            <a:r>
              <a:rPr lang="en-GB" dirty="0"/>
              <a:t>Portable and cross-platform.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of Python</a:t>
            </a:r>
          </a:p>
        </p:txBody>
      </p:sp>
      <p:sp>
        <p:nvSpPr>
          <p:cNvPr id="3" name="Content Placeholder 2"/>
          <p:cNvSpPr>
            <a:spLocks noGrp="1"/>
          </p:cNvSpPr>
          <p:nvPr>
            <p:ph idx="1"/>
          </p:nvPr>
        </p:nvSpPr>
        <p:spPr/>
        <p:txBody>
          <a:bodyPr/>
          <a:lstStyle/>
          <a:p>
            <a:pPr marL="0" indent="0">
              <a:buNone/>
            </a:pPr>
            <a:r>
              <a:rPr dirty="0"/>
              <a:t>- Web Development (Django, Flask)</a:t>
            </a:r>
          </a:p>
          <a:p>
            <a:pPr marL="0" indent="0">
              <a:buNone/>
            </a:pPr>
            <a:r>
              <a:rPr dirty="0"/>
              <a:t>- Data Science and Machine Learning (NumPy, Pandas, TensorFlow)</a:t>
            </a:r>
          </a:p>
          <a:p>
            <a:pPr marL="0" indent="0">
              <a:buNone/>
            </a:pPr>
            <a:r>
              <a:rPr dirty="0"/>
              <a:t>- Automation and Scripting</a:t>
            </a:r>
          </a:p>
          <a:p>
            <a:pPr marL="0" indent="0">
              <a:buNone/>
            </a:pPr>
            <a:r>
              <a:rPr dirty="0"/>
              <a:t>- Cybersecurity</a:t>
            </a:r>
          </a:p>
          <a:p>
            <a:pPr marL="0" indent="0">
              <a:buNone/>
            </a:pPr>
            <a:r>
              <a:rPr dirty="0"/>
              <a:t>- Game Development</a:t>
            </a:r>
          </a:p>
          <a:p>
            <a:pPr marL="0" indent="0">
              <a:buNone/>
            </a:pPr>
            <a:r>
              <a:rPr dirty="0"/>
              <a:t>- Internet of Things (IoT)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Comments in Python</a:t>
            </a:r>
          </a:p>
        </p:txBody>
      </p:sp>
      <p:sp>
        <p:nvSpPr>
          <p:cNvPr id="3" name="Content Placeholder 2"/>
          <p:cNvSpPr>
            <a:spLocks noGrp="1"/>
          </p:cNvSpPr>
          <p:nvPr>
            <p:ph idx="1"/>
          </p:nvPr>
        </p:nvSpPr>
        <p:spPr/>
        <p:txBody>
          <a:bodyPr/>
          <a:lstStyle/>
          <a:p>
            <a:pPr marL="0" indent="0" algn="just">
              <a:buNone/>
            </a:pPr>
            <a:r>
              <a:rPr lang="en-GB" sz="2800" dirty="0"/>
              <a:t>A comment is a part of the coding file that the programmer does not want to execute, rather the programmer uses it to either explain a block of code or to avoid the execution of a specific part of code while testing.</a:t>
            </a:r>
          </a:p>
          <a:p>
            <a:r>
              <a:rPr dirty="0"/>
              <a:t>Single-line comments start with #</a:t>
            </a:r>
          </a:p>
          <a:p>
            <a:r>
              <a:rPr dirty="0"/>
              <a:t>Multi-line comments use triple quotes (''' or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Comments</a:t>
            </a:r>
          </a:p>
        </p:txBody>
      </p:sp>
      <p:sp>
        <p:nvSpPr>
          <p:cNvPr id="3" name="Content Placeholder 2"/>
          <p:cNvSpPr>
            <a:spLocks noGrp="1"/>
          </p:cNvSpPr>
          <p:nvPr>
            <p:ph idx="1"/>
          </p:nvPr>
        </p:nvSpPr>
        <p:spPr/>
        <p:txBody>
          <a:bodyPr/>
          <a:lstStyle/>
          <a:p>
            <a:pPr marL="0" indent="0">
              <a:buNone/>
            </a:pPr>
            <a:r>
              <a:rPr dirty="0"/>
              <a:t># This is a single-line comment</a:t>
            </a:r>
          </a:p>
          <a:p>
            <a:pPr marL="0" indent="0">
              <a:buNone/>
            </a:pPr>
            <a:r>
              <a:rPr dirty="0"/>
              <a:t>print('Hello, World!') # Inline comment</a:t>
            </a:r>
          </a:p>
          <a:p>
            <a:pPr marL="0" indent="0">
              <a:buNone/>
            </a:pPr>
            <a:endParaRPr dirty="0"/>
          </a:p>
          <a:p>
            <a:pPr marL="0" indent="0">
              <a:buNone/>
            </a:pPr>
            <a:r>
              <a:rPr dirty="0"/>
              <a:t>''' This is a multi-line comment</a:t>
            </a:r>
          </a:p>
          <a:p>
            <a:pPr marL="0" indent="0">
              <a:buNone/>
            </a:pPr>
            <a:r>
              <a:rPr dirty="0"/>
              <a:t>Spanning multiple lines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934DD-8E4E-7DF5-6B1B-4B706C85E5A7}"/>
              </a:ext>
            </a:extLst>
          </p:cNvPr>
          <p:cNvSpPr>
            <a:spLocks noGrp="1"/>
          </p:cNvSpPr>
          <p:nvPr>
            <p:ph type="title"/>
          </p:nvPr>
        </p:nvSpPr>
        <p:spPr/>
        <p:txBody>
          <a:bodyPr/>
          <a:lstStyle/>
          <a:p>
            <a:r>
              <a:rPr lang="en-GB" dirty="0"/>
              <a:t>Escape Sequence Characters</a:t>
            </a:r>
            <a:endParaRPr lang="en-AE" dirty="0"/>
          </a:p>
        </p:txBody>
      </p:sp>
      <p:sp>
        <p:nvSpPr>
          <p:cNvPr id="3" name="Content Placeholder 2">
            <a:extLst>
              <a:ext uri="{FF2B5EF4-FFF2-40B4-BE49-F238E27FC236}">
                <a16:creationId xmlns:a16="http://schemas.microsoft.com/office/drawing/2014/main" id="{7F1C3D2A-CC1A-2939-EAE2-3778B80FA502}"/>
              </a:ext>
            </a:extLst>
          </p:cNvPr>
          <p:cNvSpPr>
            <a:spLocks noGrp="1"/>
          </p:cNvSpPr>
          <p:nvPr>
            <p:ph idx="1"/>
          </p:nvPr>
        </p:nvSpPr>
        <p:spPr/>
        <p:txBody>
          <a:bodyPr>
            <a:normAutofit lnSpcReduction="10000"/>
          </a:bodyPr>
          <a:lstStyle/>
          <a:p>
            <a:r>
              <a:rPr lang="en-GB" dirty="0"/>
              <a:t>To insert characters that cannot be directly used in a string, we use an escape sequence character.</a:t>
            </a:r>
          </a:p>
          <a:p>
            <a:r>
              <a:rPr lang="en-GB" dirty="0"/>
              <a:t>An escape sequence character is a backslash \ followed by the character you want to insert.</a:t>
            </a:r>
          </a:p>
          <a:p>
            <a:r>
              <a:rPr lang="en-GB" dirty="0"/>
              <a:t>An example of a character that cannot be directly used in a string is a double quote inside a string that is surrounded by double quotes:</a:t>
            </a:r>
            <a:endParaRPr lang="en-AE" dirty="0"/>
          </a:p>
        </p:txBody>
      </p:sp>
    </p:spTree>
    <p:extLst>
      <p:ext uri="{BB962C8B-B14F-4D97-AF65-F5344CB8AC3E}">
        <p14:creationId xmlns:p14="http://schemas.microsoft.com/office/powerpoint/2010/main" val="905665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501B-7B85-3B22-8AC4-8069DAAE9E75}"/>
              </a:ext>
            </a:extLst>
          </p:cNvPr>
          <p:cNvSpPr>
            <a:spLocks noGrp="1"/>
          </p:cNvSpPr>
          <p:nvPr>
            <p:ph type="title"/>
          </p:nvPr>
        </p:nvSpPr>
        <p:spPr/>
        <p:txBody>
          <a:bodyPr>
            <a:normAutofit/>
          </a:bodyPr>
          <a:lstStyle/>
          <a:p>
            <a:r>
              <a:rPr lang="en-GB" dirty="0"/>
              <a:t>Example Escape Sequence</a:t>
            </a:r>
            <a:endParaRPr lang="en-AE" dirty="0"/>
          </a:p>
        </p:txBody>
      </p:sp>
      <p:sp>
        <p:nvSpPr>
          <p:cNvPr id="3" name="Content Placeholder 2">
            <a:extLst>
              <a:ext uri="{FF2B5EF4-FFF2-40B4-BE49-F238E27FC236}">
                <a16:creationId xmlns:a16="http://schemas.microsoft.com/office/drawing/2014/main" id="{2A7F56BD-40D6-7F16-C0AF-3BB48F38CE87}"/>
              </a:ext>
            </a:extLst>
          </p:cNvPr>
          <p:cNvSpPr>
            <a:spLocks noGrp="1"/>
          </p:cNvSpPr>
          <p:nvPr>
            <p:ph idx="1"/>
          </p:nvPr>
        </p:nvSpPr>
        <p:spPr/>
        <p:txBody>
          <a:bodyPr/>
          <a:lstStyle/>
          <a:p>
            <a:pPr marL="0" indent="0">
              <a:buNone/>
            </a:pPr>
            <a:r>
              <a:rPr lang="en-GB" dirty="0"/>
              <a:t>print("This </a:t>
            </a:r>
            <a:r>
              <a:rPr lang="en-GB" dirty="0" err="1"/>
              <a:t>doesnt</a:t>
            </a:r>
            <a:r>
              <a:rPr lang="en-GB" dirty="0"/>
              <a:t> "execute")</a:t>
            </a:r>
          </a:p>
          <a:p>
            <a:pPr marL="0" indent="0">
              <a:buNone/>
            </a:pPr>
            <a:r>
              <a:rPr lang="en-GB" dirty="0"/>
              <a:t>print("This will \" execute")</a:t>
            </a:r>
            <a:endParaRPr lang="en-AE" dirty="0"/>
          </a:p>
        </p:txBody>
      </p:sp>
    </p:spTree>
    <p:extLst>
      <p:ext uri="{BB962C8B-B14F-4D97-AF65-F5344CB8AC3E}">
        <p14:creationId xmlns:p14="http://schemas.microsoft.com/office/powerpoint/2010/main" val="2345508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Variables and Data Types</a:t>
            </a:r>
          </a:p>
        </p:txBody>
      </p:sp>
      <p:sp>
        <p:nvSpPr>
          <p:cNvPr id="3" name="Content Placeholder 2"/>
          <p:cNvSpPr>
            <a:spLocks noGrp="1"/>
          </p:cNvSpPr>
          <p:nvPr>
            <p:ph idx="1"/>
          </p:nvPr>
        </p:nvSpPr>
        <p:spPr/>
        <p:txBody>
          <a:bodyPr/>
          <a:lstStyle/>
          <a:p>
            <a:r>
              <a:rPr lang="en-GB" dirty="0"/>
              <a:t>Variable is like a container that holds data.</a:t>
            </a:r>
          </a:p>
          <a:p>
            <a:r>
              <a:rPr dirty="0"/>
              <a:t>Variables store values in Python.</a:t>
            </a:r>
            <a:endParaRPr lang="en-GB" dirty="0"/>
          </a:p>
          <a:p>
            <a:r>
              <a:rPr lang="en-AE" dirty="0"/>
              <a:t>Example</a:t>
            </a:r>
          </a:p>
          <a:p>
            <a:pPr lvl="1"/>
            <a:r>
              <a:rPr lang="en-GB" dirty="0"/>
              <a:t>a = 1</a:t>
            </a:r>
          </a:p>
          <a:p>
            <a:pPr lvl="1"/>
            <a:r>
              <a:rPr lang="en-GB" dirty="0"/>
              <a:t>b = True</a:t>
            </a:r>
          </a:p>
          <a:p>
            <a:pPr lvl="1"/>
            <a:r>
              <a:rPr lang="en-GB" dirty="0"/>
              <a:t>c = “Rabia"</a:t>
            </a:r>
          </a:p>
          <a:p>
            <a:pPr lvl="1"/>
            <a:r>
              <a:rPr lang="en-GB" dirty="0"/>
              <a:t>d = 3.14</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DE192-CAF2-54AE-3356-33B1E88ADD32}"/>
              </a:ext>
            </a:extLst>
          </p:cNvPr>
          <p:cNvSpPr>
            <a:spLocks noGrp="1"/>
          </p:cNvSpPr>
          <p:nvPr>
            <p:ph type="title"/>
          </p:nvPr>
        </p:nvSpPr>
        <p:spPr/>
        <p:txBody>
          <a:bodyPr/>
          <a:lstStyle/>
          <a:p>
            <a:r>
              <a:rPr lang="en-GB" dirty="0"/>
              <a:t>What is a Data Type?</a:t>
            </a:r>
            <a:endParaRPr lang="en-AE" dirty="0"/>
          </a:p>
        </p:txBody>
      </p:sp>
      <p:sp>
        <p:nvSpPr>
          <p:cNvPr id="3" name="Content Placeholder 2">
            <a:extLst>
              <a:ext uri="{FF2B5EF4-FFF2-40B4-BE49-F238E27FC236}">
                <a16:creationId xmlns:a16="http://schemas.microsoft.com/office/drawing/2014/main" id="{FCB5AFD0-23DA-8A77-2155-74CADBDE28B1}"/>
              </a:ext>
            </a:extLst>
          </p:cNvPr>
          <p:cNvSpPr>
            <a:spLocks noGrp="1"/>
          </p:cNvSpPr>
          <p:nvPr>
            <p:ph idx="1"/>
          </p:nvPr>
        </p:nvSpPr>
        <p:spPr/>
        <p:txBody>
          <a:bodyPr>
            <a:normAutofit fontScale="92500" lnSpcReduction="10000"/>
          </a:bodyPr>
          <a:lstStyle/>
          <a:p>
            <a:r>
              <a:rPr lang="en-GB" dirty="0"/>
              <a:t>Data type specifies the type of value a variable holds. This is required in programming to do various operations without causing an error.</a:t>
            </a:r>
          </a:p>
          <a:p>
            <a:r>
              <a:rPr lang="en-GB" dirty="0"/>
              <a:t>In python, we can print the type of any operator using type function:</a:t>
            </a:r>
          </a:p>
          <a:p>
            <a:r>
              <a:rPr lang="en-GB" dirty="0"/>
              <a:t>Example</a:t>
            </a:r>
          </a:p>
          <a:p>
            <a:pPr marL="457200" lvl="1" indent="0">
              <a:buNone/>
            </a:pPr>
            <a:r>
              <a:rPr lang="en-GB" dirty="0"/>
              <a:t>a = 1</a:t>
            </a:r>
          </a:p>
          <a:p>
            <a:pPr marL="457200" lvl="1" indent="0">
              <a:buNone/>
            </a:pPr>
            <a:r>
              <a:rPr lang="en-GB" dirty="0"/>
              <a:t>print(type(a))</a:t>
            </a:r>
          </a:p>
          <a:p>
            <a:pPr marL="457200" lvl="1" indent="0">
              <a:buNone/>
            </a:pPr>
            <a:r>
              <a:rPr lang="en-GB" dirty="0"/>
              <a:t>b = "1"</a:t>
            </a:r>
          </a:p>
          <a:p>
            <a:pPr marL="457200" lvl="1" indent="0">
              <a:buNone/>
            </a:pPr>
            <a:r>
              <a:rPr lang="en-GB" dirty="0"/>
              <a:t>print(type(b))</a:t>
            </a:r>
            <a:endParaRPr lang="en-AE" dirty="0"/>
          </a:p>
        </p:txBody>
      </p:sp>
    </p:spTree>
    <p:extLst>
      <p:ext uri="{BB962C8B-B14F-4D97-AF65-F5344CB8AC3E}">
        <p14:creationId xmlns:p14="http://schemas.microsoft.com/office/powerpoint/2010/main" val="3958462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67B4-272B-A72C-774B-B1B1A4AAC216}"/>
              </a:ext>
            </a:extLst>
          </p:cNvPr>
          <p:cNvSpPr>
            <a:spLocks noGrp="1"/>
          </p:cNvSpPr>
          <p:nvPr>
            <p:ph type="title"/>
          </p:nvPr>
        </p:nvSpPr>
        <p:spPr/>
        <p:txBody>
          <a:bodyPr>
            <a:normAutofit/>
          </a:bodyPr>
          <a:lstStyle/>
          <a:p>
            <a:r>
              <a:rPr lang="en-GB" dirty="0"/>
              <a:t>Built-in data types:</a:t>
            </a:r>
            <a:endParaRPr lang="en-AE" dirty="0"/>
          </a:p>
        </p:txBody>
      </p:sp>
      <p:sp>
        <p:nvSpPr>
          <p:cNvPr id="3" name="Content Placeholder 2">
            <a:extLst>
              <a:ext uri="{FF2B5EF4-FFF2-40B4-BE49-F238E27FC236}">
                <a16:creationId xmlns:a16="http://schemas.microsoft.com/office/drawing/2014/main" id="{52EB330B-9B9F-5911-C87C-BAEB09103B5B}"/>
              </a:ext>
            </a:extLst>
          </p:cNvPr>
          <p:cNvSpPr>
            <a:spLocks noGrp="1"/>
          </p:cNvSpPr>
          <p:nvPr>
            <p:ph idx="1"/>
          </p:nvPr>
        </p:nvSpPr>
        <p:spPr/>
        <p:txBody>
          <a:bodyPr>
            <a:normAutofit fontScale="62500" lnSpcReduction="20000"/>
          </a:bodyPr>
          <a:lstStyle/>
          <a:p>
            <a:pPr marL="0" indent="0">
              <a:buNone/>
            </a:pPr>
            <a:r>
              <a:rPr lang="en-GB" dirty="0"/>
              <a:t>By default, python provides the following built-in data types:</a:t>
            </a:r>
          </a:p>
          <a:p>
            <a:pPr marL="0" indent="0">
              <a:buNone/>
            </a:pPr>
            <a:r>
              <a:rPr lang="en-GB" b="1" dirty="0"/>
              <a:t>1. Numeric data: int, float, complex</a:t>
            </a:r>
          </a:p>
          <a:p>
            <a:pPr marL="400050" lvl="1" indent="0">
              <a:buNone/>
            </a:pPr>
            <a:r>
              <a:rPr lang="en-GB" dirty="0"/>
              <a:t>int: 3, -8, 0</a:t>
            </a:r>
          </a:p>
          <a:p>
            <a:pPr marL="400050" lvl="1" indent="0">
              <a:buNone/>
            </a:pPr>
            <a:r>
              <a:rPr lang="en-GB" dirty="0"/>
              <a:t>float: 7.349, -9.0, 0.0000001</a:t>
            </a:r>
          </a:p>
          <a:p>
            <a:pPr marL="400050" lvl="1" indent="0">
              <a:buNone/>
            </a:pPr>
            <a:r>
              <a:rPr lang="en-GB" dirty="0"/>
              <a:t>complex: 6 + 2i</a:t>
            </a:r>
          </a:p>
          <a:p>
            <a:pPr marL="0" indent="0">
              <a:buNone/>
            </a:pPr>
            <a:r>
              <a:rPr lang="en-GB" b="1" dirty="0"/>
              <a:t>2. Text data: str</a:t>
            </a:r>
          </a:p>
          <a:p>
            <a:pPr marL="0" indent="0">
              <a:buNone/>
            </a:pPr>
            <a:r>
              <a:rPr lang="en-GB" dirty="0"/>
              <a:t>	str: "Hello World!!!", "Python Programming"</a:t>
            </a:r>
          </a:p>
          <a:p>
            <a:pPr marL="0" indent="0">
              <a:buNone/>
            </a:pPr>
            <a:r>
              <a:rPr lang="en-GB" b="1" dirty="0"/>
              <a:t>3. Boolean data:</a:t>
            </a:r>
          </a:p>
          <a:p>
            <a:pPr marL="0" indent="0">
              <a:buNone/>
            </a:pPr>
            <a:r>
              <a:rPr lang="en-GB" dirty="0"/>
              <a:t>	Boolean data consists of values True or False.</a:t>
            </a:r>
          </a:p>
          <a:p>
            <a:pPr marL="0" indent="0">
              <a:buNone/>
            </a:pPr>
            <a:r>
              <a:rPr lang="en-GB" b="1" dirty="0"/>
              <a:t>4.</a:t>
            </a:r>
            <a:r>
              <a:rPr lang="en-GB" dirty="0"/>
              <a:t> </a:t>
            </a:r>
            <a:r>
              <a:rPr lang="en-GB" b="1" dirty="0"/>
              <a:t>Sequenced data:</a:t>
            </a:r>
          </a:p>
          <a:p>
            <a:pPr marL="0" indent="0">
              <a:buNone/>
            </a:pPr>
            <a:r>
              <a:rPr lang="en-GB" dirty="0"/>
              <a:t>	 List, tuple</a:t>
            </a:r>
          </a:p>
          <a:p>
            <a:pPr marL="0" indent="0">
              <a:buNone/>
            </a:pPr>
            <a:r>
              <a:rPr lang="en-GB" b="1" dirty="0"/>
              <a:t>5. Mapped data: </a:t>
            </a:r>
          </a:p>
          <a:p>
            <a:pPr marL="0" indent="0">
              <a:buNone/>
            </a:pPr>
            <a:r>
              <a:rPr lang="en-GB" b="1" dirty="0"/>
              <a:t>	</a:t>
            </a:r>
            <a:r>
              <a:rPr lang="en-GB" dirty="0" err="1"/>
              <a:t>dict</a:t>
            </a:r>
            <a:endParaRPr lang="en-GB" dirty="0"/>
          </a:p>
          <a:p>
            <a:pPr marL="0" indent="0">
              <a:buNone/>
            </a:pPr>
            <a:r>
              <a:rPr lang="en-GB" dirty="0"/>
              <a:t>	</a:t>
            </a:r>
            <a:endParaRPr lang="en-AE" dirty="0"/>
          </a:p>
        </p:txBody>
      </p:sp>
    </p:spTree>
    <p:extLst>
      <p:ext uri="{BB962C8B-B14F-4D97-AF65-F5344CB8AC3E}">
        <p14:creationId xmlns:p14="http://schemas.microsoft.com/office/powerpoint/2010/main" val="1119330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Variables and Data Types</a:t>
            </a:r>
          </a:p>
        </p:txBody>
      </p:sp>
      <p:sp>
        <p:nvSpPr>
          <p:cNvPr id="3" name="Content Placeholder 2"/>
          <p:cNvSpPr>
            <a:spLocks noGrp="1"/>
          </p:cNvSpPr>
          <p:nvPr>
            <p:ph idx="1"/>
          </p:nvPr>
        </p:nvSpPr>
        <p:spPr/>
        <p:txBody>
          <a:bodyPr/>
          <a:lstStyle/>
          <a:p>
            <a:pPr marL="0" indent="0">
              <a:buNone/>
            </a:pPr>
            <a:r>
              <a:rPr dirty="0"/>
              <a:t>x = 10</a:t>
            </a:r>
          </a:p>
          <a:p>
            <a:pPr marL="0" indent="0">
              <a:buNone/>
            </a:pPr>
            <a:r>
              <a:rPr dirty="0"/>
              <a:t>y = 3.14</a:t>
            </a:r>
          </a:p>
          <a:p>
            <a:pPr marL="0" indent="0">
              <a:buNone/>
            </a:pPr>
            <a:r>
              <a:rPr dirty="0"/>
              <a:t>name = ‘</a:t>
            </a:r>
            <a:r>
              <a:rPr lang="en-GB" dirty="0"/>
              <a:t>sara</a:t>
            </a:r>
            <a:r>
              <a:rPr dirty="0"/>
              <a:t>'</a:t>
            </a:r>
          </a:p>
          <a:p>
            <a:pPr marL="0" indent="0">
              <a:buNone/>
            </a:pPr>
            <a:r>
              <a:rPr dirty="0" err="1"/>
              <a:t>is_python_fun</a:t>
            </a:r>
            <a:r>
              <a:rPr dirty="0"/>
              <a:t> = True</a:t>
            </a:r>
          </a:p>
          <a:p>
            <a:pPr marL="0" indent="0">
              <a:buNone/>
            </a:pPr>
            <a:r>
              <a:rPr dirty="0"/>
              <a:t>print(x, y, name, </a:t>
            </a:r>
            <a:r>
              <a:rPr dirty="0" err="1"/>
              <a:t>is_python_fun</a:t>
            </a:r>
            <a:r>
              <a:rPr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Operators in Python</a:t>
            </a:r>
          </a:p>
        </p:txBody>
      </p:sp>
      <p:sp>
        <p:nvSpPr>
          <p:cNvPr id="3" name="Content Placeholder 2"/>
          <p:cNvSpPr>
            <a:spLocks noGrp="1"/>
          </p:cNvSpPr>
          <p:nvPr>
            <p:ph idx="1"/>
          </p:nvPr>
        </p:nvSpPr>
        <p:spPr/>
        <p:txBody>
          <a:bodyPr/>
          <a:lstStyle/>
          <a:p>
            <a:pPr marL="0" indent="0">
              <a:buNone/>
            </a:pPr>
            <a:r>
              <a:rPr lang="en-GB" dirty="0"/>
              <a:t>Python has different types of operators for different operations. To create a calculator we require arithmetic operators.</a:t>
            </a:r>
          </a:p>
          <a:p>
            <a:pPr marL="0" indent="0">
              <a:buNone/>
            </a:pPr>
            <a:r>
              <a:rPr dirty="0"/>
              <a:t>- Arithmetic Operators (+, -, *, /, //, %, **)</a:t>
            </a:r>
          </a:p>
          <a:p>
            <a:pPr marL="0" indent="0">
              <a:buNone/>
            </a:pPr>
            <a:r>
              <a:rPr dirty="0"/>
              <a:t>- Comparison Operators (==, !=, &gt;, &lt;, &gt;=, &lt;=)</a:t>
            </a:r>
          </a:p>
          <a:p>
            <a:pPr marL="0" indent="0">
              <a:buNone/>
            </a:pPr>
            <a:r>
              <a:rPr dirty="0"/>
              <a:t>- Logical Operators (and, or, not)</a:t>
            </a:r>
          </a:p>
          <a:p>
            <a:pPr marL="0" indent="0">
              <a:buNone/>
            </a:pPr>
            <a:r>
              <a:rPr dirty="0"/>
              <a:t>- Assignment Operators (=, +=, -=, etc.)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Operators</a:t>
            </a:r>
          </a:p>
        </p:txBody>
      </p:sp>
      <p:sp>
        <p:nvSpPr>
          <p:cNvPr id="3" name="Content Placeholder 2"/>
          <p:cNvSpPr>
            <a:spLocks noGrp="1"/>
          </p:cNvSpPr>
          <p:nvPr>
            <p:ph idx="1"/>
          </p:nvPr>
        </p:nvSpPr>
        <p:spPr/>
        <p:txBody>
          <a:bodyPr/>
          <a:lstStyle/>
          <a:p>
            <a:pPr marL="0" indent="0">
              <a:buNone/>
            </a:pPr>
            <a:r>
              <a:rPr dirty="0"/>
              <a:t>a = 10</a:t>
            </a:r>
          </a:p>
          <a:p>
            <a:pPr marL="0" indent="0">
              <a:buNone/>
            </a:pPr>
            <a:r>
              <a:rPr dirty="0"/>
              <a:t>b = 5</a:t>
            </a:r>
          </a:p>
          <a:p>
            <a:pPr marL="0" indent="0">
              <a:buNone/>
            </a:pPr>
            <a:r>
              <a:rPr dirty="0"/>
              <a:t>print(a + b) # Addition</a:t>
            </a:r>
          </a:p>
          <a:p>
            <a:pPr marL="0" indent="0">
              <a:buNone/>
            </a:pPr>
            <a:r>
              <a:rPr dirty="0"/>
              <a:t>print(a &gt; b) # Comparison</a:t>
            </a:r>
          </a:p>
          <a:p>
            <a:pPr marL="0" indent="0">
              <a:buNone/>
            </a:pPr>
            <a:r>
              <a:rPr dirty="0"/>
              <a:t>print(a == b and a &gt; 5) # Logical Operator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Operator Precedence</a:t>
            </a:r>
          </a:p>
        </p:txBody>
      </p:sp>
      <p:sp>
        <p:nvSpPr>
          <p:cNvPr id="3" name="Content Placeholder 2"/>
          <p:cNvSpPr>
            <a:spLocks noGrp="1"/>
          </p:cNvSpPr>
          <p:nvPr>
            <p:ph idx="1"/>
          </p:nvPr>
        </p:nvSpPr>
        <p:spPr/>
        <p:txBody>
          <a:bodyPr>
            <a:normAutofit fontScale="85000" lnSpcReduction="10000"/>
          </a:bodyPr>
          <a:lstStyle/>
          <a:p>
            <a:pPr marL="0" indent="0">
              <a:buNone/>
            </a:pPr>
            <a:r>
              <a:rPr dirty="0"/>
              <a:t>- Python evaluates expressions based on precedence order:</a:t>
            </a:r>
          </a:p>
          <a:p>
            <a:pPr marL="0" indent="0">
              <a:buNone/>
            </a:pPr>
            <a:r>
              <a:rPr dirty="0"/>
              <a:t>- Highest to lowest precedence:</a:t>
            </a:r>
          </a:p>
          <a:p>
            <a:pPr marL="0" indent="0">
              <a:buNone/>
            </a:pPr>
            <a:r>
              <a:rPr dirty="0"/>
              <a:t>  1. Parentheses `()`</a:t>
            </a:r>
          </a:p>
          <a:p>
            <a:pPr marL="0" indent="0">
              <a:buNone/>
            </a:pPr>
            <a:r>
              <a:rPr dirty="0"/>
              <a:t>  2. Exponentiation `**`</a:t>
            </a:r>
          </a:p>
          <a:p>
            <a:pPr marL="0" indent="0">
              <a:buNone/>
            </a:pPr>
            <a:r>
              <a:rPr dirty="0"/>
              <a:t>  3. Multiplication, Division, Modulus `*, /, //, %`</a:t>
            </a:r>
          </a:p>
          <a:p>
            <a:pPr marL="0" indent="0">
              <a:buNone/>
            </a:pPr>
            <a:r>
              <a:rPr dirty="0"/>
              <a:t>  4. Addition, Subtraction `+, -`</a:t>
            </a:r>
          </a:p>
          <a:p>
            <a:pPr marL="0" indent="0">
              <a:buNone/>
            </a:pPr>
            <a:r>
              <a:rPr dirty="0"/>
              <a:t>  5. Comparison Operators `&gt;, &lt;, ==, !=, &gt;=, &lt;=`</a:t>
            </a:r>
          </a:p>
          <a:p>
            <a:pPr marL="0" indent="0">
              <a:buNone/>
            </a:pPr>
            <a:r>
              <a:rPr dirty="0"/>
              <a:t>  6. Logical Operators `not`, `and`, `or`</a:t>
            </a:r>
          </a:p>
          <a:p>
            <a:pPr marL="0" indent="0">
              <a:buNone/>
            </a:pPr>
            <a:r>
              <a:rPr dirty="0"/>
              <a:t>- This order ensures operations are computed correctly.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Operator Precedence</a:t>
            </a:r>
          </a:p>
        </p:txBody>
      </p:sp>
      <p:sp>
        <p:nvSpPr>
          <p:cNvPr id="3" name="Content Placeholder 2"/>
          <p:cNvSpPr>
            <a:spLocks noGrp="1"/>
          </p:cNvSpPr>
          <p:nvPr>
            <p:ph idx="1"/>
          </p:nvPr>
        </p:nvSpPr>
        <p:spPr/>
        <p:txBody>
          <a:bodyPr/>
          <a:lstStyle/>
          <a:p>
            <a:pPr marL="0" indent="0">
              <a:buNone/>
            </a:pPr>
            <a:r>
              <a:rPr dirty="0"/>
              <a:t>result = 10 + 3 * 2</a:t>
            </a:r>
          </a:p>
          <a:p>
            <a:pPr marL="0" indent="0">
              <a:buNone/>
            </a:pPr>
            <a:r>
              <a:rPr dirty="0"/>
              <a:t>print(result) # Output: 16 (Multiplication happens first)</a:t>
            </a:r>
          </a:p>
          <a:p>
            <a:pPr marL="0" indent="0">
              <a:buNone/>
            </a:pPr>
            <a:endParaRPr dirty="0"/>
          </a:p>
          <a:p>
            <a:pPr marL="0" indent="0">
              <a:buNone/>
            </a:pPr>
            <a:r>
              <a:rPr dirty="0"/>
              <a:t>result = (10 + 3) * 2</a:t>
            </a:r>
          </a:p>
          <a:p>
            <a:pPr marL="0" indent="0">
              <a:buNone/>
            </a:pPr>
            <a:r>
              <a:rPr dirty="0"/>
              <a:t>print(result) # Output: 26 (Parentheses changes precedence)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Naming Conventions</a:t>
            </a:r>
          </a:p>
        </p:txBody>
      </p:sp>
      <p:sp>
        <p:nvSpPr>
          <p:cNvPr id="3" name="Content Placeholder 2"/>
          <p:cNvSpPr>
            <a:spLocks noGrp="1"/>
          </p:cNvSpPr>
          <p:nvPr>
            <p:ph idx="1"/>
          </p:nvPr>
        </p:nvSpPr>
        <p:spPr/>
        <p:txBody>
          <a:bodyPr/>
          <a:lstStyle/>
          <a:p>
            <a:pPr marL="0" indent="0">
              <a:buNone/>
            </a:pPr>
            <a:r>
              <a:rPr dirty="0"/>
              <a:t>- Variables: </a:t>
            </a:r>
            <a:r>
              <a:rPr dirty="0" err="1"/>
              <a:t>snake_case</a:t>
            </a:r>
            <a:r>
              <a:rPr dirty="0"/>
              <a:t> (e.g., </a:t>
            </a:r>
            <a:r>
              <a:rPr dirty="0" err="1"/>
              <a:t>my_variable</a:t>
            </a:r>
            <a:r>
              <a:rPr dirty="0"/>
              <a:t>)</a:t>
            </a:r>
          </a:p>
          <a:p>
            <a:pPr marL="0" indent="0">
              <a:buNone/>
            </a:pPr>
            <a:r>
              <a:rPr dirty="0"/>
              <a:t>- Constants: UPPER_CASE (e.g., PI = 3.14)</a:t>
            </a:r>
          </a:p>
          <a:p>
            <a:pPr marL="0" indent="0">
              <a:buNone/>
            </a:pPr>
            <a:r>
              <a:rPr dirty="0"/>
              <a:t>- Functions: </a:t>
            </a:r>
            <a:r>
              <a:rPr dirty="0" err="1"/>
              <a:t>snake_case</a:t>
            </a:r>
            <a:r>
              <a:rPr dirty="0"/>
              <a:t> (e.g., </a:t>
            </a:r>
            <a:r>
              <a:rPr dirty="0" err="1"/>
              <a:t>calculate_total</a:t>
            </a:r>
            <a:r>
              <a:rPr dirty="0"/>
              <a:t>())</a:t>
            </a:r>
          </a:p>
          <a:p>
            <a:pPr marL="0" indent="0">
              <a:buNone/>
            </a:pPr>
            <a:r>
              <a:rPr dirty="0"/>
              <a:t>- Class Names: </a:t>
            </a:r>
            <a:r>
              <a:rPr lang="en-GB" dirty="0"/>
              <a:t>Pascal</a:t>
            </a:r>
            <a:r>
              <a:rPr dirty="0"/>
              <a:t>Case (e.g., </a:t>
            </a:r>
            <a:r>
              <a:rPr dirty="0" err="1"/>
              <a:t>MyClass</a:t>
            </a:r>
            <a:r>
              <a:rPr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Printing Output</a:t>
            </a:r>
          </a:p>
        </p:txBody>
      </p:sp>
      <p:sp>
        <p:nvSpPr>
          <p:cNvPr id="3" name="Content Placeholder 2"/>
          <p:cNvSpPr>
            <a:spLocks noGrp="1"/>
          </p:cNvSpPr>
          <p:nvPr>
            <p:ph idx="1"/>
          </p:nvPr>
        </p:nvSpPr>
        <p:spPr/>
        <p:txBody>
          <a:bodyPr/>
          <a:lstStyle/>
          <a:p>
            <a:pPr marL="0" indent="0">
              <a:buNone/>
            </a:pPr>
            <a:r>
              <a:rPr dirty="0"/>
              <a:t>- Use the print() function to display output.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Printing Output</a:t>
            </a:r>
          </a:p>
        </p:txBody>
      </p:sp>
      <p:sp>
        <p:nvSpPr>
          <p:cNvPr id="3" name="Content Placeholder 2"/>
          <p:cNvSpPr>
            <a:spLocks noGrp="1"/>
          </p:cNvSpPr>
          <p:nvPr>
            <p:ph idx="1"/>
          </p:nvPr>
        </p:nvSpPr>
        <p:spPr/>
        <p:txBody>
          <a:bodyPr/>
          <a:lstStyle/>
          <a:p>
            <a:pPr marL="0" indent="0">
              <a:buNone/>
            </a:pPr>
            <a:r>
              <a:rPr dirty="0"/>
              <a:t>print('Hello, Python!')</a:t>
            </a:r>
          </a:p>
          <a:p>
            <a:pPr marL="0" indent="0">
              <a:buNone/>
            </a:pPr>
            <a:r>
              <a:rPr dirty="0"/>
              <a:t>name = ‘</a:t>
            </a:r>
            <a:r>
              <a:rPr lang="en-GB" dirty="0"/>
              <a:t>Rida</a:t>
            </a:r>
            <a:r>
              <a:rPr dirty="0"/>
              <a:t>'</a:t>
            </a:r>
          </a:p>
          <a:p>
            <a:pPr marL="0" indent="0">
              <a:buNone/>
            </a:pPr>
            <a:r>
              <a:rPr dirty="0"/>
              <a:t>print('Hello,', name)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Taking User Input</a:t>
            </a:r>
          </a:p>
        </p:txBody>
      </p:sp>
      <p:sp>
        <p:nvSpPr>
          <p:cNvPr id="3" name="Content Placeholder 2"/>
          <p:cNvSpPr>
            <a:spLocks noGrp="1"/>
          </p:cNvSpPr>
          <p:nvPr>
            <p:ph idx="1"/>
          </p:nvPr>
        </p:nvSpPr>
        <p:spPr/>
        <p:txBody>
          <a:bodyPr>
            <a:normAutofit fontScale="85000" lnSpcReduction="20000"/>
          </a:bodyPr>
          <a:lstStyle/>
          <a:p>
            <a:r>
              <a:rPr lang="en-GB" dirty="0"/>
              <a:t>In python, we can take user input directly by using input() function.</a:t>
            </a:r>
          </a:p>
          <a:p>
            <a:r>
              <a:rPr lang="en-GB" dirty="0"/>
              <a:t>This input function gives a return value as string/character hence we have to pass that into a variable.</a:t>
            </a:r>
          </a:p>
          <a:p>
            <a:r>
              <a:rPr lang="en-GB" dirty="0"/>
              <a:t>Syntax:</a:t>
            </a:r>
            <a:br>
              <a:rPr lang="en-GB" dirty="0"/>
            </a:br>
            <a:r>
              <a:rPr lang="en-GB" dirty="0"/>
              <a:t>	variable=input()</a:t>
            </a:r>
          </a:p>
          <a:p>
            <a:r>
              <a:rPr lang="en-GB" dirty="0"/>
              <a:t>Input function returns the value as string. Hence we have to typecast them whenever required to another datatype</a:t>
            </a:r>
          </a:p>
          <a:p>
            <a:pPr marL="800100" lvl="2" indent="0">
              <a:buNone/>
            </a:pPr>
            <a:r>
              <a:rPr lang="en-GB" sz="3300" dirty="0"/>
              <a:t>variable=int(input())</a:t>
            </a:r>
          </a:p>
          <a:p>
            <a:pPr marL="800100" lvl="2" indent="0">
              <a:buNone/>
            </a:pPr>
            <a:r>
              <a:rPr lang="en-GB" sz="3300" dirty="0"/>
              <a:t>variable=float(input())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Taking User Input</a:t>
            </a:r>
          </a:p>
        </p:txBody>
      </p:sp>
      <p:sp>
        <p:nvSpPr>
          <p:cNvPr id="3" name="Content Placeholder 2"/>
          <p:cNvSpPr>
            <a:spLocks noGrp="1"/>
          </p:cNvSpPr>
          <p:nvPr>
            <p:ph idx="1"/>
          </p:nvPr>
        </p:nvSpPr>
        <p:spPr/>
        <p:txBody>
          <a:bodyPr/>
          <a:lstStyle/>
          <a:p>
            <a:pPr marL="0" indent="0">
              <a:buNone/>
            </a:pPr>
            <a:r>
              <a:rPr dirty="0"/>
              <a:t>name = input('Enter your name: ')</a:t>
            </a:r>
          </a:p>
          <a:p>
            <a:pPr marL="0" indent="0">
              <a:buNone/>
            </a:pPr>
            <a:r>
              <a:rPr dirty="0"/>
              <a:t>print('Hello,', name)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633E3-770B-F950-B1BD-FC6ADFE69A06}"/>
              </a:ext>
            </a:extLst>
          </p:cNvPr>
          <p:cNvSpPr>
            <a:spLocks noGrp="1"/>
          </p:cNvSpPr>
          <p:nvPr>
            <p:ph type="title"/>
          </p:nvPr>
        </p:nvSpPr>
        <p:spPr/>
        <p:txBody>
          <a:bodyPr>
            <a:normAutofit/>
          </a:bodyPr>
          <a:lstStyle/>
          <a:p>
            <a:r>
              <a:rPr lang="pt-BR" dirty="0"/>
              <a:t>Exercise 1 - Create a Calculator</a:t>
            </a:r>
            <a:endParaRPr lang="en-AE" dirty="0"/>
          </a:p>
        </p:txBody>
      </p:sp>
      <p:sp>
        <p:nvSpPr>
          <p:cNvPr id="3" name="Content Placeholder 2">
            <a:extLst>
              <a:ext uri="{FF2B5EF4-FFF2-40B4-BE49-F238E27FC236}">
                <a16:creationId xmlns:a16="http://schemas.microsoft.com/office/drawing/2014/main" id="{04A1BBB8-FBB7-4338-A10C-156E6DB9EC11}"/>
              </a:ext>
            </a:extLst>
          </p:cNvPr>
          <p:cNvSpPr>
            <a:spLocks noGrp="1"/>
          </p:cNvSpPr>
          <p:nvPr>
            <p:ph idx="1"/>
          </p:nvPr>
        </p:nvSpPr>
        <p:spPr/>
        <p:txBody>
          <a:bodyPr/>
          <a:lstStyle/>
          <a:p>
            <a:pPr algn="l"/>
            <a:r>
              <a:rPr lang="en-GB" b="0" i="0" dirty="0">
                <a:solidFill>
                  <a:srgbClr val="000000"/>
                </a:solidFill>
                <a:effectLst/>
                <a:latin typeface="Poppins" panose="00000500000000000000" pitchFamily="2" charset="0"/>
              </a:rPr>
              <a:t>Create a calculator that perform addition, subtraction, multiplication and division.</a:t>
            </a:r>
          </a:p>
          <a:p>
            <a:endParaRPr lang="en-AE" dirty="0"/>
          </a:p>
        </p:txBody>
      </p:sp>
    </p:spTree>
    <p:extLst>
      <p:ext uri="{BB962C8B-B14F-4D97-AF65-F5344CB8AC3E}">
        <p14:creationId xmlns:p14="http://schemas.microsoft.com/office/powerpoint/2010/main" val="3833378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 Casting</a:t>
            </a:r>
          </a:p>
        </p:txBody>
      </p:sp>
      <p:sp>
        <p:nvSpPr>
          <p:cNvPr id="3" name="Content Placeholder 2"/>
          <p:cNvSpPr>
            <a:spLocks noGrp="1"/>
          </p:cNvSpPr>
          <p:nvPr>
            <p:ph idx="1"/>
          </p:nvPr>
        </p:nvSpPr>
        <p:spPr/>
        <p:txBody>
          <a:bodyPr>
            <a:normAutofit/>
          </a:bodyPr>
          <a:lstStyle/>
          <a:p>
            <a:r>
              <a:rPr lang="en-GB" dirty="0"/>
              <a:t>The conversion of one data type into the other data type is known as type casting or type conversion in python.</a:t>
            </a:r>
          </a:p>
          <a:p>
            <a:r>
              <a:rPr lang="en-GB" dirty="0"/>
              <a:t>Python supports a wide variety of functions or methods like: int(), float(), str(), hex(), oct(), tuple(), set(), list(), </a:t>
            </a:r>
            <a:r>
              <a:rPr lang="en-GB" dirty="0" err="1"/>
              <a:t>dict</a:t>
            </a:r>
            <a:r>
              <a:rPr lang="en-GB" dirty="0"/>
              <a:t>(), etc. for the type casting in python.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Type Casting</a:t>
            </a:r>
          </a:p>
        </p:txBody>
      </p:sp>
      <p:sp>
        <p:nvSpPr>
          <p:cNvPr id="3" name="Content Placeholder 2"/>
          <p:cNvSpPr>
            <a:spLocks noGrp="1"/>
          </p:cNvSpPr>
          <p:nvPr>
            <p:ph idx="1"/>
          </p:nvPr>
        </p:nvSpPr>
        <p:spPr/>
        <p:txBody>
          <a:bodyPr/>
          <a:lstStyle/>
          <a:p>
            <a:r>
              <a:t>num = int(input('Enter a number: '))</a:t>
            </a:r>
          </a:p>
          <a:p>
            <a:r>
              <a:t>print('Double:', num *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7C331-75BF-1EAE-7371-809A6C9BD5FF}"/>
              </a:ext>
            </a:extLst>
          </p:cNvPr>
          <p:cNvSpPr>
            <a:spLocks noGrp="1"/>
          </p:cNvSpPr>
          <p:nvPr>
            <p:ph type="title"/>
          </p:nvPr>
        </p:nvSpPr>
        <p:spPr/>
        <p:txBody>
          <a:bodyPr/>
          <a:lstStyle/>
          <a:p>
            <a:r>
              <a:rPr lang="en-GB" dirty="0"/>
              <a:t>Types of Typecasting:</a:t>
            </a:r>
            <a:endParaRPr lang="en-AE" dirty="0"/>
          </a:p>
        </p:txBody>
      </p:sp>
      <p:sp>
        <p:nvSpPr>
          <p:cNvPr id="3" name="Content Placeholder 2">
            <a:extLst>
              <a:ext uri="{FF2B5EF4-FFF2-40B4-BE49-F238E27FC236}">
                <a16:creationId xmlns:a16="http://schemas.microsoft.com/office/drawing/2014/main" id="{8CC4E8E3-E76D-66FC-56FD-AC5E12FA88E2}"/>
              </a:ext>
            </a:extLst>
          </p:cNvPr>
          <p:cNvSpPr>
            <a:spLocks noGrp="1"/>
          </p:cNvSpPr>
          <p:nvPr>
            <p:ph idx="1"/>
          </p:nvPr>
        </p:nvSpPr>
        <p:spPr/>
        <p:txBody>
          <a:bodyPr/>
          <a:lstStyle/>
          <a:p>
            <a:endParaRPr lang="en-GB" dirty="0"/>
          </a:p>
          <a:p>
            <a:r>
              <a:rPr lang="en-GB" dirty="0"/>
              <a:t>Explicit Conversion /Explicit type casting</a:t>
            </a:r>
          </a:p>
          <a:p>
            <a:r>
              <a:rPr lang="en-GB" dirty="0"/>
              <a:t>Implicit Conversion /Implicit type casting</a:t>
            </a:r>
            <a:endParaRPr lang="en-AE" dirty="0"/>
          </a:p>
        </p:txBody>
      </p:sp>
    </p:spTree>
    <p:extLst>
      <p:ext uri="{BB962C8B-B14F-4D97-AF65-F5344CB8AC3E}">
        <p14:creationId xmlns:p14="http://schemas.microsoft.com/office/powerpoint/2010/main" val="2174164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69197-8338-8E60-0F44-C4DF6588EBCC}"/>
              </a:ext>
            </a:extLst>
          </p:cNvPr>
          <p:cNvSpPr>
            <a:spLocks noGrp="1"/>
          </p:cNvSpPr>
          <p:nvPr>
            <p:ph type="title"/>
          </p:nvPr>
        </p:nvSpPr>
        <p:spPr/>
        <p:txBody>
          <a:bodyPr/>
          <a:lstStyle/>
          <a:p>
            <a:r>
              <a:rPr lang="en-GB" dirty="0"/>
              <a:t>Explicit typecasting:</a:t>
            </a:r>
            <a:endParaRPr lang="en-AE" dirty="0"/>
          </a:p>
        </p:txBody>
      </p:sp>
      <p:sp>
        <p:nvSpPr>
          <p:cNvPr id="3" name="Content Placeholder 2">
            <a:extLst>
              <a:ext uri="{FF2B5EF4-FFF2-40B4-BE49-F238E27FC236}">
                <a16:creationId xmlns:a16="http://schemas.microsoft.com/office/drawing/2014/main" id="{40D75604-4968-42C1-B699-3D7B23FD752C}"/>
              </a:ext>
            </a:extLst>
          </p:cNvPr>
          <p:cNvSpPr>
            <a:spLocks noGrp="1"/>
          </p:cNvSpPr>
          <p:nvPr>
            <p:ph idx="1"/>
          </p:nvPr>
        </p:nvSpPr>
        <p:spPr/>
        <p:txBody>
          <a:bodyPr>
            <a:normAutofit/>
          </a:bodyPr>
          <a:lstStyle/>
          <a:p>
            <a:pPr algn="just"/>
            <a:r>
              <a:rPr lang="en-GB" dirty="0"/>
              <a:t>The conversion of one data type into another data type, done via </a:t>
            </a:r>
            <a:r>
              <a:rPr lang="en-GB" b="1" dirty="0"/>
              <a:t>developer or programmer's </a:t>
            </a:r>
            <a:r>
              <a:rPr lang="en-GB" dirty="0"/>
              <a:t>intervention </a:t>
            </a:r>
            <a:r>
              <a:rPr lang="en-GB" b="1" dirty="0"/>
              <a:t>or manually as per the requirement</a:t>
            </a:r>
            <a:r>
              <a:rPr lang="en-GB" dirty="0"/>
              <a:t>, is known as explicit type conversion.</a:t>
            </a:r>
          </a:p>
          <a:p>
            <a:r>
              <a:rPr lang="en-GB" dirty="0"/>
              <a:t>It can be achieved with the help of Python’s built-in type conversion functions such as int(), float(), hex(), oct(), str(), etc .</a:t>
            </a:r>
            <a:endParaRPr lang="en-AE" dirty="0"/>
          </a:p>
        </p:txBody>
      </p:sp>
    </p:spTree>
    <p:extLst>
      <p:ext uri="{BB962C8B-B14F-4D97-AF65-F5344CB8AC3E}">
        <p14:creationId xmlns:p14="http://schemas.microsoft.com/office/powerpoint/2010/main" val="1232278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3104-EEB1-39D4-DA83-C82E64D38755}"/>
              </a:ext>
            </a:extLst>
          </p:cNvPr>
          <p:cNvSpPr>
            <a:spLocks noGrp="1"/>
          </p:cNvSpPr>
          <p:nvPr>
            <p:ph type="title"/>
          </p:nvPr>
        </p:nvSpPr>
        <p:spPr/>
        <p:txBody>
          <a:bodyPr/>
          <a:lstStyle/>
          <a:p>
            <a:r>
              <a:rPr lang="en-GB" dirty="0"/>
              <a:t>Example of explicit typecasting:</a:t>
            </a:r>
            <a:endParaRPr lang="en-AE" dirty="0"/>
          </a:p>
        </p:txBody>
      </p:sp>
      <p:sp>
        <p:nvSpPr>
          <p:cNvPr id="3" name="Content Placeholder 2">
            <a:extLst>
              <a:ext uri="{FF2B5EF4-FFF2-40B4-BE49-F238E27FC236}">
                <a16:creationId xmlns:a16="http://schemas.microsoft.com/office/drawing/2014/main" id="{81DF0EF5-8B6C-BE1B-8757-150C7F845EEB}"/>
              </a:ext>
            </a:extLst>
          </p:cNvPr>
          <p:cNvSpPr>
            <a:spLocks noGrp="1"/>
          </p:cNvSpPr>
          <p:nvPr>
            <p:ph idx="1"/>
          </p:nvPr>
        </p:nvSpPr>
        <p:spPr/>
        <p:txBody>
          <a:bodyPr/>
          <a:lstStyle/>
          <a:p>
            <a:pPr marL="0" indent="0">
              <a:buNone/>
            </a:pPr>
            <a:r>
              <a:rPr lang="en-GB" dirty="0"/>
              <a:t>string = "15"</a:t>
            </a:r>
          </a:p>
          <a:p>
            <a:pPr marL="0" indent="0">
              <a:buNone/>
            </a:pPr>
            <a:r>
              <a:rPr lang="en-GB" dirty="0"/>
              <a:t>number = 7</a:t>
            </a:r>
          </a:p>
          <a:p>
            <a:pPr marL="0" indent="0">
              <a:buNone/>
            </a:pPr>
            <a:r>
              <a:rPr lang="en-GB" dirty="0" err="1"/>
              <a:t>string_number</a:t>
            </a:r>
            <a:r>
              <a:rPr lang="en-GB" dirty="0"/>
              <a:t> = int(string) #throws an error if the string is not a valid integer</a:t>
            </a:r>
          </a:p>
          <a:p>
            <a:pPr marL="0" indent="0">
              <a:buNone/>
            </a:pPr>
            <a:r>
              <a:rPr lang="en-GB" dirty="0"/>
              <a:t>sum= number + </a:t>
            </a:r>
            <a:r>
              <a:rPr lang="en-GB" dirty="0" err="1"/>
              <a:t>string_number</a:t>
            </a:r>
            <a:endParaRPr lang="en-GB" dirty="0"/>
          </a:p>
          <a:p>
            <a:pPr marL="0" indent="0">
              <a:buNone/>
            </a:pPr>
            <a:r>
              <a:rPr lang="en-GB" dirty="0"/>
              <a:t>print("The Sum of both the numbers is: ", sum)</a:t>
            </a:r>
            <a:endParaRPr lang="en-AE" dirty="0"/>
          </a:p>
        </p:txBody>
      </p:sp>
    </p:spTree>
    <p:extLst>
      <p:ext uri="{BB962C8B-B14F-4D97-AF65-F5344CB8AC3E}">
        <p14:creationId xmlns:p14="http://schemas.microsoft.com/office/powerpoint/2010/main" val="414062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F14C7-C635-4EE8-5747-26D6F2D4A07F}"/>
              </a:ext>
            </a:extLst>
          </p:cNvPr>
          <p:cNvSpPr>
            <a:spLocks noGrp="1"/>
          </p:cNvSpPr>
          <p:nvPr>
            <p:ph type="title"/>
          </p:nvPr>
        </p:nvSpPr>
        <p:spPr/>
        <p:txBody>
          <a:bodyPr/>
          <a:lstStyle/>
          <a:p>
            <a:r>
              <a:rPr lang="en-GB" dirty="0"/>
              <a:t>Implicit type casting:</a:t>
            </a:r>
            <a:endParaRPr lang="en-AE" dirty="0"/>
          </a:p>
        </p:txBody>
      </p:sp>
      <p:sp>
        <p:nvSpPr>
          <p:cNvPr id="3" name="Content Placeholder 2">
            <a:extLst>
              <a:ext uri="{FF2B5EF4-FFF2-40B4-BE49-F238E27FC236}">
                <a16:creationId xmlns:a16="http://schemas.microsoft.com/office/drawing/2014/main" id="{55DC8559-32CB-6B7A-7A00-BC1F9EF82FAD}"/>
              </a:ext>
            </a:extLst>
          </p:cNvPr>
          <p:cNvSpPr>
            <a:spLocks noGrp="1"/>
          </p:cNvSpPr>
          <p:nvPr>
            <p:ph idx="1"/>
          </p:nvPr>
        </p:nvSpPr>
        <p:spPr/>
        <p:txBody>
          <a:bodyPr>
            <a:normAutofit fontScale="85000" lnSpcReduction="20000"/>
          </a:bodyPr>
          <a:lstStyle/>
          <a:p>
            <a:pPr algn="just"/>
            <a:r>
              <a:rPr lang="en-GB" dirty="0"/>
              <a:t>Data types in Python do not have the same level i.e. ordering of data types is not the same in Python. </a:t>
            </a:r>
          </a:p>
          <a:p>
            <a:pPr algn="just"/>
            <a:r>
              <a:rPr lang="en-GB" dirty="0"/>
              <a:t>Some of the data types have higher-order, and some have lower order. </a:t>
            </a:r>
          </a:p>
          <a:p>
            <a:pPr algn="just"/>
            <a:r>
              <a:rPr lang="en-GB" dirty="0"/>
              <a:t>While performing any operations on variables with different data types in Python, one of the variable's data types will be changed to the higher data type. According to the level, one data type is converted into other by the Python interpreter itself (automatically). This is called, implicit typecasting in python.</a:t>
            </a:r>
          </a:p>
          <a:p>
            <a:pPr algn="just"/>
            <a:r>
              <a:rPr lang="en-GB" dirty="0"/>
              <a:t>Python converts a </a:t>
            </a:r>
            <a:r>
              <a:rPr lang="en-GB" b="1" dirty="0"/>
              <a:t>smaller data type </a:t>
            </a:r>
            <a:r>
              <a:rPr lang="en-GB" dirty="0"/>
              <a:t>to a </a:t>
            </a:r>
            <a:r>
              <a:rPr lang="en-GB" b="1" dirty="0"/>
              <a:t>higher data type </a:t>
            </a:r>
            <a:r>
              <a:rPr lang="en-GB" dirty="0"/>
              <a:t>to prevent data loss.</a:t>
            </a:r>
            <a:endParaRPr lang="en-AE" dirty="0"/>
          </a:p>
        </p:txBody>
      </p:sp>
    </p:spTree>
    <p:extLst>
      <p:ext uri="{BB962C8B-B14F-4D97-AF65-F5344CB8AC3E}">
        <p14:creationId xmlns:p14="http://schemas.microsoft.com/office/powerpoint/2010/main" val="2878894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7A6D9-CBB0-3155-D7E7-789E7ECC8862}"/>
              </a:ext>
            </a:extLst>
          </p:cNvPr>
          <p:cNvSpPr>
            <a:spLocks noGrp="1"/>
          </p:cNvSpPr>
          <p:nvPr>
            <p:ph type="title"/>
          </p:nvPr>
        </p:nvSpPr>
        <p:spPr/>
        <p:txBody>
          <a:bodyPr/>
          <a:lstStyle/>
          <a:p>
            <a:r>
              <a:rPr lang="en-GB" dirty="0"/>
              <a:t>Example of implicit type casting:</a:t>
            </a:r>
            <a:endParaRPr lang="en-AE" dirty="0"/>
          </a:p>
        </p:txBody>
      </p:sp>
      <p:sp>
        <p:nvSpPr>
          <p:cNvPr id="3" name="Content Placeholder 2">
            <a:extLst>
              <a:ext uri="{FF2B5EF4-FFF2-40B4-BE49-F238E27FC236}">
                <a16:creationId xmlns:a16="http://schemas.microsoft.com/office/drawing/2014/main" id="{E9AA21BC-D38B-F0E9-84C0-3EF2B4A23715}"/>
              </a:ext>
            </a:extLst>
          </p:cNvPr>
          <p:cNvSpPr>
            <a:spLocks noGrp="1"/>
          </p:cNvSpPr>
          <p:nvPr>
            <p:ph idx="1"/>
          </p:nvPr>
        </p:nvSpPr>
        <p:spPr/>
        <p:txBody>
          <a:bodyPr>
            <a:normAutofit fontScale="70000" lnSpcReduction="20000"/>
          </a:bodyPr>
          <a:lstStyle/>
          <a:p>
            <a:pPr marL="0" indent="0">
              <a:buNone/>
            </a:pPr>
            <a:r>
              <a:rPr lang="en-GB" dirty="0"/>
              <a:t># Python automatically converts</a:t>
            </a:r>
          </a:p>
          <a:p>
            <a:pPr marL="0" indent="0">
              <a:buNone/>
            </a:pPr>
            <a:r>
              <a:rPr lang="en-GB" dirty="0"/>
              <a:t># a to int</a:t>
            </a:r>
          </a:p>
          <a:p>
            <a:pPr marL="0" indent="0">
              <a:buNone/>
            </a:pPr>
            <a:r>
              <a:rPr lang="en-GB" dirty="0"/>
              <a:t>a = 7</a:t>
            </a:r>
          </a:p>
          <a:p>
            <a:pPr marL="0" indent="0">
              <a:buNone/>
            </a:pPr>
            <a:r>
              <a:rPr lang="en-GB" dirty="0"/>
              <a:t>print(type(a))</a:t>
            </a:r>
          </a:p>
          <a:p>
            <a:pPr marL="0" indent="0">
              <a:buNone/>
            </a:pPr>
            <a:r>
              <a:rPr lang="en-GB" dirty="0"/>
              <a:t> </a:t>
            </a:r>
          </a:p>
          <a:p>
            <a:pPr marL="0" indent="0">
              <a:buNone/>
            </a:pPr>
            <a:r>
              <a:rPr lang="en-GB" dirty="0"/>
              <a:t># Python automatically converts b to float</a:t>
            </a:r>
          </a:p>
          <a:p>
            <a:pPr marL="0" indent="0">
              <a:buNone/>
            </a:pPr>
            <a:r>
              <a:rPr lang="en-GB" dirty="0"/>
              <a:t>b = 3.0</a:t>
            </a:r>
          </a:p>
          <a:p>
            <a:pPr marL="0" indent="0">
              <a:buNone/>
            </a:pPr>
            <a:r>
              <a:rPr lang="en-GB" dirty="0"/>
              <a:t>print(type(b))</a:t>
            </a:r>
          </a:p>
          <a:p>
            <a:pPr marL="0" indent="0">
              <a:buNone/>
            </a:pPr>
            <a:r>
              <a:rPr lang="en-GB" dirty="0"/>
              <a:t> </a:t>
            </a:r>
          </a:p>
          <a:p>
            <a:pPr marL="0" indent="0">
              <a:buNone/>
            </a:pPr>
            <a:r>
              <a:rPr lang="en-GB" dirty="0"/>
              <a:t># Python automatically converts c to float as it is a float addition</a:t>
            </a:r>
          </a:p>
          <a:p>
            <a:pPr marL="0" indent="0">
              <a:buNone/>
            </a:pPr>
            <a:r>
              <a:rPr lang="en-GB" dirty="0"/>
              <a:t>c = a + b</a:t>
            </a:r>
          </a:p>
          <a:p>
            <a:pPr marL="0" indent="0">
              <a:buNone/>
            </a:pPr>
            <a:r>
              <a:rPr lang="en-GB" dirty="0"/>
              <a:t>print(c)</a:t>
            </a:r>
          </a:p>
          <a:p>
            <a:pPr marL="0" indent="0">
              <a:buNone/>
            </a:pPr>
            <a:r>
              <a:rPr lang="en-GB" dirty="0"/>
              <a:t>print(type(c))</a:t>
            </a:r>
            <a:endParaRPr lang="en-AE" dirty="0"/>
          </a:p>
        </p:txBody>
      </p:sp>
    </p:spTree>
    <p:extLst>
      <p:ext uri="{BB962C8B-B14F-4D97-AF65-F5344CB8AC3E}">
        <p14:creationId xmlns:p14="http://schemas.microsoft.com/office/powerpoint/2010/main" val="2920829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657A8-14C3-CA18-73AB-4111A36BB7C8}"/>
              </a:ext>
            </a:extLst>
          </p:cNvPr>
          <p:cNvSpPr>
            <a:spLocks noGrp="1"/>
          </p:cNvSpPr>
          <p:nvPr>
            <p:ph type="title"/>
          </p:nvPr>
        </p:nvSpPr>
        <p:spPr/>
        <p:txBody>
          <a:bodyPr/>
          <a:lstStyle/>
          <a:p>
            <a:r>
              <a:rPr lang="en-GB" dirty="0"/>
              <a:t>What are strings?</a:t>
            </a:r>
            <a:endParaRPr lang="en-AE" dirty="0"/>
          </a:p>
        </p:txBody>
      </p:sp>
      <p:sp>
        <p:nvSpPr>
          <p:cNvPr id="3" name="Content Placeholder 2">
            <a:extLst>
              <a:ext uri="{FF2B5EF4-FFF2-40B4-BE49-F238E27FC236}">
                <a16:creationId xmlns:a16="http://schemas.microsoft.com/office/drawing/2014/main" id="{993DD434-C859-C931-403B-BAB40B126C89}"/>
              </a:ext>
            </a:extLst>
          </p:cNvPr>
          <p:cNvSpPr>
            <a:spLocks noGrp="1"/>
          </p:cNvSpPr>
          <p:nvPr>
            <p:ph idx="1"/>
          </p:nvPr>
        </p:nvSpPr>
        <p:spPr/>
        <p:txBody>
          <a:bodyPr>
            <a:normAutofit/>
          </a:bodyPr>
          <a:lstStyle/>
          <a:p>
            <a:pPr algn="just"/>
            <a:r>
              <a:rPr lang="en-GB" dirty="0"/>
              <a:t>In python, anything that you enclose between </a:t>
            </a:r>
            <a:r>
              <a:rPr lang="en-GB" b="1" dirty="0"/>
              <a:t>single </a:t>
            </a:r>
            <a:r>
              <a:rPr lang="en-GB" dirty="0"/>
              <a:t>or </a:t>
            </a:r>
            <a:r>
              <a:rPr lang="en-GB" b="1" dirty="0"/>
              <a:t>double quotation </a:t>
            </a:r>
            <a:r>
              <a:rPr lang="en-GB" dirty="0"/>
              <a:t>marks is considered a string.</a:t>
            </a:r>
          </a:p>
          <a:p>
            <a:pPr algn="just"/>
            <a:r>
              <a:rPr lang="en-GB" dirty="0"/>
              <a:t> A string is essentially a sequence or array of textual data. </a:t>
            </a:r>
          </a:p>
          <a:p>
            <a:pPr algn="just"/>
            <a:r>
              <a:rPr lang="en-GB" dirty="0"/>
              <a:t>Example:</a:t>
            </a:r>
          </a:p>
          <a:p>
            <a:pPr marL="800100" lvl="2" indent="0" algn="just">
              <a:buNone/>
            </a:pPr>
            <a:r>
              <a:rPr lang="en-GB" sz="3200" dirty="0"/>
              <a:t>name = “Sara"</a:t>
            </a:r>
          </a:p>
          <a:p>
            <a:pPr marL="800100" lvl="2" indent="0" algn="just">
              <a:buNone/>
            </a:pPr>
            <a:r>
              <a:rPr lang="en-GB" sz="3200" dirty="0"/>
              <a:t>print("Hello, " + name)</a:t>
            </a:r>
            <a:endParaRPr lang="en-AE" sz="3200" dirty="0"/>
          </a:p>
        </p:txBody>
      </p:sp>
    </p:spTree>
    <p:extLst>
      <p:ext uri="{BB962C8B-B14F-4D97-AF65-F5344CB8AC3E}">
        <p14:creationId xmlns:p14="http://schemas.microsoft.com/office/powerpoint/2010/main" val="2974407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4A9EA-1303-0017-CCC1-73D0F490404B}"/>
              </a:ext>
            </a:extLst>
          </p:cNvPr>
          <p:cNvSpPr>
            <a:spLocks noGrp="1"/>
          </p:cNvSpPr>
          <p:nvPr>
            <p:ph type="title"/>
          </p:nvPr>
        </p:nvSpPr>
        <p:spPr/>
        <p:txBody>
          <a:bodyPr/>
          <a:lstStyle/>
          <a:p>
            <a:r>
              <a:rPr lang="en-GB" dirty="0"/>
              <a:t>Accessing Characters of a String</a:t>
            </a:r>
            <a:endParaRPr lang="en-AE" dirty="0"/>
          </a:p>
        </p:txBody>
      </p:sp>
      <p:sp>
        <p:nvSpPr>
          <p:cNvPr id="3" name="Content Placeholder 2">
            <a:extLst>
              <a:ext uri="{FF2B5EF4-FFF2-40B4-BE49-F238E27FC236}">
                <a16:creationId xmlns:a16="http://schemas.microsoft.com/office/drawing/2014/main" id="{A313F3D9-36C1-FF98-A961-89CAA3A4FC34}"/>
              </a:ext>
            </a:extLst>
          </p:cNvPr>
          <p:cNvSpPr>
            <a:spLocks noGrp="1"/>
          </p:cNvSpPr>
          <p:nvPr>
            <p:ph idx="1"/>
          </p:nvPr>
        </p:nvSpPr>
        <p:spPr/>
        <p:txBody>
          <a:bodyPr/>
          <a:lstStyle/>
          <a:p>
            <a:r>
              <a:rPr lang="en-GB" dirty="0">
                <a:latin typeface="+mj-lt"/>
              </a:rPr>
              <a:t>In Python, string is like an array of characters. We can access parts of string by using its index which starts from 0.</a:t>
            </a:r>
          </a:p>
          <a:p>
            <a:r>
              <a:rPr lang="en-GB" dirty="0">
                <a:latin typeface="+mj-lt"/>
              </a:rPr>
              <a:t>Square brackets can be used to access elements of the string.</a:t>
            </a:r>
          </a:p>
          <a:p>
            <a:r>
              <a:rPr lang="en-GB" dirty="0">
                <a:latin typeface="+mj-lt"/>
              </a:rPr>
              <a:t>Example:</a:t>
            </a:r>
          </a:p>
          <a:p>
            <a:pPr marL="0" indent="0">
              <a:buNone/>
            </a:pPr>
            <a:r>
              <a:rPr lang="en-GB" dirty="0">
                <a:latin typeface="+mj-lt"/>
              </a:rPr>
              <a:t>		print(name[0])</a:t>
            </a:r>
          </a:p>
          <a:p>
            <a:pPr marL="0" indent="0">
              <a:buNone/>
            </a:pPr>
            <a:r>
              <a:rPr lang="en-GB" dirty="0">
                <a:latin typeface="+mj-lt"/>
              </a:rPr>
              <a:t>		print(name[1])</a:t>
            </a:r>
            <a:endParaRPr lang="en-AE" dirty="0">
              <a:latin typeface="+mj-lt"/>
            </a:endParaRPr>
          </a:p>
        </p:txBody>
      </p:sp>
    </p:spTree>
    <p:extLst>
      <p:ext uri="{BB962C8B-B14F-4D97-AF65-F5344CB8AC3E}">
        <p14:creationId xmlns:p14="http://schemas.microsoft.com/office/powerpoint/2010/main" val="25018176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E0CBB-A8D2-4ED2-AA91-5C5D5DA456DF}"/>
              </a:ext>
            </a:extLst>
          </p:cNvPr>
          <p:cNvSpPr>
            <a:spLocks noGrp="1"/>
          </p:cNvSpPr>
          <p:nvPr>
            <p:ph type="title"/>
          </p:nvPr>
        </p:nvSpPr>
        <p:spPr/>
        <p:txBody>
          <a:bodyPr/>
          <a:lstStyle/>
          <a:p>
            <a:r>
              <a:rPr lang="en-GB" dirty="0"/>
              <a:t>Looping through the string</a:t>
            </a:r>
            <a:endParaRPr lang="en-AE" dirty="0"/>
          </a:p>
        </p:txBody>
      </p:sp>
      <p:sp>
        <p:nvSpPr>
          <p:cNvPr id="3" name="Content Placeholder 2">
            <a:extLst>
              <a:ext uri="{FF2B5EF4-FFF2-40B4-BE49-F238E27FC236}">
                <a16:creationId xmlns:a16="http://schemas.microsoft.com/office/drawing/2014/main" id="{98047019-4A48-DB32-B3A0-AD42EE332E23}"/>
              </a:ext>
            </a:extLst>
          </p:cNvPr>
          <p:cNvSpPr>
            <a:spLocks noGrp="1"/>
          </p:cNvSpPr>
          <p:nvPr>
            <p:ph idx="1"/>
          </p:nvPr>
        </p:nvSpPr>
        <p:spPr/>
        <p:txBody>
          <a:bodyPr>
            <a:normAutofit fontScale="92500" lnSpcReduction="10000"/>
          </a:bodyPr>
          <a:lstStyle/>
          <a:p>
            <a:r>
              <a:rPr lang="en-GB" b="0" i="0" dirty="0">
                <a:solidFill>
                  <a:srgbClr val="000000"/>
                </a:solidFill>
                <a:effectLst/>
                <a:latin typeface="+mj-lt"/>
              </a:rPr>
              <a:t>Strings are arrays and arrays are </a:t>
            </a:r>
            <a:r>
              <a:rPr lang="en-GB" b="0" i="0" dirty="0" err="1">
                <a:solidFill>
                  <a:srgbClr val="000000"/>
                </a:solidFill>
                <a:effectLst/>
                <a:latin typeface="+mj-lt"/>
              </a:rPr>
              <a:t>iterable</a:t>
            </a:r>
            <a:r>
              <a:rPr lang="en-GB" b="0" i="0" dirty="0">
                <a:solidFill>
                  <a:srgbClr val="000000"/>
                </a:solidFill>
                <a:effectLst/>
                <a:latin typeface="+mj-lt"/>
              </a:rPr>
              <a:t>. Thus we can loop through strings.</a:t>
            </a:r>
          </a:p>
          <a:p>
            <a:r>
              <a:rPr lang="en-GB" b="0" i="0" dirty="0">
                <a:solidFill>
                  <a:srgbClr val="000000"/>
                </a:solidFill>
                <a:effectLst/>
                <a:latin typeface="+mj-lt"/>
              </a:rPr>
              <a:t>We can loop through strings using a for loop like this:</a:t>
            </a:r>
          </a:p>
          <a:p>
            <a:r>
              <a:rPr lang="en-GB" dirty="0">
                <a:solidFill>
                  <a:srgbClr val="000000"/>
                </a:solidFill>
                <a:latin typeface="+mj-lt"/>
              </a:rPr>
              <a:t>Example:</a:t>
            </a:r>
          </a:p>
          <a:p>
            <a:pPr marL="800100" lvl="2" indent="0">
              <a:buNone/>
            </a:pPr>
            <a:r>
              <a:rPr lang="en-GB" sz="3200" b="0" i="0" dirty="0">
                <a:solidFill>
                  <a:srgbClr val="000000"/>
                </a:solidFill>
                <a:effectLst/>
                <a:latin typeface="+mj-lt"/>
              </a:rPr>
              <a:t>for character in name:</a:t>
            </a:r>
          </a:p>
          <a:p>
            <a:pPr marL="800100" lvl="2" indent="0">
              <a:buNone/>
            </a:pPr>
            <a:r>
              <a:rPr lang="en-GB" sz="3200" b="0" i="0" dirty="0">
                <a:solidFill>
                  <a:srgbClr val="000000"/>
                </a:solidFill>
                <a:effectLst/>
                <a:latin typeface="+mj-lt"/>
              </a:rPr>
              <a:t>		print(character)</a:t>
            </a:r>
          </a:p>
          <a:p>
            <a:pPr marL="800100" lvl="2" indent="0">
              <a:buNone/>
            </a:pPr>
            <a:r>
              <a:rPr lang="en-GB" sz="2800" b="0" i="0" dirty="0">
                <a:solidFill>
                  <a:srgbClr val="000000"/>
                </a:solidFill>
                <a:effectLst/>
                <a:latin typeface="+mj-lt"/>
              </a:rPr>
              <a:t>Above code prints all the characters in the string name one by one!</a:t>
            </a:r>
          </a:p>
          <a:p>
            <a:endParaRPr lang="en-AE" dirty="0"/>
          </a:p>
        </p:txBody>
      </p:sp>
    </p:spTree>
    <p:extLst>
      <p:ext uri="{BB962C8B-B14F-4D97-AF65-F5344CB8AC3E}">
        <p14:creationId xmlns:p14="http://schemas.microsoft.com/office/powerpoint/2010/main" val="2371234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800D-6090-EC2A-7066-92C24EC42236}"/>
              </a:ext>
            </a:extLst>
          </p:cNvPr>
          <p:cNvSpPr>
            <a:spLocks noGrp="1"/>
          </p:cNvSpPr>
          <p:nvPr>
            <p:ph type="title"/>
          </p:nvPr>
        </p:nvSpPr>
        <p:spPr/>
        <p:txBody>
          <a:bodyPr>
            <a:normAutofit/>
          </a:bodyPr>
          <a:lstStyle/>
          <a:p>
            <a:r>
              <a:rPr lang="en-GB" dirty="0"/>
              <a:t>Operations on String</a:t>
            </a:r>
            <a:endParaRPr lang="en-AE" dirty="0"/>
          </a:p>
        </p:txBody>
      </p:sp>
      <p:sp>
        <p:nvSpPr>
          <p:cNvPr id="3" name="Content Placeholder 2">
            <a:extLst>
              <a:ext uri="{FF2B5EF4-FFF2-40B4-BE49-F238E27FC236}">
                <a16:creationId xmlns:a16="http://schemas.microsoft.com/office/drawing/2014/main" id="{2520C741-1BE0-1354-D04D-5B956C2770A6}"/>
              </a:ext>
            </a:extLst>
          </p:cNvPr>
          <p:cNvSpPr>
            <a:spLocks noGrp="1"/>
          </p:cNvSpPr>
          <p:nvPr>
            <p:ph idx="1"/>
          </p:nvPr>
        </p:nvSpPr>
        <p:spPr/>
        <p:txBody>
          <a:bodyPr/>
          <a:lstStyle/>
          <a:p>
            <a:pPr marL="0" indent="0">
              <a:buNone/>
            </a:pPr>
            <a:r>
              <a:rPr lang="en-GB" b="1" dirty="0"/>
              <a:t>Length of a String</a:t>
            </a:r>
          </a:p>
          <a:p>
            <a:r>
              <a:rPr lang="en-GB" dirty="0"/>
              <a:t>We can find the length of a string using </a:t>
            </a:r>
            <a:r>
              <a:rPr lang="en-GB" dirty="0" err="1"/>
              <a:t>len</a:t>
            </a:r>
            <a:r>
              <a:rPr lang="en-GB" dirty="0"/>
              <a:t>() function.</a:t>
            </a:r>
          </a:p>
          <a:p>
            <a:r>
              <a:rPr lang="en-GB" dirty="0"/>
              <a:t>Example:</a:t>
            </a:r>
            <a:br>
              <a:rPr lang="en-GB" dirty="0"/>
            </a:br>
            <a:r>
              <a:rPr lang="en-GB" dirty="0"/>
              <a:t>fruit = "Mango"</a:t>
            </a:r>
          </a:p>
          <a:p>
            <a:pPr marL="400050" lvl="1" indent="0">
              <a:buNone/>
            </a:pPr>
            <a:r>
              <a:rPr lang="en-GB" sz="3200" dirty="0"/>
              <a:t>length = </a:t>
            </a:r>
            <a:r>
              <a:rPr lang="en-GB" sz="3200" dirty="0" err="1"/>
              <a:t>len</a:t>
            </a:r>
            <a:r>
              <a:rPr lang="en-GB" sz="3200" dirty="0"/>
              <a:t>(fruit)</a:t>
            </a:r>
          </a:p>
          <a:p>
            <a:pPr marL="400050" lvl="1" indent="0">
              <a:buNone/>
            </a:pPr>
            <a:r>
              <a:rPr lang="en-GB" sz="3200" dirty="0"/>
              <a:t>print("Mango is a", length, "letter word.")</a:t>
            </a:r>
            <a:endParaRPr lang="en-AE" sz="3200" dirty="0"/>
          </a:p>
        </p:txBody>
      </p:sp>
    </p:spTree>
    <p:extLst>
      <p:ext uri="{BB962C8B-B14F-4D97-AF65-F5344CB8AC3E}">
        <p14:creationId xmlns:p14="http://schemas.microsoft.com/office/powerpoint/2010/main" val="1609152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7E4EF-1A31-92BC-2307-98A4810D8CB9}"/>
              </a:ext>
            </a:extLst>
          </p:cNvPr>
          <p:cNvSpPr>
            <a:spLocks noGrp="1"/>
          </p:cNvSpPr>
          <p:nvPr>
            <p:ph type="title"/>
          </p:nvPr>
        </p:nvSpPr>
        <p:spPr/>
        <p:txBody>
          <a:bodyPr/>
          <a:lstStyle/>
          <a:p>
            <a:r>
              <a:rPr lang="en-GB" dirty="0"/>
              <a:t>String as an array</a:t>
            </a:r>
            <a:endParaRPr lang="en-AE" dirty="0"/>
          </a:p>
        </p:txBody>
      </p:sp>
      <p:sp>
        <p:nvSpPr>
          <p:cNvPr id="3" name="Content Placeholder 2">
            <a:extLst>
              <a:ext uri="{FF2B5EF4-FFF2-40B4-BE49-F238E27FC236}">
                <a16:creationId xmlns:a16="http://schemas.microsoft.com/office/drawing/2014/main" id="{06371059-DFA0-CB40-B7DD-F48E2E3B79AF}"/>
              </a:ext>
            </a:extLst>
          </p:cNvPr>
          <p:cNvSpPr>
            <a:spLocks noGrp="1"/>
          </p:cNvSpPr>
          <p:nvPr>
            <p:ph idx="1"/>
          </p:nvPr>
        </p:nvSpPr>
        <p:spPr/>
        <p:txBody>
          <a:bodyPr>
            <a:normAutofit fontScale="92500" lnSpcReduction="10000"/>
          </a:bodyPr>
          <a:lstStyle/>
          <a:p>
            <a:r>
              <a:rPr lang="en-GB" dirty="0"/>
              <a:t>A string is essentially a sequence of characters also called an array. Thus we can access the elements of this array.</a:t>
            </a:r>
          </a:p>
          <a:p>
            <a:r>
              <a:rPr lang="en-GB" dirty="0"/>
              <a:t>Example:</a:t>
            </a:r>
          </a:p>
          <a:p>
            <a:pPr marL="400050" lvl="1" indent="0">
              <a:buNone/>
            </a:pPr>
            <a:r>
              <a:rPr lang="en-GB" sz="3200" dirty="0"/>
              <a:t>pie = "</a:t>
            </a:r>
            <a:r>
              <a:rPr lang="en-GB" sz="3200" dirty="0" err="1"/>
              <a:t>ApplePie</a:t>
            </a:r>
            <a:r>
              <a:rPr lang="en-GB" sz="3200" dirty="0"/>
              <a:t>"</a:t>
            </a:r>
          </a:p>
          <a:p>
            <a:pPr marL="400050" lvl="1" indent="0">
              <a:buNone/>
            </a:pPr>
            <a:r>
              <a:rPr lang="en-GB" sz="3200" dirty="0"/>
              <a:t>print(pie[:5])</a:t>
            </a:r>
          </a:p>
          <a:p>
            <a:pPr marL="400050" lvl="1" indent="0">
              <a:buNone/>
            </a:pPr>
            <a:r>
              <a:rPr lang="en-GB" sz="3200" dirty="0"/>
              <a:t>print(pie[6])	#returns character at specified index</a:t>
            </a:r>
          </a:p>
          <a:p>
            <a:pPr marL="400050" lvl="1" indent="0">
              <a:buNone/>
            </a:pPr>
            <a:r>
              <a:rPr lang="en-GB" sz="2000" b="1" i="0" dirty="0">
                <a:solidFill>
                  <a:srgbClr val="000000"/>
                </a:solidFill>
                <a:effectLst/>
                <a:latin typeface="+mj-lt"/>
              </a:rPr>
              <a:t>Note: This method of specifying the start and end index to specify a part of a string is called slicing.</a:t>
            </a:r>
            <a:endParaRPr lang="en-AE" sz="3200" b="1" dirty="0">
              <a:latin typeface="+mj-lt"/>
            </a:endParaRPr>
          </a:p>
        </p:txBody>
      </p:sp>
    </p:spTree>
    <p:extLst>
      <p:ext uri="{BB962C8B-B14F-4D97-AF65-F5344CB8AC3E}">
        <p14:creationId xmlns:p14="http://schemas.microsoft.com/office/powerpoint/2010/main" val="1284946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513F-7ED5-F550-2DF6-204778126B3C}"/>
              </a:ext>
            </a:extLst>
          </p:cNvPr>
          <p:cNvSpPr>
            <a:spLocks noGrp="1"/>
          </p:cNvSpPr>
          <p:nvPr>
            <p:ph type="title"/>
          </p:nvPr>
        </p:nvSpPr>
        <p:spPr/>
        <p:txBody>
          <a:bodyPr/>
          <a:lstStyle/>
          <a:p>
            <a:r>
              <a:rPr lang="en-GB" dirty="0"/>
              <a:t>Slicing Example:</a:t>
            </a:r>
            <a:endParaRPr lang="en-AE" dirty="0"/>
          </a:p>
        </p:txBody>
      </p:sp>
      <p:sp>
        <p:nvSpPr>
          <p:cNvPr id="3" name="Content Placeholder 2">
            <a:extLst>
              <a:ext uri="{FF2B5EF4-FFF2-40B4-BE49-F238E27FC236}">
                <a16:creationId xmlns:a16="http://schemas.microsoft.com/office/drawing/2014/main" id="{88F679EA-A2E7-F0BB-B5E2-4690F6FD25FF}"/>
              </a:ext>
            </a:extLst>
          </p:cNvPr>
          <p:cNvSpPr>
            <a:spLocks noGrp="1"/>
          </p:cNvSpPr>
          <p:nvPr>
            <p:ph idx="1"/>
          </p:nvPr>
        </p:nvSpPr>
        <p:spPr/>
        <p:txBody>
          <a:bodyPr/>
          <a:lstStyle/>
          <a:p>
            <a:pPr marL="0" indent="0">
              <a:buNone/>
            </a:pPr>
            <a:r>
              <a:rPr lang="en-GB" dirty="0"/>
              <a:t>pie = "</a:t>
            </a:r>
            <a:r>
              <a:rPr lang="en-GB" dirty="0" err="1"/>
              <a:t>ApplePie</a:t>
            </a:r>
            <a:r>
              <a:rPr lang="en-GB" dirty="0"/>
              <a:t>"</a:t>
            </a:r>
          </a:p>
          <a:p>
            <a:pPr marL="0" indent="0">
              <a:buNone/>
            </a:pPr>
            <a:r>
              <a:rPr lang="en-GB" dirty="0"/>
              <a:t>print(pie[:5])      #Slicing from Start</a:t>
            </a:r>
          </a:p>
          <a:p>
            <a:pPr marL="0" indent="0">
              <a:buNone/>
            </a:pPr>
            <a:r>
              <a:rPr lang="en-GB" dirty="0"/>
              <a:t>print(pie[5:])      #Slicing till End</a:t>
            </a:r>
          </a:p>
          <a:p>
            <a:pPr marL="0" indent="0">
              <a:buNone/>
            </a:pPr>
            <a:r>
              <a:rPr lang="en-GB" dirty="0"/>
              <a:t>print(pie[2:6])     #Slicing in between</a:t>
            </a:r>
          </a:p>
          <a:p>
            <a:pPr marL="0" indent="0">
              <a:buNone/>
            </a:pPr>
            <a:r>
              <a:rPr lang="en-GB" dirty="0"/>
              <a:t>print(pie[-8:])     #Slicing using negative index</a:t>
            </a:r>
            <a:endParaRPr lang="en-AE" dirty="0"/>
          </a:p>
        </p:txBody>
      </p:sp>
    </p:spTree>
    <p:extLst>
      <p:ext uri="{BB962C8B-B14F-4D97-AF65-F5344CB8AC3E}">
        <p14:creationId xmlns:p14="http://schemas.microsoft.com/office/powerpoint/2010/main" val="2745925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223DB-B15C-C033-E246-C4DB76EB63CA}"/>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FA6B4965-0D5C-88B3-6AD7-A7DA9180ABA1}"/>
              </a:ext>
            </a:extLst>
          </p:cNvPr>
          <p:cNvSpPr>
            <a:spLocks noGrp="1"/>
          </p:cNvSpPr>
          <p:nvPr>
            <p:ph idx="1"/>
          </p:nvPr>
        </p:nvSpPr>
        <p:spPr/>
        <p:txBody>
          <a:bodyPr/>
          <a:lstStyle/>
          <a:p>
            <a:r>
              <a:rPr lang="en-GB" dirty="0"/>
              <a:t>Python provides a set of built-in methods that we can use to alter and modify the strings.</a:t>
            </a:r>
          </a:p>
          <a:p>
            <a:r>
              <a:rPr lang="en-GB" b="1" dirty="0"/>
              <a:t>upper() :</a:t>
            </a:r>
          </a:p>
          <a:p>
            <a:r>
              <a:rPr lang="en-GB" dirty="0"/>
              <a:t>The upper() method converts a string to upper case.</a:t>
            </a:r>
          </a:p>
          <a:p>
            <a:r>
              <a:rPr lang="en-GB" dirty="0"/>
              <a:t>Example: </a:t>
            </a:r>
          </a:p>
          <a:p>
            <a:pPr marL="457200" lvl="1" indent="0">
              <a:buNone/>
            </a:pPr>
            <a:r>
              <a:rPr lang="en-GB" dirty="0"/>
              <a:t>str1 = "</a:t>
            </a:r>
            <a:r>
              <a:rPr lang="en-GB" dirty="0" err="1"/>
              <a:t>AbcDEfghIJ</a:t>
            </a:r>
            <a:r>
              <a:rPr lang="en-GB" dirty="0"/>
              <a:t>"</a:t>
            </a:r>
          </a:p>
          <a:p>
            <a:pPr marL="457200" lvl="1" indent="0">
              <a:buNone/>
            </a:pPr>
            <a:r>
              <a:rPr lang="en-GB" dirty="0"/>
              <a:t>print(str1.upper())</a:t>
            </a:r>
            <a:endParaRPr lang="en-AE" dirty="0"/>
          </a:p>
        </p:txBody>
      </p:sp>
    </p:spTree>
    <p:extLst>
      <p:ext uri="{BB962C8B-B14F-4D97-AF65-F5344CB8AC3E}">
        <p14:creationId xmlns:p14="http://schemas.microsoft.com/office/powerpoint/2010/main" val="2556876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DA308-9C74-3AA7-AED5-552B86764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38057-A3D8-03E1-45DB-567A960DD04C}"/>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9F28BCA1-934C-D1D4-8CEF-5D52179C0F3C}"/>
              </a:ext>
            </a:extLst>
          </p:cNvPr>
          <p:cNvSpPr>
            <a:spLocks noGrp="1"/>
          </p:cNvSpPr>
          <p:nvPr>
            <p:ph idx="1"/>
          </p:nvPr>
        </p:nvSpPr>
        <p:spPr/>
        <p:txBody>
          <a:bodyPr/>
          <a:lstStyle/>
          <a:p>
            <a:pPr algn="l">
              <a:spcBef>
                <a:spcPts val="1125"/>
              </a:spcBef>
              <a:spcAft>
                <a:spcPts val="900"/>
              </a:spcAft>
            </a:pPr>
            <a:r>
              <a:rPr lang="en-GB" b="1" i="0" dirty="0">
                <a:effectLst/>
                <a:latin typeface="+mj-lt"/>
              </a:rPr>
              <a:t>lower()</a:t>
            </a:r>
          </a:p>
          <a:p>
            <a:pPr algn="l"/>
            <a:r>
              <a:rPr lang="en-GB" b="0" i="0" dirty="0">
                <a:solidFill>
                  <a:srgbClr val="000000"/>
                </a:solidFill>
                <a:effectLst/>
                <a:latin typeface="+mj-lt"/>
              </a:rPr>
              <a:t>The lower() method converts a string to lower case.</a:t>
            </a:r>
          </a:p>
          <a:p>
            <a:r>
              <a:rPr lang="en-GB" dirty="0"/>
              <a:t>Example: </a:t>
            </a:r>
          </a:p>
          <a:p>
            <a:pPr marL="457200" lvl="1" indent="0">
              <a:buNone/>
            </a:pPr>
            <a:r>
              <a:rPr lang="en-GB" dirty="0"/>
              <a:t>str1 = "</a:t>
            </a:r>
            <a:r>
              <a:rPr lang="en-GB" dirty="0" err="1"/>
              <a:t>AbcDEfghIJ</a:t>
            </a:r>
            <a:r>
              <a:rPr lang="en-GB" dirty="0"/>
              <a:t>"</a:t>
            </a:r>
          </a:p>
          <a:p>
            <a:pPr marL="457200" lvl="1" indent="0">
              <a:buNone/>
            </a:pPr>
            <a:r>
              <a:rPr lang="en-GB" dirty="0"/>
              <a:t>print(str1.lower())</a:t>
            </a:r>
            <a:endParaRPr lang="en-AE" dirty="0"/>
          </a:p>
        </p:txBody>
      </p:sp>
    </p:spTree>
    <p:extLst>
      <p:ext uri="{BB962C8B-B14F-4D97-AF65-F5344CB8AC3E}">
        <p14:creationId xmlns:p14="http://schemas.microsoft.com/office/powerpoint/2010/main" val="25123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0DDD7-E89F-BFA1-67B7-9BFCD6764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E11ED-6264-BD0E-AD36-7F4720C46CB7}"/>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BF9A2BA2-5B6D-69E8-8A0A-AEC10F484BF9}"/>
              </a:ext>
            </a:extLst>
          </p:cNvPr>
          <p:cNvSpPr>
            <a:spLocks noGrp="1"/>
          </p:cNvSpPr>
          <p:nvPr>
            <p:ph idx="1"/>
          </p:nvPr>
        </p:nvSpPr>
        <p:spPr/>
        <p:txBody>
          <a:bodyPr/>
          <a:lstStyle/>
          <a:p>
            <a:pPr algn="l">
              <a:spcBef>
                <a:spcPts val="1125"/>
              </a:spcBef>
              <a:spcAft>
                <a:spcPts val="900"/>
              </a:spcAft>
            </a:pPr>
            <a:r>
              <a:rPr lang="en-GB" b="1" i="0" dirty="0">
                <a:effectLst/>
                <a:latin typeface="+mj-lt"/>
              </a:rPr>
              <a:t>strip() :</a:t>
            </a:r>
          </a:p>
          <a:p>
            <a:pPr algn="l">
              <a:spcBef>
                <a:spcPts val="1125"/>
              </a:spcBef>
              <a:spcAft>
                <a:spcPts val="900"/>
              </a:spcAft>
            </a:pPr>
            <a:r>
              <a:rPr lang="en-GB" i="0" dirty="0">
                <a:effectLst/>
                <a:latin typeface="+mj-lt"/>
              </a:rPr>
              <a:t>The strip() method removes any white spaces before and after the string.</a:t>
            </a:r>
          </a:p>
          <a:p>
            <a:pPr algn="l">
              <a:spcBef>
                <a:spcPts val="1125"/>
              </a:spcBef>
              <a:spcAft>
                <a:spcPts val="900"/>
              </a:spcAft>
            </a:pPr>
            <a:r>
              <a:rPr lang="en-GB" dirty="0"/>
              <a:t>Example: </a:t>
            </a:r>
          </a:p>
          <a:p>
            <a:pPr marL="457200" lvl="1" indent="0">
              <a:buNone/>
            </a:pPr>
            <a:r>
              <a:rPr lang="en-GB" dirty="0"/>
              <a:t>str2 = " Silver Spoon "</a:t>
            </a:r>
          </a:p>
          <a:p>
            <a:pPr marL="457200" lvl="1" indent="0">
              <a:buNone/>
            </a:pPr>
            <a:r>
              <a:rPr lang="en-GB" dirty="0"/>
              <a:t>print(str2.strip)</a:t>
            </a:r>
            <a:endParaRPr lang="en-AE" dirty="0"/>
          </a:p>
        </p:txBody>
      </p:sp>
    </p:spTree>
    <p:extLst>
      <p:ext uri="{BB962C8B-B14F-4D97-AF65-F5344CB8AC3E}">
        <p14:creationId xmlns:p14="http://schemas.microsoft.com/office/powerpoint/2010/main" val="2410876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318F2-4F33-CC9C-C336-5AE63F317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704B9-B484-6235-AA88-6EB8E98B0F74}"/>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06C9428D-6C68-2C9C-06FB-B44063617120}"/>
              </a:ext>
            </a:extLst>
          </p:cNvPr>
          <p:cNvSpPr>
            <a:spLocks noGrp="1"/>
          </p:cNvSpPr>
          <p:nvPr>
            <p:ph idx="1"/>
          </p:nvPr>
        </p:nvSpPr>
        <p:spPr/>
        <p:txBody>
          <a:bodyPr/>
          <a:lstStyle/>
          <a:p>
            <a:pPr algn="l">
              <a:spcBef>
                <a:spcPts val="1125"/>
              </a:spcBef>
              <a:spcAft>
                <a:spcPts val="900"/>
              </a:spcAft>
            </a:pPr>
            <a:r>
              <a:rPr lang="en-GB" b="1" i="0" dirty="0" err="1">
                <a:effectLst/>
                <a:latin typeface="+mj-lt"/>
              </a:rPr>
              <a:t>rstrip</a:t>
            </a:r>
            <a:r>
              <a:rPr lang="en-GB" b="1" i="0" dirty="0">
                <a:effectLst/>
                <a:latin typeface="+mj-lt"/>
              </a:rPr>
              <a:t>() :</a:t>
            </a:r>
          </a:p>
          <a:p>
            <a:pPr algn="l">
              <a:spcBef>
                <a:spcPts val="1125"/>
              </a:spcBef>
              <a:spcAft>
                <a:spcPts val="900"/>
              </a:spcAft>
            </a:pPr>
            <a:r>
              <a:rPr lang="en-GB" i="0" dirty="0">
                <a:effectLst/>
                <a:latin typeface="+mj-lt"/>
              </a:rPr>
              <a:t>the </a:t>
            </a:r>
            <a:r>
              <a:rPr lang="en-GB" i="0" dirty="0" err="1">
                <a:effectLst/>
                <a:latin typeface="+mj-lt"/>
              </a:rPr>
              <a:t>rstrip</a:t>
            </a:r>
            <a:r>
              <a:rPr lang="en-GB" i="0" dirty="0">
                <a:effectLst/>
                <a:latin typeface="+mj-lt"/>
              </a:rPr>
              <a:t>() removes any trailing characters.</a:t>
            </a:r>
          </a:p>
          <a:p>
            <a:pPr algn="l">
              <a:spcBef>
                <a:spcPts val="1125"/>
              </a:spcBef>
              <a:spcAft>
                <a:spcPts val="900"/>
              </a:spcAft>
            </a:pPr>
            <a:r>
              <a:rPr lang="en-GB" dirty="0"/>
              <a:t>Example: </a:t>
            </a:r>
          </a:p>
          <a:p>
            <a:pPr marL="457200" lvl="1" indent="0">
              <a:buNone/>
            </a:pPr>
            <a:r>
              <a:rPr lang="nb-NO" dirty="0"/>
              <a:t>str3 = "Hello !!!"</a:t>
            </a:r>
          </a:p>
          <a:p>
            <a:pPr marL="457200" lvl="1" indent="0">
              <a:buNone/>
            </a:pPr>
            <a:r>
              <a:rPr lang="nb-NO" dirty="0"/>
              <a:t>print(str3.rstrip("!"))</a:t>
            </a:r>
            <a:endParaRPr lang="en-AE" dirty="0"/>
          </a:p>
        </p:txBody>
      </p:sp>
    </p:spTree>
    <p:extLst>
      <p:ext uri="{BB962C8B-B14F-4D97-AF65-F5344CB8AC3E}">
        <p14:creationId xmlns:p14="http://schemas.microsoft.com/office/powerpoint/2010/main" val="11299752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B9706-A472-2834-67B1-9B07E1E33B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EFCD2-1330-53D7-D3B0-4FFEDA62B002}"/>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212C84F6-3E0C-A6AF-EDC2-69CE7CEBF038}"/>
              </a:ext>
            </a:extLst>
          </p:cNvPr>
          <p:cNvSpPr>
            <a:spLocks noGrp="1"/>
          </p:cNvSpPr>
          <p:nvPr>
            <p:ph idx="1"/>
          </p:nvPr>
        </p:nvSpPr>
        <p:spPr/>
        <p:txBody>
          <a:bodyPr/>
          <a:lstStyle/>
          <a:p>
            <a:pPr algn="l">
              <a:spcBef>
                <a:spcPts val="1125"/>
              </a:spcBef>
              <a:spcAft>
                <a:spcPts val="900"/>
              </a:spcAft>
            </a:pPr>
            <a:r>
              <a:rPr lang="en-GB" b="1" i="0" dirty="0">
                <a:effectLst/>
                <a:latin typeface="+mj-lt"/>
              </a:rPr>
              <a:t>replace() :</a:t>
            </a:r>
          </a:p>
          <a:p>
            <a:pPr algn="l">
              <a:spcBef>
                <a:spcPts val="1125"/>
              </a:spcBef>
              <a:spcAft>
                <a:spcPts val="900"/>
              </a:spcAft>
            </a:pPr>
            <a:r>
              <a:rPr lang="en-GB" i="0" dirty="0">
                <a:effectLst/>
                <a:latin typeface="+mj-lt"/>
              </a:rPr>
              <a:t>The replace() method replaces all </a:t>
            </a:r>
            <a:r>
              <a:rPr lang="en-GB" i="0" dirty="0" err="1">
                <a:effectLst/>
                <a:latin typeface="+mj-lt"/>
              </a:rPr>
              <a:t>occurences</a:t>
            </a:r>
            <a:r>
              <a:rPr lang="en-GB" i="0" dirty="0">
                <a:effectLst/>
                <a:latin typeface="+mj-lt"/>
              </a:rPr>
              <a:t> of a string with another string. Example:</a:t>
            </a:r>
          </a:p>
          <a:p>
            <a:pPr algn="l">
              <a:spcBef>
                <a:spcPts val="1125"/>
              </a:spcBef>
              <a:spcAft>
                <a:spcPts val="900"/>
              </a:spcAft>
            </a:pPr>
            <a:r>
              <a:rPr lang="en-GB" dirty="0"/>
              <a:t>Example: </a:t>
            </a:r>
          </a:p>
          <a:p>
            <a:pPr marL="457200" lvl="1" indent="0">
              <a:buNone/>
            </a:pPr>
            <a:r>
              <a:rPr lang="nb-NO" dirty="0"/>
              <a:t>str2 = "Silver Spoon"</a:t>
            </a:r>
          </a:p>
          <a:p>
            <a:pPr marL="457200" lvl="1" indent="0">
              <a:buNone/>
            </a:pPr>
            <a:r>
              <a:rPr lang="nb-NO" dirty="0"/>
              <a:t>print(str2.replace("Sp", "M"))</a:t>
            </a:r>
            <a:endParaRPr lang="en-AE" dirty="0"/>
          </a:p>
        </p:txBody>
      </p:sp>
    </p:spTree>
    <p:extLst>
      <p:ext uri="{BB962C8B-B14F-4D97-AF65-F5344CB8AC3E}">
        <p14:creationId xmlns:p14="http://schemas.microsoft.com/office/powerpoint/2010/main" val="3607480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FC85E-FCC0-DD02-8A9E-89F105DDE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B8256-791B-1382-BBB8-957CE7133302}"/>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1D5745A6-3666-29CB-2E08-436A9ACB1722}"/>
              </a:ext>
            </a:extLst>
          </p:cNvPr>
          <p:cNvSpPr>
            <a:spLocks noGrp="1"/>
          </p:cNvSpPr>
          <p:nvPr>
            <p:ph idx="1"/>
          </p:nvPr>
        </p:nvSpPr>
        <p:spPr/>
        <p:txBody>
          <a:bodyPr>
            <a:normAutofit/>
          </a:bodyPr>
          <a:lstStyle/>
          <a:p>
            <a:pPr algn="l">
              <a:spcBef>
                <a:spcPts val="1125"/>
              </a:spcBef>
              <a:spcAft>
                <a:spcPts val="900"/>
              </a:spcAft>
            </a:pPr>
            <a:r>
              <a:rPr lang="en-GB" b="1" i="0" dirty="0">
                <a:effectLst/>
                <a:latin typeface="+mj-lt"/>
              </a:rPr>
              <a:t>split() :</a:t>
            </a:r>
          </a:p>
          <a:p>
            <a:pPr algn="l"/>
            <a:r>
              <a:rPr lang="en-GB" i="0" dirty="0">
                <a:solidFill>
                  <a:srgbClr val="000000"/>
                </a:solidFill>
                <a:effectLst/>
                <a:latin typeface="+mj-lt"/>
              </a:rPr>
              <a:t>The split() method splits the given string at the specified instance and returns the separated strings as list items.</a:t>
            </a:r>
            <a:endParaRPr lang="en-GB" dirty="0"/>
          </a:p>
          <a:p>
            <a:pPr algn="l">
              <a:spcBef>
                <a:spcPts val="1125"/>
              </a:spcBef>
              <a:spcAft>
                <a:spcPts val="900"/>
              </a:spcAft>
            </a:pPr>
            <a:r>
              <a:rPr lang="en-GB" dirty="0"/>
              <a:t>Example: </a:t>
            </a:r>
          </a:p>
          <a:p>
            <a:pPr marL="457200" lvl="1" indent="0">
              <a:buNone/>
            </a:pPr>
            <a:r>
              <a:rPr lang="en-GB" dirty="0"/>
              <a:t>str2 = "Silver Spoon"</a:t>
            </a:r>
          </a:p>
          <a:p>
            <a:pPr marL="457200" lvl="1" indent="0">
              <a:buNone/>
            </a:pPr>
            <a:r>
              <a:rPr lang="en-GB" dirty="0"/>
              <a:t>print(str2.split(" "))      #Splits the string at the whitespace " ".</a:t>
            </a:r>
            <a:endParaRPr lang="en-AE" dirty="0"/>
          </a:p>
        </p:txBody>
      </p:sp>
    </p:spTree>
    <p:extLst>
      <p:ext uri="{BB962C8B-B14F-4D97-AF65-F5344CB8AC3E}">
        <p14:creationId xmlns:p14="http://schemas.microsoft.com/office/powerpoint/2010/main" val="9731601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A88AA-E8A9-8448-261E-0C4C4A9D8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4C45E-85FC-9B50-82E8-38C0D4776B06}"/>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CF30A313-C5AF-6424-48FE-CB0483E022A4}"/>
              </a:ext>
            </a:extLst>
          </p:cNvPr>
          <p:cNvSpPr>
            <a:spLocks noGrp="1"/>
          </p:cNvSpPr>
          <p:nvPr>
            <p:ph idx="1"/>
          </p:nvPr>
        </p:nvSpPr>
        <p:spPr/>
        <p:txBody>
          <a:bodyPr>
            <a:normAutofit fontScale="70000" lnSpcReduction="20000"/>
          </a:bodyPr>
          <a:lstStyle/>
          <a:p>
            <a:pPr algn="l">
              <a:spcBef>
                <a:spcPts val="1125"/>
              </a:spcBef>
              <a:spcAft>
                <a:spcPts val="900"/>
              </a:spcAft>
            </a:pPr>
            <a:r>
              <a:rPr lang="en-GB" b="1" i="0" dirty="0">
                <a:effectLst/>
                <a:latin typeface="+mj-lt"/>
              </a:rPr>
              <a:t>capitalize() :</a:t>
            </a:r>
          </a:p>
          <a:p>
            <a:pPr algn="l">
              <a:spcBef>
                <a:spcPts val="1125"/>
              </a:spcBef>
              <a:spcAft>
                <a:spcPts val="900"/>
              </a:spcAft>
            </a:pPr>
            <a:r>
              <a:rPr lang="en-GB" i="0" dirty="0">
                <a:effectLst/>
                <a:latin typeface="+mj-lt"/>
              </a:rPr>
              <a:t>The capitalize() method turns only the first character of the string to uppercase and the rest other characters of the string are turned to lowercase. The string has no effect if the first character is already uppercase.</a:t>
            </a:r>
          </a:p>
          <a:p>
            <a:pPr algn="l">
              <a:spcBef>
                <a:spcPts val="1125"/>
              </a:spcBef>
              <a:spcAft>
                <a:spcPts val="900"/>
              </a:spcAft>
            </a:pPr>
            <a:r>
              <a:rPr lang="en-GB" dirty="0"/>
              <a:t>Example: </a:t>
            </a:r>
          </a:p>
          <a:p>
            <a:pPr marL="457200" lvl="1" indent="0">
              <a:buNone/>
            </a:pPr>
            <a:r>
              <a:rPr lang="en-GB" dirty="0"/>
              <a:t>str1 = "hello"</a:t>
            </a:r>
          </a:p>
          <a:p>
            <a:pPr marL="457200" lvl="1" indent="0">
              <a:buNone/>
            </a:pPr>
            <a:r>
              <a:rPr lang="en-GB" dirty="0"/>
              <a:t>capStr1 = str1.capitalize()</a:t>
            </a:r>
          </a:p>
          <a:p>
            <a:pPr marL="457200" lvl="1" indent="0">
              <a:buNone/>
            </a:pPr>
            <a:r>
              <a:rPr lang="en-GB" dirty="0"/>
              <a:t>print(capStr1)</a:t>
            </a:r>
          </a:p>
          <a:p>
            <a:pPr marL="457200" lvl="1" indent="0">
              <a:buNone/>
            </a:pPr>
            <a:r>
              <a:rPr lang="en-GB" dirty="0"/>
              <a:t>str2 = "hello </a:t>
            </a:r>
            <a:r>
              <a:rPr lang="en-GB" dirty="0" err="1"/>
              <a:t>WorlD</a:t>
            </a:r>
            <a:r>
              <a:rPr lang="en-GB" dirty="0"/>
              <a:t>"</a:t>
            </a:r>
          </a:p>
          <a:p>
            <a:pPr marL="457200" lvl="1" indent="0">
              <a:buNone/>
            </a:pPr>
            <a:r>
              <a:rPr lang="en-GB" dirty="0"/>
              <a:t>capStr2 = str2.capitalize()</a:t>
            </a:r>
          </a:p>
          <a:p>
            <a:pPr marL="457200" lvl="1" indent="0">
              <a:buNone/>
            </a:pPr>
            <a:r>
              <a:rPr lang="en-GB" dirty="0"/>
              <a:t>print(capStr2)</a:t>
            </a:r>
            <a:endParaRPr lang="en-AE" dirty="0"/>
          </a:p>
        </p:txBody>
      </p:sp>
    </p:spTree>
    <p:extLst>
      <p:ext uri="{BB962C8B-B14F-4D97-AF65-F5344CB8AC3E}">
        <p14:creationId xmlns:p14="http://schemas.microsoft.com/office/powerpoint/2010/main" val="28118660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4D357-0B59-E880-B442-58D620F1E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23484-A92B-68F1-0B25-76BEA93E3C84}"/>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CDB94292-5D72-B655-1C73-4B0997E4FB70}"/>
              </a:ext>
            </a:extLst>
          </p:cNvPr>
          <p:cNvSpPr>
            <a:spLocks noGrp="1"/>
          </p:cNvSpPr>
          <p:nvPr>
            <p:ph idx="1"/>
          </p:nvPr>
        </p:nvSpPr>
        <p:spPr/>
        <p:txBody>
          <a:bodyPr>
            <a:normAutofit/>
          </a:bodyPr>
          <a:lstStyle/>
          <a:p>
            <a:pPr>
              <a:spcBef>
                <a:spcPts val="1125"/>
              </a:spcBef>
              <a:spcAft>
                <a:spcPts val="900"/>
              </a:spcAft>
            </a:pPr>
            <a:r>
              <a:rPr lang="en-GB" b="1" dirty="0" err="1">
                <a:latin typeface="+mj-lt"/>
              </a:rPr>
              <a:t>center</a:t>
            </a:r>
            <a:r>
              <a:rPr lang="en-GB" b="1" dirty="0">
                <a:latin typeface="+mj-lt"/>
              </a:rPr>
              <a:t>() :</a:t>
            </a:r>
          </a:p>
          <a:p>
            <a:pPr algn="l">
              <a:spcBef>
                <a:spcPts val="1125"/>
              </a:spcBef>
              <a:spcAft>
                <a:spcPts val="900"/>
              </a:spcAft>
            </a:pPr>
            <a:r>
              <a:rPr lang="en-GB" i="0" dirty="0">
                <a:effectLst/>
                <a:latin typeface="+mj-lt"/>
              </a:rPr>
              <a:t>The </a:t>
            </a:r>
            <a:r>
              <a:rPr lang="en-GB" i="0" dirty="0" err="1">
                <a:effectLst/>
                <a:latin typeface="+mj-lt"/>
              </a:rPr>
              <a:t>center</a:t>
            </a:r>
            <a:r>
              <a:rPr lang="en-GB" i="0" dirty="0">
                <a:effectLst/>
                <a:latin typeface="+mj-lt"/>
              </a:rPr>
              <a:t>() method aligns the string to the </a:t>
            </a:r>
            <a:r>
              <a:rPr lang="en-GB" i="0" dirty="0" err="1">
                <a:effectLst/>
                <a:latin typeface="+mj-lt"/>
              </a:rPr>
              <a:t>center</a:t>
            </a:r>
            <a:r>
              <a:rPr lang="en-GB" i="0" dirty="0">
                <a:effectLst/>
                <a:latin typeface="+mj-lt"/>
              </a:rPr>
              <a:t> as per the parameters given by the user.</a:t>
            </a:r>
          </a:p>
          <a:p>
            <a:pPr algn="l">
              <a:spcBef>
                <a:spcPts val="1125"/>
              </a:spcBef>
              <a:spcAft>
                <a:spcPts val="900"/>
              </a:spcAft>
            </a:pPr>
            <a:r>
              <a:rPr lang="en-GB" dirty="0"/>
              <a:t>Example: </a:t>
            </a:r>
          </a:p>
          <a:p>
            <a:pPr marL="457200" lvl="1" indent="0">
              <a:buNone/>
            </a:pPr>
            <a:r>
              <a:rPr lang="en-GB" dirty="0"/>
              <a:t>str1 = "Welcome to the Console!!!"</a:t>
            </a:r>
          </a:p>
          <a:p>
            <a:pPr marL="457200" lvl="1" indent="0">
              <a:buNone/>
            </a:pPr>
            <a:r>
              <a:rPr lang="en-GB" dirty="0"/>
              <a:t>print(str1.center(50))</a:t>
            </a:r>
            <a:endParaRPr lang="en-AE" dirty="0"/>
          </a:p>
        </p:txBody>
      </p:sp>
    </p:spTree>
    <p:extLst>
      <p:ext uri="{BB962C8B-B14F-4D97-AF65-F5344CB8AC3E}">
        <p14:creationId xmlns:p14="http://schemas.microsoft.com/office/powerpoint/2010/main" val="15102308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430D4-8F37-7600-88AF-F2514BAE9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5156A-7AB2-51CF-B366-C36496047CF5}"/>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DB26A028-DE99-32BF-3F26-0D854C34AFA3}"/>
              </a:ext>
            </a:extLst>
          </p:cNvPr>
          <p:cNvSpPr>
            <a:spLocks noGrp="1"/>
          </p:cNvSpPr>
          <p:nvPr>
            <p:ph idx="1"/>
          </p:nvPr>
        </p:nvSpPr>
        <p:spPr/>
        <p:txBody>
          <a:bodyPr>
            <a:normAutofit/>
          </a:bodyPr>
          <a:lstStyle/>
          <a:p>
            <a:pPr algn="l">
              <a:spcBef>
                <a:spcPts val="1125"/>
              </a:spcBef>
              <a:spcAft>
                <a:spcPts val="900"/>
              </a:spcAft>
            </a:pPr>
            <a:r>
              <a:rPr lang="en-GB" b="1" i="0" dirty="0" err="1">
                <a:effectLst/>
                <a:latin typeface="+mj-lt"/>
              </a:rPr>
              <a:t>center</a:t>
            </a:r>
            <a:r>
              <a:rPr lang="en-GB" b="1" i="0" dirty="0">
                <a:effectLst/>
                <a:latin typeface="+mj-lt"/>
              </a:rPr>
              <a:t>() :</a:t>
            </a:r>
          </a:p>
          <a:p>
            <a:pPr algn="l">
              <a:spcBef>
                <a:spcPts val="1125"/>
              </a:spcBef>
              <a:spcAft>
                <a:spcPts val="900"/>
              </a:spcAft>
            </a:pPr>
            <a:r>
              <a:rPr lang="en-GB" i="0" dirty="0">
                <a:effectLst/>
                <a:latin typeface="+mj-lt"/>
              </a:rPr>
              <a:t>We can also provide padding character. It will fill the rest of the fill characters provided by the user.</a:t>
            </a:r>
          </a:p>
          <a:p>
            <a:pPr algn="l">
              <a:spcBef>
                <a:spcPts val="1125"/>
              </a:spcBef>
              <a:spcAft>
                <a:spcPts val="900"/>
              </a:spcAft>
            </a:pPr>
            <a:r>
              <a:rPr lang="en-GB" dirty="0">
                <a:latin typeface="+mj-lt"/>
              </a:rPr>
              <a:t>Example:</a:t>
            </a:r>
            <a:endParaRPr lang="en-GB" i="0" dirty="0">
              <a:effectLst/>
              <a:latin typeface="+mj-lt"/>
            </a:endParaRPr>
          </a:p>
          <a:p>
            <a:pPr marL="400050" lvl="1" indent="0">
              <a:spcBef>
                <a:spcPts val="1125"/>
              </a:spcBef>
              <a:spcAft>
                <a:spcPts val="900"/>
              </a:spcAft>
              <a:buNone/>
            </a:pPr>
            <a:r>
              <a:rPr lang="en-GB" sz="3200" i="0" dirty="0">
                <a:effectLst/>
                <a:latin typeface="+mj-lt"/>
              </a:rPr>
              <a:t>str1 = "Welcome to the Console!!!"</a:t>
            </a:r>
          </a:p>
          <a:p>
            <a:pPr marL="400050" lvl="1" indent="0">
              <a:spcBef>
                <a:spcPts val="1125"/>
              </a:spcBef>
              <a:spcAft>
                <a:spcPts val="900"/>
              </a:spcAft>
              <a:buNone/>
            </a:pPr>
            <a:r>
              <a:rPr lang="en-GB" sz="3200" i="0" dirty="0">
                <a:effectLst/>
                <a:latin typeface="+mj-lt"/>
              </a:rPr>
              <a:t>print(str1.center(50, "."))</a:t>
            </a:r>
          </a:p>
        </p:txBody>
      </p:sp>
    </p:spTree>
    <p:extLst>
      <p:ext uri="{BB962C8B-B14F-4D97-AF65-F5344CB8AC3E}">
        <p14:creationId xmlns:p14="http://schemas.microsoft.com/office/powerpoint/2010/main" val="31176458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3E83E-0705-F4E6-5194-8A4BACCAE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FBE86-5D0E-7FD8-FCEC-9ABA8607E9D4}"/>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A06A0664-440E-9A2B-26FD-98B868A5ABCC}"/>
              </a:ext>
            </a:extLst>
          </p:cNvPr>
          <p:cNvSpPr>
            <a:spLocks noGrp="1"/>
          </p:cNvSpPr>
          <p:nvPr>
            <p:ph idx="1"/>
          </p:nvPr>
        </p:nvSpPr>
        <p:spPr/>
        <p:txBody>
          <a:bodyPr>
            <a:normAutofit fontScale="92500" lnSpcReduction="20000"/>
          </a:bodyPr>
          <a:lstStyle/>
          <a:p>
            <a:pPr algn="l">
              <a:spcBef>
                <a:spcPts val="1125"/>
              </a:spcBef>
              <a:spcAft>
                <a:spcPts val="900"/>
              </a:spcAft>
            </a:pPr>
            <a:r>
              <a:rPr lang="en-GB" b="1" i="0" dirty="0">
                <a:effectLst/>
                <a:latin typeface="+mj-lt"/>
              </a:rPr>
              <a:t>count() :</a:t>
            </a:r>
          </a:p>
          <a:p>
            <a:pPr algn="l">
              <a:spcBef>
                <a:spcPts val="1125"/>
              </a:spcBef>
              <a:spcAft>
                <a:spcPts val="900"/>
              </a:spcAft>
            </a:pPr>
            <a:r>
              <a:rPr lang="en-GB" i="0" dirty="0">
                <a:effectLst/>
                <a:latin typeface="+mj-lt"/>
              </a:rPr>
              <a:t>The count() method returns the number of times the given value has occurred within the given string.</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sz="3500" i="0" dirty="0">
                <a:effectLst/>
                <a:latin typeface="+mj-lt"/>
              </a:rPr>
              <a:t>str2 = "Abracadabra"</a:t>
            </a:r>
          </a:p>
          <a:p>
            <a:pPr marL="400050" lvl="1" indent="0">
              <a:spcBef>
                <a:spcPts val="1125"/>
              </a:spcBef>
              <a:spcAft>
                <a:spcPts val="900"/>
              </a:spcAft>
              <a:buNone/>
            </a:pPr>
            <a:r>
              <a:rPr lang="en-GB" sz="3500" i="0" dirty="0" err="1">
                <a:effectLst/>
                <a:latin typeface="+mj-lt"/>
              </a:rPr>
              <a:t>countStr</a:t>
            </a:r>
            <a:r>
              <a:rPr lang="en-GB" sz="3500" i="0" dirty="0">
                <a:effectLst/>
                <a:latin typeface="+mj-lt"/>
              </a:rPr>
              <a:t> = str2.count("a")</a:t>
            </a:r>
          </a:p>
          <a:p>
            <a:pPr marL="400050" lvl="1" indent="0">
              <a:spcBef>
                <a:spcPts val="1125"/>
              </a:spcBef>
              <a:spcAft>
                <a:spcPts val="900"/>
              </a:spcAft>
              <a:buNone/>
            </a:pPr>
            <a:r>
              <a:rPr lang="en-GB" sz="3500" i="0" dirty="0">
                <a:effectLst/>
                <a:latin typeface="+mj-lt"/>
              </a:rPr>
              <a:t>print(</a:t>
            </a:r>
            <a:r>
              <a:rPr lang="en-GB" sz="3500" i="0" dirty="0" err="1">
                <a:effectLst/>
                <a:latin typeface="+mj-lt"/>
              </a:rPr>
              <a:t>countStr</a:t>
            </a:r>
            <a:r>
              <a:rPr lang="en-GB" sz="3500" i="0" dirty="0">
                <a:effectLst/>
                <a:latin typeface="+mj-lt"/>
              </a:rPr>
              <a:t>)</a:t>
            </a:r>
          </a:p>
        </p:txBody>
      </p:sp>
    </p:spTree>
    <p:extLst>
      <p:ext uri="{BB962C8B-B14F-4D97-AF65-F5344CB8AC3E}">
        <p14:creationId xmlns:p14="http://schemas.microsoft.com/office/powerpoint/2010/main" val="6633826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4EF95-7515-138C-D475-4D6971D51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9497F-60C1-4E70-124B-8E99B42A9130}"/>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6188699A-B51C-4286-BD58-2CE1648249EE}"/>
              </a:ext>
            </a:extLst>
          </p:cNvPr>
          <p:cNvSpPr>
            <a:spLocks noGrp="1"/>
          </p:cNvSpPr>
          <p:nvPr>
            <p:ph idx="1"/>
          </p:nvPr>
        </p:nvSpPr>
        <p:spPr/>
        <p:txBody>
          <a:bodyPr>
            <a:normAutofit lnSpcReduction="10000"/>
          </a:bodyPr>
          <a:lstStyle/>
          <a:p>
            <a:pPr algn="l">
              <a:spcBef>
                <a:spcPts val="1125"/>
              </a:spcBef>
              <a:spcAft>
                <a:spcPts val="900"/>
              </a:spcAft>
            </a:pPr>
            <a:r>
              <a:rPr lang="en-GB" b="1" i="0" dirty="0" err="1">
                <a:effectLst/>
                <a:latin typeface="+mj-lt"/>
              </a:rPr>
              <a:t>endswith</a:t>
            </a:r>
            <a:r>
              <a:rPr lang="en-GB" b="1" i="0" dirty="0">
                <a:effectLst/>
                <a:latin typeface="+mj-lt"/>
              </a:rPr>
              <a:t>() :</a:t>
            </a:r>
          </a:p>
          <a:p>
            <a:pPr algn="l">
              <a:spcBef>
                <a:spcPts val="1125"/>
              </a:spcBef>
              <a:spcAft>
                <a:spcPts val="900"/>
              </a:spcAft>
            </a:pPr>
            <a:r>
              <a:rPr lang="en-GB" i="0" dirty="0">
                <a:effectLst/>
                <a:latin typeface="+mj-lt"/>
              </a:rPr>
              <a:t>The </a:t>
            </a:r>
            <a:r>
              <a:rPr lang="en-GB" i="0" dirty="0" err="1">
                <a:effectLst/>
                <a:latin typeface="+mj-lt"/>
              </a:rPr>
              <a:t>endswith</a:t>
            </a:r>
            <a:r>
              <a:rPr lang="en-GB" i="0" dirty="0">
                <a:effectLst/>
                <a:latin typeface="+mj-lt"/>
              </a:rPr>
              <a:t>() method checks if the string ends with a given value. If yes then return True, else return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sz="3500" i="0" dirty="0">
                <a:effectLst/>
                <a:latin typeface="+mj-lt"/>
              </a:rPr>
              <a:t>str1 = "Welcome to the Console !!!"</a:t>
            </a:r>
          </a:p>
          <a:p>
            <a:pPr marL="400050" lvl="1" indent="0">
              <a:spcBef>
                <a:spcPts val="1125"/>
              </a:spcBef>
              <a:spcAft>
                <a:spcPts val="900"/>
              </a:spcAft>
              <a:buNone/>
            </a:pPr>
            <a:r>
              <a:rPr lang="en-GB" sz="3500" i="0" dirty="0">
                <a:effectLst/>
                <a:latin typeface="+mj-lt"/>
              </a:rPr>
              <a:t>print(str1.endswith("!!!"))</a:t>
            </a:r>
          </a:p>
        </p:txBody>
      </p:sp>
    </p:spTree>
    <p:extLst>
      <p:ext uri="{BB962C8B-B14F-4D97-AF65-F5344CB8AC3E}">
        <p14:creationId xmlns:p14="http://schemas.microsoft.com/office/powerpoint/2010/main" val="3278446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E9065-06A5-549B-B63E-CD9134A25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72267-D670-D845-E28B-983860B413B3}"/>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D84D133F-601C-0ECD-46F9-4EC4081FE340}"/>
              </a:ext>
            </a:extLst>
          </p:cNvPr>
          <p:cNvSpPr>
            <a:spLocks noGrp="1"/>
          </p:cNvSpPr>
          <p:nvPr>
            <p:ph idx="1"/>
          </p:nvPr>
        </p:nvSpPr>
        <p:spPr/>
        <p:txBody>
          <a:bodyPr>
            <a:normAutofit lnSpcReduction="10000"/>
          </a:bodyPr>
          <a:lstStyle/>
          <a:p>
            <a:pPr algn="l">
              <a:spcBef>
                <a:spcPts val="1125"/>
              </a:spcBef>
              <a:spcAft>
                <a:spcPts val="900"/>
              </a:spcAft>
            </a:pPr>
            <a:r>
              <a:rPr lang="en-GB" b="1" i="0" dirty="0" err="1">
                <a:effectLst/>
                <a:latin typeface="+mj-lt"/>
              </a:rPr>
              <a:t>endswith</a:t>
            </a:r>
            <a:r>
              <a:rPr lang="en-GB" b="1" i="0" dirty="0">
                <a:effectLst/>
                <a:latin typeface="+mj-lt"/>
              </a:rPr>
              <a:t>() :</a:t>
            </a:r>
          </a:p>
          <a:p>
            <a:pPr algn="l">
              <a:spcBef>
                <a:spcPts val="1125"/>
              </a:spcBef>
              <a:spcAft>
                <a:spcPts val="900"/>
              </a:spcAft>
            </a:pPr>
            <a:r>
              <a:rPr lang="en-GB" i="0" dirty="0">
                <a:effectLst/>
                <a:latin typeface="+mj-lt"/>
              </a:rPr>
              <a:t>We can even also check for a value in-between the string by providing start and end index positions.</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sz="3500" i="0" dirty="0">
                <a:effectLst/>
                <a:latin typeface="+mj-lt"/>
              </a:rPr>
              <a:t>str1 = "Welcome to the Console !!!"</a:t>
            </a:r>
          </a:p>
          <a:p>
            <a:pPr marL="400050" lvl="1" indent="0">
              <a:spcBef>
                <a:spcPts val="1125"/>
              </a:spcBef>
              <a:spcAft>
                <a:spcPts val="900"/>
              </a:spcAft>
              <a:buNone/>
            </a:pPr>
            <a:r>
              <a:rPr lang="en-GB" sz="3500" i="0" dirty="0">
                <a:effectLst/>
                <a:latin typeface="+mj-lt"/>
              </a:rPr>
              <a:t>print(str1.endswith("to", 4, 10))</a:t>
            </a:r>
          </a:p>
        </p:txBody>
      </p:sp>
    </p:spTree>
    <p:extLst>
      <p:ext uri="{BB962C8B-B14F-4D97-AF65-F5344CB8AC3E}">
        <p14:creationId xmlns:p14="http://schemas.microsoft.com/office/powerpoint/2010/main" val="22620719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45244-60F6-DA96-5892-F7D39A0A2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5E526-A701-0421-5F9D-6A1E884B0C90}"/>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F1A7E9C8-12BB-0FF3-BBC9-E6372272362D}"/>
              </a:ext>
            </a:extLst>
          </p:cNvPr>
          <p:cNvSpPr>
            <a:spLocks noGrp="1"/>
          </p:cNvSpPr>
          <p:nvPr>
            <p:ph idx="1"/>
          </p:nvPr>
        </p:nvSpPr>
        <p:spPr/>
        <p:txBody>
          <a:bodyPr>
            <a:normAutofit fontScale="92500" lnSpcReduction="10000"/>
          </a:bodyPr>
          <a:lstStyle/>
          <a:p>
            <a:pPr algn="l">
              <a:spcBef>
                <a:spcPts val="1125"/>
              </a:spcBef>
              <a:spcAft>
                <a:spcPts val="900"/>
              </a:spcAft>
            </a:pPr>
            <a:r>
              <a:rPr lang="en-GB" b="1" i="0" dirty="0">
                <a:effectLst/>
                <a:latin typeface="+mj-lt"/>
              </a:rPr>
              <a:t>find() :</a:t>
            </a:r>
          </a:p>
          <a:p>
            <a:pPr algn="l">
              <a:spcBef>
                <a:spcPts val="1125"/>
              </a:spcBef>
              <a:spcAft>
                <a:spcPts val="900"/>
              </a:spcAft>
            </a:pPr>
            <a:r>
              <a:rPr lang="en-GB" i="0" dirty="0">
                <a:effectLst/>
                <a:latin typeface="+mj-lt"/>
              </a:rPr>
              <a:t>The find() method searches for the first occurrence of the given value and returns the index where it is present. If given value is absent from the string then return -1.</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sz="3500" i="0" dirty="0">
                <a:effectLst/>
                <a:latin typeface="+mj-lt"/>
              </a:rPr>
              <a:t>str1 = " Welcome to the Python."</a:t>
            </a:r>
          </a:p>
          <a:p>
            <a:pPr marL="400050" lvl="1" indent="0">
              <a:spcBef>
                <a:spcPts val="1125"/>
              </a:spcBef>
              <a:spcAft>
                <a:spcPts val="900"/>
              </a:spcAft>
              <a:buNone/>
            </a:pPr>
            <a:r>
              <a:rPr lang="en-GB" sz="3500" i="0" dirty="0">
                <a:effectLst/>
                <a:latin typeface="+mj-lt"/>
              </a:rPr>
              <a:t>print(str1.find(“to"))</a:t>
            </a:r>
          </a:p>
        </p:txBody>
      </p:sp>
    </p:spTree>
    <p:extLst>
      <p:ext uri="{BB962C8B-B14F-4D97-AF65-F5344CB8AC3E}">
        <p14:creationId xmlns:p14="http://schemas.microsoft.com/office/powerpoint/2010/main" val="7733314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46DB8-C747-8CD9-70C6-4C544EBD9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610AF-C3EC-571E-158D-99F17DFAA830}"/>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902D1B33-5729-7423-D0B5-2D9F3CA1C9A2}"/>
              </a:ext>
            </a:extLst>
          </p:cNvPr>
          <p:cNvSpPr>
            <a:spLocks noGrp="1"/>
          </p:cNvSpPr>
          <p:nvPr>
            <p:ph idx="1"/>
          </p:nvPr>
        </p:nvSpPr>
        <p:spPr/>
        <p:txBody>
          <a:bodyPr>
            <a:normAutofit fontScale="92500" lnSpcReduction="10000"/>
          </a:bodyPr>
          <a:lstStyle/>
          <a:p>
            <a:pPr algn="l">
              <a:spcBef>
                <a:spcPts val="1125"/>
              </a:spcBef>
              <a:spcAft>
                <a:spcPts val="900"/>
              </a:spcAft>
            </a:pPr>
            <a:r>
              <a:rPr lang="en-GB" b="1" i="0" dirty="0">
                <a:effectLst/>
                <a:latin typeface="+mj-lt"/>
              </a:rPr>
              <a:t>find() :</a:t>
            </a:r>
          </a:p>
          <a:p>
            <a:pPr algn="l">
              <a:spcBef>
                <a:spcPts val="1125"/>
              </a:spcBef>
              <a:spcAft>
                <a:spcPts val="900"/>
              </a:spcAft>
            </a:pPr>
            <a:r>
              <a:rPr lang="en-GB" i="0" dirty="0">
                <a:effectLst/>
                <a:latin typeface="+mj-lt"/>
              </a:rPr>
              <a:t>As we can see, this method is somewhat similar to the index() method. The major difference being that index() raises an exception if value is absent whereas find() does not.</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sz="3500" i="0" dirty="0">
                <a:effectLst/>
                <a:latin typeface="+mj-lt"/>
              </a:rPr>
              <a:t>str1 = " Welcome to the Python."</a:t>
            </a:r>
          </a:p>
          <a:p>
            <a:pPr marL="400050" lvl="1" indent="0">
              <a:spcBef>
                <a:spcPts val="1125"/>
              </a:spcBef>
              <a:spcAft>
                <a:spcPts val="900"/>
              </a:spcAft>
              <a:buNone/>
            </a:pPr>
            <a:r>
              <a:rPr lang="en-GB" sz="3500" i="0" dirty="0">
                <a:effectLst/>
                <a:latin typeface="+mj-lt"/>
              </a:rPr>
              <a:t>print(str1.find(“is"))</a:t>
            </a:r>
          </a:p>
        </p:txBody>
      </p:sp>
    </p:spTree>
    <p:extLst>
      <p:ext uri="{BB962C8B-B14F-4D97-AF65-F5344CB8AC3E}">
        <p14:creationId xmlns:p14="http://schemas.microsoft.com/office/powerpoint/2010/main" val="725345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84C23-94FF-9621-2B8B-9D69F2284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5C07D-0F4C-C348-34EC-0A9E8F06864E}"/>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6A0A61B7-AE5E-0AF3-C92B-0F6EB1A11DC9}"/>
              </a:ext>
            </a:extLst>
          </p:cNvPr>
          <p:cNvSpPr>
            <a:spLocks noGrp="1"/>
          </p:cNvSpPr>
          <p:nvPr>
            <p:ph idx="1"/>
          </p:nvPr>
        </p:nvSpPr>
        <p:spPr/>
        <p:txBody>
          <a:bodyPr>
            <a:normAutofit fontScale="92500" lnSpcReduction="10000"/>
          </a:bodyPr>
          <a:lstStyle/>
          <a:p>
            <a:pPr algn="l">
              <a:spcBef>
                <a:spcPts val="1125"/>
              </a:spcBef>
              <a:spcAft>
                <a:spcPts val="900"/>
              </a:spcAft>
            </a:pPr>
            <a:r>
              <a:rPr lang="en-GB" b="1" i="0" dirty="0">
                <a:effectLst/>
                <a:latin typeface="+mj-lt"/>
              </a:rPr>
              <a:t>index() :</a:t>
            </a:r>
          </a:p>
          <a:p>
            <a:pPr algn="l">
              <a:spcBef>
                <a:spcPts val="1125"/>
              </a:spcBef>
              <a:spcAft>
                <a:spcPts val="900"/>
              </a:spcAft>
            </a:pPr>
            <a:r>
              <a:rPr lang="en-GB" i="0" dirty="0">
                <a:effectLst/>
                <a:latin typeface="+mj-lt"/>
              </a:rPr>
              <a:t>The index() method searches for the first occurrence of the given value and returns the index where it is present. If given value is absent from the string then raise an exception.</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sz="3500" i="0" dirty="0">
                <a:effectLst/>
                <a:latin typeface="+mj-lt"/>
              </a:rPr>
              <a:t>str1 = " Welcome to the Python."</a:t>
            </a:r>
          </a:p>
          <a:p>
            <a:pPr marL="400050" lvl="1" indent="0">
              <a:spcBef>
                <a:spcPts val="1125"/>
              </a:spcBef>
              <a:spcAft>
                <a:spcPts val="900"/>
              </a:spcAft>
              <a:buNone/>
            </a:pPr>
            <a:r>
              <a:rPr lang="en-GB" sz="3500" i="0" dirty="0">
                <a:effectLst/>
                <a:latin typeface="+mj-lt"/>
              </a:rPr>
              <a:t>print(str1.</a:t>
            </a:r>
            <a:r>
              <a:rPr lang="en-GB" sz="3500" dirty="0">
                <a:latin typeface="+mj-lt"/>
              </a:rPr>
              <a:t>index</a:t>
            </a:r>
            <a:r>
              <a:rPr lang="en-GB" sz="3500" i="0" dirty="0">
                <a:effectLst/>
                <a:latin typeface="+mj-lt"/>
              </a:rPr>
              <a:t>(“is"))</a:t>
            </a:r>
          </a:p>
        </p:txBody>
      </p:sp>
    </p:spTree>
    <p:extLst>
      <p:ext uri="{BB962C8B-B14F-4D97-AF65-F5344CB8AC3E}">
        <p14:creationId xmlns:p14="http://schemas.microsoft.com/office/powerpoint/2010/main" val="356601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0F28C-84D2-DDEC-0039-1F4007F4C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1E6120-82BD-28C2-A830-EC0144E96AA5}"/>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F33522B4-C4BF-5E18-3889-D85DBE4FAB8A}"/>
              </a:ext>
            </a:extLst>
          </p:cNvPr>
          <p:cNvSpPr>
            <a:spLocks noGrp="1"/>
          </p:cNvSpPr>
          <p:nvPr>
            <p:ph idx="1"/>
          </p:nvPr>
        </p:nvSpPr>
        <p:spPr/>
        <p:txBody>
          <a:bodyPr>
            <a:normAutofit fontScale="92500" lnSpcReduction="10000"/>
          </a:bodyPr>
          <a:lstStyle/>
          <a:p>
            <a:pPr algn="l">
              <a:spcBef>
                <a:spcPts val="1125"/>
              </a:spcBef>
              <a:spcAft>
                <a:spcPts val="900"/>
              </a:spcAft>
            </a:pPr>
            <a:r>
              <a:rPr lang="en-GB" b="1" i="0" dirty="0" err="1">
                <a:effectLst/>
                <a:latin typeface="+mj-lt"/>
              </a:rPr>
              <a:t>isalnum</a:t>
            </a:r>
            <a:r>
              <a:rPr lang="en-GB" b="1" i="0" dirty="0">
                <a:effectLst/>
                <a:latin typeface="+mj-lt"/>
              </a:rPr>
              <a:t>() :</a:t>
            </a:r>
          </a:p>
          <a:p>
            <a:pPr algn="l">
              <a:spcBef>
                <a:spcPts val="1125"/>
              </a:spcBef>
              <a:spcAft>
                <a:spcPts val="900"/>
              </a:spcAft>
            </a:pPr>
            <a:r>
              <a:rPr lang="en-GB" i="0" dirty="0">
                <a:effectLst/>
                <a:latin typeface="+mj-lt"/>
              </a:rPr>
              <a:t>The </a:t>
            </a:r>
            <a:r>
              <a:rPr lang="en-GB" i="0" dirty="0" err="1">
                <a:effectLst/>
                <a:latin typeface="+mj-lt"/>
              </a:rPr>
              <a:t>isalnum</a:t>
            </a:r>
            <a:r>
              <a:rPr lang="en-GB" i="0" dirty="0">
                <a:effectLst/>
                <a:latin typeface="+mj-lt"/>
              </a:rPr>
              <a:t>() method returns True only if the entire string only consists of A-Z, a-z, 0-9. If any other characters or punctuations are present, then it returns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a:t>
            </a:r>
            <a:r>
              <a:rPr lang="en-GB" dirty="0" err="1">
                <a:latin typeface="+mj-lt"/>
              </a:rPr>
              <a:t>WelcomeToTheConsole</a:t>
            </a:r>
            <a:r>
              <a:rPr lang="en-GB" dirty="0">
                <a:latin typeface="+mj-lt"/>
              </a:rPr>
              <a:t>"</a:t>
            </a:r>
          </a:p>
          <a:p>
            <a:pPr marL="400050" lvl="1" indent="0">
              <a:spcBef>
                <a:spcPts val="1125"/>
              </a:spcBef>
              <a:spcAft>
                <a:spcPts val="900"/>
              </a:spcAft>
              <a:buNone/>
            </a:pPr>
            <a:r>
              <a:rPr lang="en-GB" dirty="0">
                <a:latin typeface="+mj-lt"/>
              </a:rPr>
              <a:t>print(str1.isalnum())</a:t>
            </a:r>
          </a:p>
        </p:txBody>
      </p:sp>
    </p:spTree>
    <p:extLst>
      <p:ext uri="{BB962C8B-B14F-4D97-AF65-F5344CB8AC3E}">
        <p14:creationId xmlns:p14="http://schemas.microsoft.com/office/powerpoint/2010/main" val="14544439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A62F7-8592-639D-8A3C-F146D90F0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D56B7-EA18-F039-9479-35A783301B5C}"/>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8F387089-29D2-B672-EF7E-2B9F74FC3B8A}"/>
              </a:ext>
            </a:extLst>
          </p:cNvPr>
          <p:cNvSpPr>
            <a:spLocks noGrp="1"/>
          </p:cNvSpPr>
          <p:nvPr>
            <p:ph idx="1"/>
          </p:nvPr>
        </p:nvSpPr>
        <p:spPr/>
        <p:txBody>
          <a:bodyPr>
            <a:normAutofit lnSpcReduction="10000"/>
          </a:bodyPr>
          <a:lstStyle/>
          <a:p>
            <a:pPr algn="l">
              <a:spcBef>
                <a:spcPts val="1125"/>
              </a:spcBef>
              <a:spcAft>
                <a:spcPts val="900"/>
              </a:spcAft>
            </a:pPr>
            <a:r>
              <a:rPr lang="en-GB" b="1" dirty="0" err="1">
                <a:latin typeface="+mj-lt"/>
              </a:rPr>
              <a:t>isalpha</a:t>
            </a:r>
            <a:r>
              <a:rPr lang="en-GB" b="1" dirty="0">
                <a:latin typeface="+mj-lt"/>
              </a:rPr>
              <a:t>() :</a:t>
            </a:r>
          </a:p>
          <a:p>
            <a:pPr algn="l">
              <a:spcBef>
                <a:spcPts val="1125"/>
              </a:spcBef>
              <a:spcAft>
                <a:spcPts val="900"/>
              </a:spcAft>
            </a:pPr>
            <a:r>
              <a:rPr lang="en-GB" dirty="0">
                <a:latin typeface="+mj-lt"/>
              </a:rPr>
              <a:t>The </a:t>
            </a:r>
            <a:r>
              <a:rPr lang="en-GB" dirty="0" err="1">
                <a:latin typeface="+mj-lt"/>
              </a:rPr>
              <a:t>isalnum</a:t>
            </a:r>
            <a:r>
              <a:rPr lang="en-GB" dirty="0">
                <a:latin typeface="+mj-lt"/>
              </a:rPr>
              <a:t>() method returns True only if the entire string only consists of A-Z, a-z. If any other characters or punctuations or numbers(0-9) are present, then it returns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"Welcome"</a:t>
            </a:r>
          </a:p>
          <a:p>
            <a:pPr marL="400050" lvl="1" indent="0">
              <a:spcBef>
                <a:spcPts val="1125"/>
              </a:spcBef>
              <a:spcAft>
                <a:spcPts val="900"/>
              </a:spcAft>
              <a:buNone/>
            </a:pPr>
            <a:r>
              <a:rPr lang="en-GB" dirty="0">
                <a:latin typeface="+mj-lt"/>
              </a:rPr>
              <a:t>print(str1.isalpha())</a:t>
            </a:r>
          </a:p>
        </p:txBody>
      </p:sp>
    </p:spTree>
    <p:extLst>
      <p:ext uri="{BB962C8B-B14F-4D97-AF65-F5344CB8AC3E}">
        <p14:creationId xmlns:p14="http://schemas.microsoft.com/office/powerpoint/2010/main" val="2780531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0624E-A197-ABE9-1357-F56585344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AC1FE-2B96-E00E-B99B-B54CD3FC40E5}"/>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532A6174-0411-208C-42A2-CFEECDF6019A}"/>
              </a:ext>
            </a:extLst>
          </p:cNvPr>
          <p:cNvSpPr>
            <a:spLocks noGrp="1"/>
          </p:cNvSpPr>
          <p:nvPr>
            <p:ph idx="1"/>
          </p:nvPr>
        </p:nvSpPr>
        <p:spPr/>
        <p:txBody>
          <a:bodyPr>
            <a:normAutofit/>
          </a:bodyPr>
          <a:lstStyle/>
          <a:p>
            <a:pPr algn="l">
              <a:spcBef>
                <a:spcPts val="1125"/>
              </a:spcBef>
              <a:spcAft>
                <a:spcPts val="900"/>
              </a:spcAft>
            </a:pPr>
            <a:r>
              <a:rPr lang="en-GB" b="1" dirty="0" err="1">
                <a:latin typeface="+mj-lt"/>
              </a:rPr>
              <a:t>islower</a:t>
            </a:r>
            <a:r>
              <a:rPr lang="en-GB" b="1" dirty="0">
                <a:latin typeface="+mj-lt"/>
              </a:rPr>
              <a:t>() :</a:t>
            </a:r>
          </a:p>
          <a:p>
            <a:pPr algn="l">
              <a:spcBef>
                <a:spcPts val="1125"/>
              </a:spcBef>
              <a:spcAft>
                <a:spcPts val="900"/>
              </a:spcAft>
            </a:pPr>
            <a:r>
              <a:rPr lang="en-GB" dirty="0">
                <a:latin typeface="+mj-lt"/>
              </a:rPr>
              <a:t>The </a:t>
            </a:r>
            <a:r>
              <a:rPr lang="en-GB" dirty="0" err="1">
                <a:latin typeface="+mj-lt"/>
              </a:rPr>
              <a:t>islower</a:t>
            </a:r>
            <a:r>
              <a:rPr lang="en-GB" dirty="0">
                <a:latin typeface="+mj-lt"/>
              </a:rPr>
              <a:t>() method returns True if all the characters in the string are lower case, else it returns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"hello world"</a:t>
            </a:r>
          </a:p>
          <a:p>
            <a:pPr marL="400050" lvl="1" indent="0">
              <a:spcBef>
                <a:spcPts val="1125"/>
              </a:spcBef>
              <a:spcAft>
                <a:spcPts val="900"/>
              </a:spcAft>
              <a:buNone/>
            </a:pPr>
            <a:r>
              <a:rPr lang="en-GB" dirty="0">
                <a:latin typeface="+mj-lt"/>
              </a:rPr>
              <a:t>print(str1.islower())</a:t>
            </a:r>
          </a:p>
        </p:txBody>
      </p:sp>
    </p:spTree>
    <p:extLst>
      <p:ext uri="{BB962C8B-B14F-4D97-AF65-F5344CB8AC3E}">
        <p14:creationId xmlns:p14="http://schemas.microsoft.com/office/powerpoint/2010/main" val="40102310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6909-574E-749D-CE8D-A5A8DF431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C51A7-507B-9625-4790-3B95971413A0}"/>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357C3CF6-BB0D-3169-3358-3FF35071B0B0}"/>
              </a:ext>
            </a:extLst>
          </p:cNvPr>
          <p:cNvSpPr>
            <a:spLocks noGrp="1"/>
          </p:cNvSpPr>
          <p:nvPr>
            <p:ph idx="1"/>
          </p:nvPr>
        </p:nvSpPr>
        <p:spPr/>
        <p:txBody>
          <a:bodyPr>
            <a:normAutofit fontScale="85000" lnSpcReduction="10000"/>
          </a:bodyPr>
          <a:lstStyle/>
          <a:p>
            <a:pPr algn="l">
              <a:spcBef>
                <a:spcPts val="1125"/>
              </a:spcBef>
              <a:spcAft>
                <a:spcPts val="900"/>
              </a:spcAft>
            </a:pPr>
            <a:r>
              <a:rPr lang="en-GB" b="1" dirty="0" err="1">
                <a:latin typeface="+mj-lt"/>
              </a:rPr>
              <a:t>isspace</a:t>
            </a:r>
            <a:r>
              <a:rPr lang="en-GB" b="1" dirty="0">
                <a:latin typeface="+mj-lt"/>
              </a:rPr>
              <a:t>() :</a:t>
            </a:r>
          </a:p>
          <a:p>
            <a:pPr algn="l">
              <a:spcBef>
                <a:spcPts val="1125"/>
              </a:spcBef>
              <a:spcAft>
                <a:spcPts val="900"/>
              </a:spcAft>
            </a:pPr>
            <a:r>
              <a:rPr lang="en-GB" dirty="0">
                <a:latin typeface="+mj-lt"/>
              </a:rPr>
              <a:t>The </a:t>
            </a:r>
            <a:r>
              <a:rPr lang="en-GB" dirty="0" err="1">
                <a:latin typeface="+mj-lt"/>
              </a:rPr>
              <a:t>isspace</a:t>
            </a:r>
            <a:r>
              <a:rPr lang="en-GB" dirty="0">
                <a:latin typeface="+mj-lt"/>
              </a:rPr>
              <a:t>() method returns True only and only if the string contains white spaces, else returns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        "       #using Spacebar</a:t>
            </a:r>
          </a:p>
          <a:p>
            <a:pPr marL="400050" lvl="1" indent="0">
              <a:spcBef>
                <a:spcPts val="1125"/>
              </a:spcBef>
              <a:spcAft>
                <a:spcPts val="900"/>
              </a:spcAft>
              <a:buNone/>
            </a:pPr>
            <a:r>
              <a:rPr lang="en-GB" dirty="0">
                <a:latin typeface="+mj-lt"/>
              </a:rPr>
              <a:t>print(str1.isspace())</a:t>
            </a:r>
          </a:p>
          <a:p>
            <a:pPr marL="400050" lvl="1" indent="0">
              <a:spcBef>
                <a:spcPts val="1125"/>
              </a:spcBef>
              <a:spcAft>
                <a:spcPts val="900"/>
              </a:spcAft>
              <a:buNone/>
            </a:pPr>
            <a:r>
              <a:rPr lang="en-GB" dirty="0">
                <a:latin typeface="+mj-lt"/>
              </a:rPr>
              <a:t>str2 = "        "       #using Tab</a:t>
            </a:r>
          </a:p>
          <a:p>
            <a:pPr marL="400050" lvl="1" indent="0">
              <a:spcBef>
                <a:spcPts val="1125"/>
              </a:spcBef>
              <a:spcAft>
                <a:spcPts val="900"/>
              </a:spcAft>
              <a:buNone/>
            </a:pPr>
            <a:r>
              <a:rPr lang="en-GB" dirty="0">
                <a:latin typeface="+mj-lt"/>
              </a:rPr>
              <a:t>print(str2.isspace())</a:t>
            </a:r>
          </a:p>
        </p:txBody>
      </p:sp>
    </p:spTree>
    <p:extLst>
      <p:ext uri="{BB962C8B-B14F-4D97-AF65-F5344CB8AC3E}">
        <p14:creationId xmlns:p14="http://schemas.microsoft.com/office/powerpoint/2010/main" val="36802099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DFE2-D02D-9D6A-3F22-85B1D610C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85B05-6EC1-47E8-84A6-6D4011E99055}"/>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D854EADF-C8D6-0323-9F71-2AC424B4F23B}"/>
              </a:ext>
            </a:extLst>
          </p:cNvPr>
          <p:cNvSpPr>
            <a:spLocks noGrp="1"/>
          </p:cNvSpPr>
          <p:nvPr>
            <p:ph idx="1"/>
          </p:nvPr>
        </p:nvSpPr>
        <p:spPr/>
        <p:txBody>
          <a:bodyPr>
            <a:normAutofit/>
          </a:bodyPr>
          <a:lstStyle/>
          <a:p>
            <a:pPr algn="l">
              <a:spcBef>
                <a:spcPts val="1125"/>
              </a:spcBef>
              <a:spcAft>
                <a:spcPts val="900"/>
              </a:spcAft>
            </a:pPr>
            <a:r>
              <a:rPr lang="en-GB" b="1" dirty="0" err="1">
                <a:latin typeface="+mj-lt"/>
              </a:rPr>
              <a:t>istitle</a:t>
            </a:r>
            <a:r>
              <a:rPr lang="en-GB" b="1" dirty="0">
                <a:latin typeface="+mj-lt"/>
              </a:rPr>
              <a:t>() :</a:t>
            </a:r>
          </a:p>
          <a:p>
            <a:pPr algn="l">
              <a:spcBef>
                <a:spcPts val="1125"/>
              </a:spcBef>
              <a:spcAft>
                <a:spcPts val="900"/>
              </a:spcAft>
            </a:pPr>
            <a:r>
              <a:rPr lang="en-GB" dirty="0">
                <a:latin typeface="+mj-lt"/>
              </a:rPr>
              <a:t>The </a:t>
            </a:r>
            <a:r>
              <a:rPr lang="en-GB" dirty="0" err="1">
                <a:latin typeface="+mj-lt"/>
              </a:rPr>
              <a:t>istitile</a:t>
            </a:r>
            <a:r>
              <a:rPr lang="en-GB" dirty="0">
                <a:latin typeface="+mj-lt"/>
              </a:rPr>
              <a:t>() returns True only if the first letter of each word of the string is capitalized, else it returns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"World Health Organization" </a:t>
            </a:r>
          </a:p>
          <a:p>
            <a:pPr marL="400050" lvl="1" indent="0">
              <a:spcBef>
                <a:spcPts val="1125"/>
              </a:spcBef>
              <a:spcAft>
                <a:spcPts val="900"/>
              </a:spcAft>
              <a:buNone/>
            </a:pPr>
            <a:r>
              <a:rPr lang="en-GB" dirty="0">
                <a:latin typeface="+mj-lt"/>
              </a:rPr>
              <a:t>print(str1.istitle())</a:t>
            </a:r>
          </a:p>
        </p:txBody>
      </p:sp>
    </p:spTree>
    <p:extLst>
      <p:ext uri="{BB962C8B-B14F-4D97-AF65-F5344CB8AC3E}">
        <p14:creationId xmlns:p14="http://schemas.microsoft.com/office/powerpoint/2010/main" val="27076181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F741-8E61-187B-C061-233618494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89978-A21D-1F75-2753-CECE546BD005}"/>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E8E360FC-7564-E16C-AA13-1CF8B5A777D8}"/>
              </a:ext>
            </a:extLst>
          </p:cNvPr>
          <p:cNvSpPr>
            <a:spLocks noGrp="1"/>
          </p:cNvSpPr>
          <p:nvPr>
            <p:ph idx="1"/>
          </p:nvPr>
        </p:nvSpPr>
        <p:spPr/>
        <p:txBody>
          <a:bodyPr>
            <a:normAutofit/>
          </a:bodyPr>
          <a:lstStyle/>
          <a:p>
            <a:pPr algn="l">
              <a:spcBef>
                <a:spcPts val="1125"/>
              </a:spcBef>
              <a:spcAft>
                <a:spcPts val="900"/>
              </a:spcAft>
            </a:pPr>
            <a:r>
              <a:rPr lang="en-GB" b="1" dirty="0" err="1">
                <a:latin typeface="+mj-lt"/>
              </a:rPr>
              <a:t>isupper</a:t>
            </a:r>
            <a:r>
              <a:rPr lang="en-GB" b="1" dirty="0">
                <a:latin typeface="+mj-lt"/>
              </a:rPr>
              <a:t>() :</a:t>
            </a:r>
          </a:p>
          <a:p>
            <a:pPr algn="l">
              <a:spcBef>
                <a:spcPts val="1125"/>
              </a:spcBef>
              <a:spcAft>
                <a:spcPts val="900"/>
              </a:spcAft>
            </a:pPr>
            <a:r>
              <a:rPr lang="en-GB" dirty="0">
                <a:latin typeface="+mj-lt"/>
              </a:rPr>
              <a:t>The </a:t>
            </a:r>
            <a:r>
              <a:rPr lang="en-GB" dirty="0" err="1">
                <a:latin typeface="+mj-lt"/>
              </a:rPr>
              <a:t>isupper</a:t>
            </a:r>
            <a:r>
              <a:rPr lang="en-GB" dirty="0">
                <a:latin typeface="+mj-lt"/>
              </a:rPr>
              <a:t>() method returns True if all the characters in the string are upper case, else it returns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"WORLD HEALTH ORGANIZATION" </a:t>
            </a:r>
          </a:p>
          <a:p>
            <a:pPr marL="400050" lvl="1" indent="0">
              <a:spcBef>
                <a:spcPts val="1125"/>
              </a:spcBef>
              <a:spcAft>
                <a:spcPts val="900"/>
              </a:spcAft>
              <a:buNone/>
            </a:pPr>
            <a:r>
              <a:rPr lang="en-GB" dirty="0">
                <a:latin typeface="+mj-lt"/>
              </a:rPr>
              <a:t>print(str1.isupper())</a:t>
            </a:r>
          </a:p>
        </p:txBody>
      </p:sp>
    </p:spTree>
    <p:extLst>
      <p:ext uri="{BB962C8B-B14F-4D97-AF65-F5344CB8AC3E}">
        <p14:creationId xmlns:p14="http://schemas.microsoft.com/office/powerpoint/2010/main" val="40980583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59778-5198-9D72-9993-341449BDC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2B951-E15F-001D-5FDB-2FBB518ADC41}"/>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A1884775-CCEF-D6A8-C1A2-245DB6F45767}"/>
              </a:ext>
            </a:extLst>
          </p:cNvPr>
          <p:cNvSpPr>
            <a:spLocks noGrp="1"/>
          </p:cNvSpPr>
          <p:nvPr>
            <p:ph idx="1"/>
          </p:nvPr>
        </p:nvSpPr>
        <p:spPr/>
        <p:txBody>
          <a:bodyPr>
            <a:normAutofit/>
          </a:bodyPr>
          <a:lstStyle/>
          <a:p>
            <a:pPr algn="l">
              <a:spcBef>
                <a:spcPts val="1125"/>
              </a:spcBef>
              <a:spcAft>
                <a:spcPts val="900"/>
              </a:spcAft>
            </a:pPr>
            <a:r>
              <a:rPr lang="en-GB" b="1" dirty="0" err="1">
                <a:latin typeface="+mj-lt"/>
              </a:rPr>
              <a:t>startswith</a:t>
            </a:r>
            <a:r>
              <a:rPr lang="en-GB" b="1" dirty="0">
                <a:latin typeface="+mj-lt"/>
              </a:rPr>
              <a:t>() :</a:t>
            </a:r>
          </a:p>
          <a:p>
            <a:pPr algn="l">
              <a:spcBef>
                <a:spcPts val="1125"/>
              </a:spcBef>
              <a:spcAft>
                <a:spcPts val="900"/>
              </a:spcAft>
            </a:pPr>
            <a:r>
              <a:rPr lang="en-GB" dirty="0">
                <a:latin typeface="+mj-lt"/>
              </a:rPr>
              <a:t>The </a:t>
            </a:r>
            <a:r>
              <a:rPr lang="en-GB" dirty="0" err="1">
                <a:latin typeface="+mj-lt"/>
              </a:rPr>
              <a:t>startswith</a:t>
            </a:r>
            <a:r>
              <a:rPr lang="en-GB" dirty="0">
                <a:latin typeface="+mj-lt"/>
              </a:rPr>
              <a:t>() method checks if the string starts with a given value. If yes then return True, else return False.</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"Python is a Interpreted Language" </a:t>
            </a:r>
          </a:p>
          <a:p>
            <a:pPr marL="400050" lvl="1" indent="0">
              <a:spcBef>
                <a:spcPts val="1125"/>
              </a:spcBef>
              <a:spcAft>
                <a:spcPts val="900"/>
              </a:spcAft>
              <a:buNone/>
            </a:pPr>
            <a:r>
              <a:rPr lang="en-GB" dirty="0">
                <a:latin typeface="+mj-lt"/>
              </a:rPr>
              <a:t>print(str1.startswith("Python"))</a:t>
            </a:r>
          </a:p>
        </p:txBody>
      </p:sp>
    </p:spTree>
    <p:extLst>
      <p:ext uri="{BB962C8B-B14F-4D97-AF65-F5344CB8AC3E}">
        <p14:creationId xmlns:p14="http://schemas.microsoft.com/office/powerpoint/2010/main" val="10788208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4B1C-696D-663B-4B3E-F63661F1C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B11E6-980E-2E0F-A11F-5CAE3C9DCFE7}"/>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7CFA13CE-AC15-91CA-CE0D-5664D40B42FC}"/>
              </a:ext>
            </a:extLst>
          </p:cNvPr>
          <p:cNvSpPr>
            <a:spLocks noGrp="1"/>
          </p:cNvSpPr>
          <p:nvPr>
            <p:ph idx="1"/>
          </p:nvPr>
        </p:nvSpPr>
        <p:spPr/>
        <p:txBody>
          <a:bodyPr>
            <a:normAutofit/>
          </a:bodyPr>
          <a:lstStyle/>
          <a:p>
            <a:pPr algn="l">
              <a:spcBef>
                <a:spcPts val="1125"/>
              </a:spcBef>
              <a:spcAft>
                <a:spcPts val="900"/>
              </a:spcAft>
            </a:pPr>
            <a:r>
              <a:rPr lang="en-GB" b="1" dirty="0" err="1">
                <a:latin typeface="+mj-lt"/>
              </a:rPr>
              <a:t>swapcase</a:t>
            </a:r>
            <a:r>
              <a:rPr lang="en-GB" b="1" dirty="0">
                <a:latin typeface="+mj-lt"/>
              </a:rPr>
              <a:t>() :</a:t>
            </a:r>
          </a:p>
          <a:p>
            <a:pPr algn="l">
              <a:spcBef>
                <a:spcPts val="1125"/>
              </a:spcBef>
              <a:spcAft>
                <a:spcPts val="900"/>
              </a:spcAft>
            </a:pPr>
            <a:r>
              <a:rPr lang="en-GB" dirty="0">
                <a:latin typeface="+mj-lt"/>
              </a:rPr>
              <a:t>The </a:t>
            </a:r>
            <a:r>
              <a:rPr lang="en-GB" dirty="0" err="1">
                <a:latin typeface="+mj-lt"/>
              </a:rPr>
              <a:t>swapcase</a:t>
            </a:r>
            <a:r>
              <a:rPr lang="en-GB" dirty="0">
                <a:latin typeface="+mj-lt"/>
              </a:rPr>
              <a:t>() method changes the character casing of the string. Upper case are converted to lower case and lower case to upper case.</a:t>
            </a:r>
          </a:p>
          <a:p>
            <a:pPr algn="l">
              <a:spcBef>
                <a:spcPts val="1125"/>
              </a:spcBef>
              <a:spcAft>
                <a:spcPts val="900"/>
              </a:spcAft>
            </a:pPr>
            <a:r>
              <a:rPr lang="en-GB" dirty="0">
                <a:latin typeface="+mj-lt"/>
              </a:rPr>
              <a:t>Example:</a:t>
            </a:r>
          </a:p>
          <a:p>
            <a:pPr marL="0" indent="0" algn="l">
              <a:spcBef>
                <a:spcPts val="1125"/>
              </a:spcBef>
              <a:spcAft>
                <a:spcPts val="900"/>
              </a:spcAft>
              <a:buNone/>
            </a:pPr>
            <a:r>
              <a:rPr lang="en-GB" dirty="0">
                <a:latin typeface="+mj-lt"/>
              </a:rPr>
              <a:t>	str1 = "Python is a Interpreted Language“</a:t>
            </a:r>
          </a:p>
          <a:p>
            <a:pPr marL="0" indent="0" algn="l">
              <a:spcBef>
                <a:spcPts val="1125"/>
              </a:spcBef>
              <a:spcAft>
                <a:spcPts val="900"/>
              </a:spcAft>
              <a:buNone/>
            </a:pPr>
            <a:r>
              <a:rPr lang="en-GB" dirty="0">
                <a:latin typeface="+mj-lt"/>
              </a:rPr>
              <a:t>	print(str1.swapcase())</a:t>
            </a:r>
          </a:p>
        </p:txBody>
      </p:sp>
    </p:spTree>
    <p:extLst>
      <p:ext uri="{BB962C8B-B14F-4D97-AF65-F5344CB8AC3E}">
        <p14:creationId xmlns:p14="http://schemas.microsoft.com/office/powerpoint/2010/main" val="1654697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BD7F4-592D-3A6C-8DBD-2557999B6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88B2F-C355-10AF-D906-F207B09C4718}"/>
              </a:ext>
            </a:extLst>
          </p:cNvPr>
          <p:cNvSpPr>
            <a:spLocks noGrp="1"/>
          </p:cNvSpPr>
          <p:nvPr>
            <p:ph type="title"/>
          </p:nvPr>
        </p:nvSpPr>
        <p:spPr/>
        <p:txBody>
          <a:bodyPr/>
          <a:lstStyle/>
          <a:p>
            <a:r>
              <a:rPr lang="en-GB" dirty="0"/>
              <a:t>String methods</a:t>
            </a:r>
            <a:endParaRPr lang="en-AE" dirty="0"/>
          </a:p>
        </p:txBody>
      </p:sp>
      <p:sp>
        <p:nvSpPr>
          <p:cNvPr id="3" name="Content Placeholder 2">
            <a:extLst>
              <a:ext uri="{FF2B5EF4-FFF2-40B4-BE49-F238E27FC236}">
                <a16:creationId xmlns:a16="http://schemas.microsoft.com/office/drawing/2014/main" id="{0A4296C2-F43A-C0B9-B074-788EBD9F1808}"/>
              </a:ext>
            </a:extLst>
          </p:cNvPr>
          <p:cNvSpPr>
            <a:spLocks noGrp="1"/>
          </p:cNvSpPr>
          <p:nvPr>
            <p:ph idx="1"/>
          </p:nvPr>
        </p:nvSpPr>
        <p:spPr/>
        <p:txBody>
          <a:bodyPr>
            <a:normAutofit/>
          </a:bodyPr>
          <a:lstStyle/>
          <a:p>
            <a:pPr algn="l">
              <a:spcBef>
                <a:spcPts val="1125"/>
              </a:spcBef>
              <a:spcAft>
                <a:spcPts val="900"/>
              </a:spcAft>
            </a:pPr>
            <a:r>
              <a:rPr lang="en-GB" b="1" dirty="0">
                <a:latin typeface="+mj-lt"/>
              </a:rPr>
              <a:t>title() :</a:t>
            </a:r>
          </a:p>
          <a:p>
            <a:pPr algn="l">
              <a:spcBef>
                <a:spcPts val="1125"/>
              </a:spcBef>
              <a:spcAft>
                <a:spcPts val="900"/>
              </a:spcAft>
            </a:pPr>
            <a:r>
              <a:rPr lang="en-GB" dirty="0">
                <a:latin typeface="+mj-lt"/>
              </a:rPr>
              <a:t>The title() method capitalizes each letter of the word within the string.</a:t>
            </a:r>
          </a:p>
          <a:p>
            <a:pPr algn="l">
              <a:spcBef>
                <a:spcPts val="1125"/>
              </a:spcBef>
              <a:spcAft>
                <a:spcPts val="900"/>
              </a:spcAft>
            </a:pPr>
            <a:r>
              <a:rPr lang="en-GB" dirty="0">
                <a:latin typeface="+mj-lt"/>
              </a:rPr>
              <a:t>Example:</a:t>
            </a:r>
          </a:p>
          <a:p>
            <a:pPr marL="400050" lvl="1" indent="0">
              <a:spcBef>
                <a:spcPts val="1125"/>
              </a:spcBef>
              <a:spcAft>
                <a:spcPts val="900"/>
              </a:spcAft>
              <a:buNone/>
            </a:pPr>
            <a:r>
              <a:rPr lang="en-GB" dirty="0">
                <a:latin typeface="+mj-lt"/>
              </a:rPr>
              <a:t>str1 = "WORLD HEALTH ORGANIZATION" </a:t>
            </a:r>
          </a:p>
          <a:p>
            <a:pPr marL="400050" lvl="1" indent="0">
              <a:spcBef>
                <a:spcPts val="1125"/>
              </a:spcBef>
              <a:spcAft>
                <a:spcPts val="900"/>
              </a:spcAft>
              <a:buNone/>
            </a:pPr>
            <a:r>
              <a:rPr lang="en-GB" dirty="0">
                <a:latin typeface="+mj-lt"/>
              </a:rPr>
              <a:t>print(str1.isupper())</a:t>
            </a:r>
          </a:p>
        </p:txBody>
      </p:sp>
    </p:spTree>
    <p:extLst>
      <p:ext uri="{BB962C8B-B14F-4D97-AF65-F5344CB8AC3E}">
        <p14:creationId xmlns:p14="http://schemas.microsoft.com/office/powerpoint/2010/main" val="2189287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Conditional Statements</a:t>
            </a:r>
          </a:p>
        </p:txBody>
      </p:sp>
      <p:sp>
        <p:nvSpPr>
          <p:cNvPr id="3" name="Content Placeholder 2"/>
          <p:cNvSpPr>
            <a:spLocks noGrp="1"/>
          </p:cNvSpPr>
          <p:nvPr>
            <p:ph idx="1"/>
          </p:nvPr>
        </p:nvSpPr>
        <p:spPr/>
        <p:txBody>
          <a:bodyPr>
            <a:normAutofit fontScale="92500" lnSpcReduction="20000"/>
          </a:bodyPr>
          <a:lstStyle/>
          <a:p>
            <a:pPr algn="just"/>
            <a:r>
              <a:rPr lang="en-GB" dirty="0"/>
              <a:t>Conditional statements allow a program to </a:t>
            </a:r>
            <a:r>
              <a:rPr lang="en-GB" b="1" dirty="0"/>
              <a:t>make decisions</a:t>
            </a:r>
            <a:r>
              <a:rPr lang="en-GB" dirty="0"/>
              <a:t> based on certain conditions.</a:t>
            </a:r>
          </a:p>
          <a:p>
            <a:pPr algn="just"/>
            <a:r>
              <a:rPr dirty="0"/>
              <a:t>Used to control the flow of execution based on conditions.</a:t>
            </a:r>
            <a:endParaRPr lang="en-GB" dirty="0"/>
          </a:p>
          <a:p>
            <a:pPr algn="just"/>
            <a:r>
              <a:rPr lang="en-GB" dirty="0"/>
              <a:t>The conditional statements are classified into following types:</a:t>
            </a:r>
          </a:p>
          <a:p>
            <a:pPr algn="l">
              <a:buFont typeface="Arial" panose="020B0604020202020204" pitchFamily="34" charset="0"/>
              <a:buChar char="•"/>
            </a:pPr>
            <a:r>
              <a:rPr lang="en-GB" b="0" i="0" dirty="0">
                <a:solidFill>
                  <a:srgbClr val="000000"/>
                </a:solidFill>
                <a:effectLst/>
                <a:latin typeface="Poppins" panose="00000500000000000000" pitchFamily="2" charset="0"/>
              </a:rPr>
              <a:t>if</a:t>
            </a:r>
          </a:p>
          <a:p>
            <a:pPr algn="l">
              <a:buFont typeface="Arial" panose="020B0604020202020204" pitchFamily="34" charset="0"/>
              <a:buChar char="•"/>
            </a:pPr>
            <a:r>
              <a:rPr lang="en-GB" b="0" i="0" dirty="0">
                <a:solidFill>
                  <a:srgbClr val="000000"/>
                </a:solidFill>
                <a:effectLst/>
                <a:latin typeface="Poppins" panose="00000500000000000000" pitchFamily="2" charset="0"/>
              </a:rPr>
              <a:t>if-else</a:t>
            </a:r>
          </a:p>
          <a:p>
            <a:pPr algn="l">
              <a:buFont typeface="Arial" panose="020B0604020202020204" pitchFamily="34" charset="0"/>
              <a:buChar char="•"/>
            </a:pPr>
            <a:r>
              <a:rPr lang="en-GB" b="0" i="0" dirty="0">
                <a:solidFill>
                  <a:srgbClr val="000000"/>
                </a:solidFill>
                <a:effectLst/>
                <a:latin typeface="Poppins" panose="00000500000000000000" pitchFamily="2" charset="0"/>
              </a:rPr>
              <a:t>if-</a:t>
            </a:r>
            <a:r>
              <a:rPr lang="en-GB" b="0" i="0" dirty="0" err="1">
                <a:solidFill>
                  <a:srgbClr val="000000"/>
                </a:solidFill>
                <a:effectLst/>
                <a:latin typeface="Poppins" panose="00000500000000000000" pitchFamily="2" charset="0"/>
              </a:rPr>
              <a:t>elif</a:t>
            </a:r>
            <a:r>
              <a:rPr lang="en-GB" b="0" i="0" dirty="0">
                <a:solidFill>
                  <a:srgbClr val="000000"/>
                </a:solidFill>
                <a:effectLst/>
                <a:latin typeface="Poppins" panose="00000500000000000000" pitchFamily="2" charset="0"/>
              </a:rPr>
              <a:t>-else</a:t>
            </a:r>
          </a:p>
          <a:p>
            <a:pPr algn="l">
              <a:buFont typeface="Arial" panose="020B0604020202020204" pitchFamily="34" charset="0"/>
              <a:buChar char="•"/>
            </a:pPr>
            <a:r>
              <a:rPr lang="en-GB" b="0" i="0" dirty="0">
                <a:solidFill>
                  <a:srgbClr val="000000"/>
                </a:solidFill>
                <a:effectLst/>
                <a:latin typeface="Poppins" panose="00000500000000000000" pitchFamily="2" charset="0"/>
              </a:rPr>
              <a:t>nested if</a:t>
            </a:r>
            <a:endParaRPr dirty="0"/>
          </a:p>
          <a:p>
            <a:pPr marL="0" indent="0" algn="just">
              <a:buNone/>
            </a:pP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3F7D5-4904-6469-367F-6DE995DE04C1}"/>
              </a:ext>
            </a:extLst>
          </p:cNvPr>
          <p:cNvSpPr>
            <a:spLocks noGrp="1"/>
          </p:cNvSpPr>
          <p:nvPr>
            <p:ph type="title"/>
          </p:nvPr>
        </p:nvSpPr>
        <p:spPr/>
        <p:txBody>
          <a:bodyPr>
            <a:normAutofit/>
          </a:bodyPr>
          <a:lstStyle/>
          <a:p>
            <a:r>
              <a:rPr lang="en-GB" dirty="0"/>
              <a:t>If Statement</a:t>
            </a:r>
            <a:endParaRPr lang="en-AE" dirty="0"/>
          </a:p>
        </p:txBody>
      </p:sp>
      <p:sp>
        <p:nvSpPr>
          <p:cNvPr id="3" name="Content Placeholder 2">
            <a:extLst>
              <a:ext uri="{FF2B5EF4-FFF2-40B4-BE49-F238E27FC236}">
                <a16:creationId xmlns:a16="http://schemas.microsoft.com/office/drawing/2014/main" id="{0F09C732-19BE-6B12-BAEA-DF6FA6A8C37B}"/>
              </a:ext>
            </a:extLst>
          </p:cNvPr>
          <p:cNvSpPr>
            <a:spLocks noGrp="1"/>
          </p:cNvSpPr>
          <p:nvPr>
            <p:ph idx="1"/>
          </p:nvPr>
        </p:nvSpPr>
        <p:spPr/>
        <p:txBody>
          <a:bodyPr/>
          <a:lstStyle/>
          <a:p>
            <a:r>
              <a:rPr lang="en-GB" dirty="0"/>
              <a:t>Executes a block of code </a:t>
            </a:r>
            <a:r>
              <a:rPr lang="en-GB" b="1" dirty="0"/>
              <a:t>only if</a:t>
            </a:r>
            <a:r>
              <a:rPr lang="en-GB" dirty="0"/>
              <a:t> the given condition is </a:t>
            </a:r>
            <a:r>
              <a:rPr lang="en-GB" b="1" dirty="0"/>
              <a:t>true</a:t>
            </a:r>
            <a:r>
              <a:rPr lang="en-GB" dirty="0"/>
              <a:t>.</a:t>
            </a:r>
          </a:p>
          <a:p>
            <a:r>
              <a:rPr lang="en-GB" dirty="0"/>
              <a:t>Example:</a:t>
            </a:r>
          </a:p>
          <a:p>
            <a:pPr marL="400050" lvl="1" indent="0">
              <a:buNone/>
            </a:pPr>
            <a:r>
              <a:rPr lang="en-GB" sz="3200" dirty="0"/>
              <a:t>x = 10</a:t>
            </a:r>
          </a:p>
          <a:p>
            <a:pPr marL="400050" lvl="1" indent="0">
              <a:buNone/>
            </a:pPr>
            <a:r>
              <a:rPr lang="en-GB" sz="3200" dirty="0"/>
              <a:t>if x &gt; 5:</a:t>
            </a:r>
          </a:p>
          <a:p>
            <a:pPr marL="400050" lvl="1" indent="0">
              <a:buNone/>
            </a:pPr>
            <a:r>
              <a:rPr lang="en-GB" sz="3200" dirty="0"/>
              <a:t>    print("x is greater than 5")</a:t>
            </a:r>
          </a:p>
          <a:p>
            <a:pPr marL="0" indent="0">
              <a:buNone/>
            </a:pPr>
            <a:endParaRPr lang="en-AE" dirty="0"/>
          </a:p>
        </p:txBody>
      </p:sp>
    </p:spTree>
    <p:extLst>
      <p:ext uri="{BB962C8B-B14F-4D97-AF65-F5344CB8AC3E}">
        <p14:creationId xmlns:p14="http://schemas.microsoft.com/office/powerpoint/2010/main" val="8027343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D721-AC51-BB08-8746-18575EE279B5}"/>
              </a:ext>
            </a:extLst>
          </p:cNvPr>
          <p:cNvSpPr>
            <a:spLocks noGrp="1"/>
          </p:cNvSpPr>
          <p:nvPr>
            <p:ph type="title"/>
          </p:nvPr>
        </p:nvSpPr>
        <p:spPr/>
        <p:txBody>
          <a:bodyPr/>
          <a:lstStyle/>
          <a:p>
            <a:r>
              <a:rPr lang="en-GB" dirty="0"/>
              <a:t>If-Else Statement</a:t>
            </a:r>
            <a:endParaRPr lang="en-AE" dirty="0"/>
          </a:p>
        </p:txBody>
      </p:sp>
      <p:sp>
        <p:nvSpPr>
          <p:cNvPr id="3" name="Content Placeholder 2">
            <a:extLst>
              <a:ext uri="{FF2B5EF4-FFF2-40B4-BE49-F238E27FC236}">
                <a16:creationId xmlns:a16="http://schemas.microsoft.com/office/drawing/2014/main" id="{A360FD88-FBD2-CD08-4F47-226174423560}"/>
              </a:ext>
            </a:extLst>
          </p:cNvPr>
          <p:cNvSpPr>
            <a:spLocks noGrp="1"/>
          </p:cNvSpPr>
          <p:nvPr>
            <p:ph idx="1"/>
          </p:nvPr>
        </p:nvSpPr>
        <p:spPr/>
        <p:txBody>
          <a:bodyPr/>
          <a:lstStyle/>
          <a:p>
            <a:r>
              <a:rPr lang="en-GB" dirty="0"/>
              <a:t>Executes one block of code </a:t>
            </a:r>
            <a:r>
              <a:rPr lang="en-GB" b="1" dirty="0"/>
              <a:t>if the condition is true</a:t>
            </a:r>
            <a:r>
              <a:rPr lang="en-GB" dirty="0"/>
              <a:t>, otherwise executes another block.</a:t>
            </a:r>
          </a:p>
          <a:p>
            <a:r>
              <a:rPr lang="en-GB" dirty="0"/>
              <a:t>Example:</a:t>
            </a:r>
          </a:p>
          <a:p>
            <a:pPr marL="457200" lvl="1" indent="0">
              <a:buNone/>
            </a:pPr>
            <a:r>
              <a:rPr lang="en-GB" dirty="0"/>
              <a:t>x = 3</a:t>
            </a:r>
          </a:p>
          <a:p>
            <a:pPr marL="457200" lvl="1" indent="0">
              <a:buNone/>
            </a:pPr>
            <a:r>
              <a:rPr lang="en-GB" dirty="0"/>
              <a:t>if x &gt; 5:</a:t>
            </a:r>
          </a:p>
          <a:p>
            <a:pPr marL="457200" lvl="1" indent="0">
              <a:buNone/>
            </a:pPr>
            <a:r>
              <a:rPr lang="en-GB" dirty="0"/>
              <a:t>    print("x is greater than 5")</a:t>
            </a:r>
          </a:p>
          <a:p>
            <a:pPr marL="457200" lvl="1" indent="0">
              <a:buNone/>
            </a:pPr>
            <a:r>
              <a:rPr lang="en-GB" dirty="0"/>
              <a:t>else:</a:t>
            </a:r>
          </a:p>
          <a:p>
            <a:pPr marL="457200" lvl="1" indent="0">
              <a:buNone/>
            </a:pPr>
            <a:r>
              <a:rPr lang="en-GB" dirty="0"/>
              <a:t>    print("x is 5 or less")</a:t>
            </a:r>
          </a:p>
          <a:p>
            <a:pPr marL="457200" lvl="1" indent="0">
              <a:buNone/>
            </a:pPr>
            <a:endParaRPr lang="en-AE" dirty="0"/>
          </a:p>
        </p:txBody>
      </p:sp>
    </p:spTree>
    <p:extLst>
      <p:ext uri="{BB962C8B-B14F-4D97-AF65-F5344CB8AC3E}">
        <p14:creationId xmlns:p14="http://schemas.microsoft.com/office/powerpoint/2010/main" val="330026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7323C-C886-53B3-A7A3-FA2C6056FBCC}"/>
              </a:ext>
            </a:extLst>
          </p:cNvPr>
          <p:cNvSpPr>
            <a:spLocks noGrp="1"/>
          </p:cNvSpPr>
          <p:nvPr>
            <p:ph type="title"/>
          </p:nvPr>
        </p:nvSpPr>
        <p:spPr/>
        <p:txBody>
          <a:bodyPr>
            <a:normAutofit fontScale="90000"/>
          </a:bodyPr>
          <a:lstStyle/>
          <a:p>
            <a:r>
              <a:rPr lang="en-GB" dirty="0"/>
              <a:t>If-Elif-Else Statement (Multiple Conditions)</a:t>
            </a:r>
            <a:endParaRPr lang="en-AE" dirty="0"/>
          </a:p>
        </p:txBody>
      </p:sp>
      <p:sp>
        <p:nvSpPr>
          <p:cNvPr id="3" name="Content Placeholder 2">
            <a:extLst>
              <a:ext uri="{FF2B5EF4-FFF2-40B4-BE49-F238E27FC236}">
                <a16:creationId xmlns:a16="http://schemas.microsoft.com/office/drawing/2014/main" id="{4679DF05-3890-307B-B379-3CA46A90B4E5}"/>
              </a:ext>
            </a:extLst>
          </p:cNvPr>
          <p:cNvSpPr>
            <a:spLocks noGrp="1"/>
          </p:cNvSpPr>
          <p:nvPr>
            <p:ph idx="1"/>
          </p:nvPr>
        </p:nvSpPr>
        <p:spPr/>
        <p:txBody>
          <a:bodyPr>
            <a:normAutofit fontScale="92500"/>
          </a:bodyPr>
          <a:lstStyle/>
          <a:p>
            <a:pPr algn="just"/>
            <a:r>
              <a:rPr lang="en-GB" dirty="0"/>
              <a:t>Allows checking multiple conditions sequentially.</a:t>
            </a:r>
          </a:p>
          <a:p>
            <a:pPr algn="just"/>
            <a:r>
              <a:rPr lang="en-GB" dirty="0"/>
              <a:t>Example:</a:t>
            </a:r>
          </a:p>
          <a:p>
            <a:pPr marL="0" indent="0" algn="just">
              <a:buNone/>
            </a:pPr>
            <a:r>
              <a:rPr lang="en-AE" dirty="0"/>
              <a:t>	</a:t>
            </a:r>
            <a:r>
              <a:rPr lang="en-GB" dirty="0"/>
              <a:t>x = 10</a:t>
            </a:r>
          </a:p>
          <a:p>
            <a:pPr marL="400050" lvl="1" indent="0" algn="just">
              <a:buNone/>
            </a:pPr>
            <a:r>
              <a:rPr lang="en-GB" dirty="0"/>
              <a:t>if x &lt; 0:</a:t>
            </a:r>
          </a:p>
          <a:p>
            <a:pPr marL="400050" lvl="1" indent="0" algn="just">
              <a:buNone/>
            </a:pPr>
            <a:r>
              <a:rPr lang="en-GB" dirty="0"/>
              <a:t>    print("Negative number")</a:t>
            </a:r>
          </a:p>
          <a:p>
            <a:pPr marL="400050" lvl="1" indent="0" algn="just">
              <a:buNone/>
            </a:pPr>
            <a:r>
              <a:rPr lang="en-GB" dirty="0" err="1"/>
              <a:t>elif</a:t>
            </a:r>
            <a:r>
              <a:rPr lang="en-GB" dirty="0"/>
              <a:t> x == 0:</a:t>
            </a:r>
          </a:p>
          <a:p>
            <a:pPr marL="400050" lvl="1" indent="0" algn="just">
              <a:buNone/>
            </a:pPr>
            <a:r>
              <a:rPr lang="en-GB" dirty="0"/>
              <a:t>    print("Zero")</a:t>
            </a:r>
          </a:p>
          <a:p>
            <a:pPr marL="400050" lvl="1" indent="0" algn="just">
              <a:buNone/>
            </a:pPr>
            <a:r>
              <a:rPr lang="en-GB" dirty="0"/>
              <a:t>else:</a:t>
            </a:r>
          </a:p>
          <a:p>
            <a:pPr marL="400050" lvl="1" indent="0" algn="just">
              <a:buNone/>
            </a:pPr>
            <a:r>
              <a:rPr lang="en-GB" dirty="0"/>
              <a:t>    print("Positive number")</a:t>
            </a:r>
          </a:p>
          <a:p>
            <a:pPr marL="0" indent="0" algn="just">
              <a:buNone/>
            </a:pPr>
            <a:endParaRPr lang="en-AE" dirty="0"/>
          </a:p>
        </p:txBody>
      </p:sp>
    </p:spTree>
    <p:extLst>
      <p:ext uri="{BB962C8B-B14F-4D97-AF65-F5344CB8AC3E}">
        <p14:creationId xmlns:p14="http://schemas.microsoft.com/office/powerpoint/2010/main" val="1117995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2639C-36B6-F8C2-AE53-84EFE2245A06}"/>
              </a:ext>
            </a:extLst>
          </p:cNvPr>
          <p:cNvSpPr>
            <a:spLocks noGrp="1"/>
          </p:cNvSpPr>
          <p:nvPr>
            <p:ph type="title"/>
          </p:nvPr>
        </p:nvSpPr>
        <p:spPr/>
        <p:txBody>
          <a:bodyPr/>
          <a:lstStyle/>
          <a:p>
            <a:r>
              <a:rPr lang="en-GB" dirty="0"/>
              <a:t>Nested If Statements</a:t>
            </a:r>
            <a:endParaRPr lang="en-AE" dirty="0"/>
          </a:p>
        </p:txBody>
      </p:sp>
      <p:sp>
        <p:nvSpPr>
          <p:cNvPr id="3" name="Content Placeholder 2">
            <a:extLst>
              <a:ext uri="{FF2B5EF4-FFF2-40B4-BE49-F238E27FC236}">
                <a16:creationId xmlns:a16="http://schemas.microsoft.com/office/drawing/2014/main" id="{FE22AD40-7787-D2F2-6D79-593BB8CF8534}"/>
              </a:ext>
            </a:extLst>
          </p:cNvPr>
          <p:cNvSpPr>
            <a:spLocks noGrp="1"/>
          </p:cNvSpPr>
          <p:nvPr>
            <p:ph idx="1"/>
          </p:nvPr>
        </p:nvSpPr>
        <p:spPr/>
        <p:txBody>
          <a:bodyPr>
            <a:normAutofit lnSpcReduction="10000"/>
          </a:bodyPr>
          <a:lstStyle/>
          <a:p>
            <a:r>
              <a:rPr lang="en-GB" dirty="0"/>
              <a:t>An if statement inside another if statement.</a:t>
            </a:r>
          </a:p>
          <a:p>
            <a:r>
              <a:rPr lang="en-GB" dirty="0"/>
              <a:t>Example:</a:t>
            </a:r>
          </a:p>
          <a:p>
            <a:pPr marL="0" indent="0">
              <a:buNone/>
            </a:pPr>
            <a:r>
              <a:rPr lang="en-GB" dirty="0"/>
              <a:t>	x = 15</a:t>
            </a:r>
          </a:p>
          <a:p>
            <a:pPr marL="400050" lvl="1" indent="0">
              <a:buNone/>
            </a:pPr>
            <a:r>
              <a:rPr lang="en-GB" dirty="0"/>
              <a:t>if x &gt; 10:</a:t>
            </a:r>
          </a:p>
          <a:p>
            <a:pPr marL="400050" lvl="1" indent="0">
              <a:buNone/>
            </a:pPr>
            <a:r>
              <a:rPr lang="en-GB" dirty="0"/>
              <a:t>    print("x is greater than 10")</a:t>
            </a:r>
          </a:p>
          <a:p>
            <a:pPr marL="400050" lvl="1" indent="0">
              <a:buNone/>
            </a:pPr>
            <a:r>
              <a:rPr lang="en-GB" dirty="0"/>
              <a:t>    if x &gt; 20:</a:t>
            </a:r>
          </a:p>
          <a:p>
            <a:pPr marL="400050" lvl="1" indent="0">
              <a:buNone/>
            </a:pPr>
            <a:r>
              <a:rPr lang="en-GB" dirty="0"/>
              <a:t>        print("x is also greater than 20")</a:t>
            </a:r>
          </a:p>
          <a:p>
            <a:pPr marL="400050" lvl="1" indent="0">
              <a:buNone/>
            </a:pPr>
            <a:r>
              <a:rPr lang="en-GB" dirty="0"/>
              <a:t>    else:</a:t>
            </a:r>
          </a:p>
          <a:p>
            <a:pPr marL="400050" lvl="1" indent="0">
              <a:buNone/>
            </a:pPr>
            <a:r>
              <a:rPr lang="en-GB" dirty="0"/>
              <a:t>        print("x is between 10 and 20")</a:t>
            </a:r>
          </a:p>
          <a:p>
            <a:pPr marL="0" indent="0">
              <a:buNone/>
            </a:pPr>
            <a:endParaRPr lang="en-AE" dirty="0"/>
          </a:p>
        </p:txBody>
      </p:sp>
    </p:spTree>
    <p:extLst>
      <p:ext uri="{BB962C8B-B14F-4D97-AF65-F5344CB8AC3E}">
        <p14:creationId xmlns:p14="http://schemas.microsoft.com/office/powerpoint/2010/main" val="41972433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DD651-4D24-14D8-1F6A-A8D73E4D5779}"/>
              </a:ext>
            </a:extLst>
          </p:cNvPr>
          <p:cNvSpPr>
            <a:spLocks noGrp="1"/>
          </p:cNvSpPr>
          <p:nvPr>
            <p:ph type="title"/>
          </p:nvPr>
        </p:nvSpPr>
        <p:spPr/>
        <p:txBody>
          <a:bodyPr/>
          <a:lstStyle/>
          <a:p>
            <a:r>
              <a:rPr lang="en-GB" dirty="0"/>
              <a:t>Match-Case (Python 3.10+)</a:t>
            </a:r>
            <a:endParaRPr lang="en-AE" dirty="0"/>
          </a:p>
        </p:txBody>
      </p:sp>
      <p:sp>
        <p:nvSpPr>
          <p:cNvPr id="3" name="Content Placeholder 2">
            <a:extLst>
              <a:ext uri="{FF2B5EF4-FFF2-40B4-BE49-F238E27FC236}">
                <a16:creationId xmlns:a16="http://schemas.microsoft.com/office/drawing/2014/main" id="{9567B602-3481-5E74-D7C4-75094F07336B}"/>
              </a:ext>
            </a:extLst>
          </p:cNvPr>
          <p:cNvSpPr>
            <a:spLocks noGrp="1"/>
          </p:cNvSpPr>
          <p:nvPr>
            <p:ph idx="1"/>
          </p:nvPr>
        </p:nvSpPr>
        <p:spPr/>
        <p:txBody>
          <a:bodyPr>
            <a:normAutofit fontScale="77500" lnSpcReduction="20000"/>
          </a:bodyPr>
          <a:lstStyle/>
          <a:p>
            <a:pPr algn="just"/>
            <a:r>
              <a:rPr lang="en-GB" dirty="0"/>
              <a:t>Similar to a </a:t>
            </a:r>
            <a:r>
              <a:rPr lang="en-GB" b="1" dirty="0"/>
              <a:t>switch-case</a:t>
            </a:r>
            <a:r>
              <a:rPr lang="en-GB" dirty="0"/>
              <a:t> statement in other languages, useful for handling multiple cases.</a:t>
            </a:r>
          </a:p>
          <a:p>
            <a:pPr algn="just"/>
            <a:r>
              <a:rPr lang="en-AE" dirty="0"/>
              <a:t>Example:</a:t>
            </a:r>
          </a:p>
          <a:p>
            <a:pPr marL="0" indent="0" algn="just">
              <a:buNone/>
            </a:pPr>
            <a:r>
              <a:rPr lang="en-AE" dirty="0"/>
              <a:t>	</a:t>
            </a:r>
            <a:r>
              <a:rPr lang="en-GB" dirty="0"/>
              <a:t>x = 2</a:t>
            </a:r>
          </a:p>
          <a:p>
            <a:pPr marL="400050" lvl="1" indent="0" algn="just">
              <a:buNone/>
            </a:pPr>
            <a:r>
              <a:rPr lang="en-GB" dirty="0"/>
              <a:t>match x:</a:t>
            </a:r>
          </a:p>
          <a:p>
            <a:pPr marL="400050" lvl="1" indent="0" algn="just">
              <a:buNone/>
            </a:pPr>
            <a:r>
              <a:rPr lang="en-GB" dirty="0"/>
              <a:t>    case 1:</a:t>
            </a:r>
          </a:p>
          <a:p>
            <a:pPr marL="400050" lvl="1" indent="0" algn="just">
              <a:buNone/>
            </a:pPr>
            <a:r>
              <a:rPr lang="en-GB" dirty="0"/>
              <a:t>        print("One")</a:t>
            </a:r>
          </a:p>
          <a:p>
            <a:pPr marL="400050" lvl="1" indent="0" algn="just">
              <a:buNone/>
            </a:pPr>
            <a:r>
              <a:rPr lang="en-GB" dirty="0"/>
              <a:t>    case 2:</a:t>
            </a:r>
          </a:p>
          <a:p>
            <a:pPr marL="400050" lvl="1" indent="0" algn="just">
              <a:buNone/>
            </a:pPr>
            <a:r>
              <a:rPr lang="en-GB" dirty="0"/>
              <a:t>        print("Two")</a:t>
            </a:r>
          </a:p>
          <a:p>
            <a:pPr marL="400050" lvl="1" indent="0" algn="just">
              <a:buNone/>
            </a:pPr>
            <a:r>
              <a:rPr lang="en-GB" dirty="0"/>
              <a:t>    case 3:</a:t>
            </a:r>
          </a:p>
          <a:p>
            <a:pPr marL="400050" lvl="1" indent="0" algn="just">
              <a:buNone/>
            </a:pPr>
            <a:r>
              <a:rPr lang="en-GB" dirty="0"/>
              <a:t>        print("Three")</a:t>
            </a:r>
          </a:p>
          <a:p>
            <a:pPr marL="400050" lvl="1" indent="0" algn="just">
              <a:buNone/>
            </a:pPr>
            <a:r>
              <a:rPr lang="en-GB" dirty="0"/>
              <a:t>    case _:</a:t>
            </a:r>
          </a:p>
          <a:p>
            <a:pPr marL="400050" lvl="1" indent="0" algn="just">
              <a:buNone/>
            </a:pPr>
            <a:r>
              <a:rPr lang="en-GB" dirty="0"/>
              <a:t>        print("Something else")</a:t>
            </a:r>
          </a:p>
          <a:p>
            <a:pPr marL="0" indent="0" algn="just">
              <a:buNone/>
            </a:pPr>
            <a:endParaRPr lang="en-AE" dirty="0"/>
          </a:p>
        </p:txBody>
      </p:sp>
    </p:spTree>
    <p:extLst>
      <p:ext uri="{BB962C8B-B14F-4D97-AF65-F5344CB8AC3E}">
        <p14:creationId xmlns:p14="http://schemas.microsoft.com/office/powerpoint/2010/main" val="23186497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57EC2-D90C-24C1-4AA8-3D50FE1A7FFC}"/>
              </a:ext>
            </a:extLst>
          </p:cNvPr>
          <p:cNvSpPr>
            <a:spLocks noGrp="1"/>
          </p:cNvSpPr>
          <p:nvPr>
            <p:ph type="title"/>
          </p:nvPr>
        </p:nvSpPr>
        <p:spPr/>
        <p:txBody>
          <a:bodyPr/>
          <a:lstStyle/>
          <a:p>
            <a:r>
              <a:rPr lang="en-GB" dirty="0"/>
              <a:t>Example</a:t>
            </a:r>
            <a:endParaRPr lang="en-AE" dirty="0"/>
          </a:p>
        </p:txBody>
      </p:sp>
      <p:sp>
        <p:nvSpPr>
          <p:cNvPr id="3" name="Content Placeholder 2">
            <a:extLst>
              <a:ext uri="{FF2B5EF4-FFF2-40B4-BE49-F238E27FC236}">
                <a16:creationId xmlns:a16="http://schemas.microsoft.com/office/drawing/2014/main" id="{AB2FEB1A-0158-D8C8-C7D7-5657F035B307}"/>
              </a:ext>
            </a:extLst>
          </p:cNvPr>
          <p:cNvSpPr>
            <a:spLocks noGrp="1"/>
          </p:cNvSpPr>
          <p:nvPr>
            <p:ph idx="1"/>
          </p:nvPr>
        </p:nvSpPr>
        <p:spPr/>
        <p:txBody>
          <a:bodyPr>
            <a:normAutofit fontScale="40000" lnSpcReduction="20000"/>
          </a:bodyPr>
          <a:lstStyle/>
          <a:p>
            <a:pPr marL="0" indent="0">
              <a:buNone/>
            </a:pPr>
            <a:r>
              <a:rPr lang="en-GB" sz="4400" dirty="0"/>
              <a:t>x = 4</a:t>
            </a:r>
          </a:p>
          <a:p>
            <a:pPr marL="0" indent="0">
              <a:buNone/>
            </a:pPr>
            <a:r>
              <a:rPr lang="en-GB" sz="4400" dirty="0"/>
              <a:t># x is the variable to match</a:t>
            </a:r>
          </a:p>
          <a:p>
            <a:pPr marL="0" indent="0">
              <a:buNone/>
            </a:pPr>
            <a:r>
              <a:rPr lang="en-GB" sz="4400" dirty="0"/>
              <a:t>match x:</a:t>
            </a:r>
          </a:p>
          <a:p>
            <a:pPr marL="0" indent="0">
              <a:buNone/>
            </a:pPr>
            <a:r>
              <a:rPr lang="en-GB" sz="4400" dirty="0"/>
              <a:t>    # if x is 0</a:t>
            </a:r>
          </a:p>
          <a:p>
            <a:pPr marL="0" indent="0">
              <a:buNone/>
            </a:pPr>
            <a:r>
              <a:rPr lang="en-GB" sz="4400" dirty="0"/>
              <a:t>    case 0:</a:t>
            </a:r>
          </a:p>
          <a:p>
            <a:pPr marL="0" indent="0">
              <a:buNone/>
            </a:pPr>
            <a:r>
              <a:rPr lang="en-GB" sz="4400" dirty="0"/>
              <a:t>        print("x is zero")</a:t>
            </a:r>
          </a:p>
          <a:p>
            <a:pPr marL="0" indent="0">
              <a:buNone/>
            </a:pPr>
            <a:r>
              <a:rPr lang="en-GB" sz="4400" dirty="0"/>
              <a:t>    # case with if-condition</a:t>
            </a:r>
          </a:p>
          <a:p>
            <a:pPr marL="0" indent="0">
              <a:buNone/>
            </a:pPr>
            <a:r>
              <a:rPr lang="en-GB" sz="4400" dirty="0"/>
              <a:t>    case 4 if x % 2 == 0:</a:t>
            </a:r>
          </a:p>
          <a:p>
            <a:pPr marL="0" indent="0">
              <a:buNone/>
            </a:pPr>
            <a:r>
              <a:rPr lang="en-GB" sz="4400" dirty="0"/>
              <a:t>        print("x % 2 == 0 and case is 4")</a:t>
            </a:r>
          </a:p>
          <a:p>
            <a:pPr marL="0" indent="0">
              <a:buNone/>
            </a:pPr>
            <a:r>
              <a:rPr lang="en-GB" sz="4400" dirty="0"/>
              <a:t>    # Empty case with if-condition</a:t>
            </a:r>
          </a:p>
          <a:p>
            <a:pPr marL="0" indent="0">
              <a:buNone/>
            </a:pPr>
            <a:r>
              <a:rPr lang="en-GB" sz="4400" dirty="0"/>
              <a:t>    case _ if x &lt; 10:</a:t>
            </a:r>
          </a:p>
          <a:p>
            <a:pPr marL="0" indent="0">
              <a:buNone/>
            </a:pPr>
            <a:r>
              <a:rPr lang="en-GB" sz="4400" dirty="0"/>
              <a:t>        print("x is &lt; 10")</a:t>
            </a:r>
          </a:p>
          <a:p>
            <a:pPr marL="0" indent="0">
              <a:buNone/>
            </a:pPr>
            <a:r>
              <a:rPr lang="en-GB" sz="4400" dirty="0"/>
              <a:t>    # default case(will only be matched if the above cases were not matched)</a:t>
            </a:r>
          </a:p>
          <a:p>
            <a:pPr marL="0" indent="0">
              <a:buNone/>
            </a:pPr>
            <a:r>
              <a:rPr lang="en-GB" sz="4400" dirty="0"/>
              <a:t>    # so it is basically just an else:</a:t>
            </a:r>
          </a:p>
          <a:p>
            <a:pPr marL="0" indent="0">
              <a:buNone/>
            </a:pPr>
            <a:r>
              <a:rPr lang="en-GB" sz="4400" dirty="0"/>
              <a:t>    case _:</a:t>
            </a:r>
          </a:p>
          <a:p>
            <a:pPr marL="0" indent="0">
              <a:buNone/>
            </a:pPr>
            <a:r>
              <a:rPr lang="en-GB" sz="4400" dirty="0"/>
              <a:t>        print(x)</a:t>
            </a:r>
            <a:endParaRPr lang="en-AE" sz="4400" dirty="0"/>
          </a:p>
        </p:txBody>
      </p:sp>
    </p:spTree>
    <p:extLst>
      <p:ext uri="{BB962C8B-B14F-4D97-AF65-F5344CB8AC3E}">
        <p14:creationId xmlns:p14="http://schemas.microsoft.com/office/powerpoint/2010/main" val="39231230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Loops in Python</a:t>
            </a:r>
          </a:p>
        </p:txBody>
      </p:sp>
      <p:sp>
        <p:nvSpPr>
          <p:cNvPr id="3" name="Content Placeholder 2"/>
          <p:cNvSpPr>
            <a:spLocks noGrp="1"/>
          </p:cNvSpPr>
          <p:nvPr>
            <p:ph idx="1"/>
          </p:nvPr>
        </p:nvSpPr>
        <p:spPr/>
        <p:txBody>
          <a:bodyPr/>
          <a:lstStyle/>
          <a:p>
            <a:pPr marL="0" indent="0" algn="just">
              <a:buNone/>
            </a:pPr>
            <a:r>
              <a:rPr lang="en-GB" dirty="0"/>
              <a:t>Loops are used to execute a block of code multiple times. Python provides two main types of loops:  </a:t>
            </a:r>
          </a:p>
          <a:p>
            <a:pPr algn="just"/>
            <a:r>
              <a:rPr dirty="0"/>
              <a:t>for loop: Iterates over a sequence.</a:t>
            </a:r>
            <a:endParaRPr lang="en-GB" dirty="0"/>
          </a:p>
          <a:p>
            <a:pPr algn="just"/>
            <a:r>
              <a:rPr dirty="0"/>
              <a:t>while loop: Repeats execution while a condition is True.</a:t>
            </a:r>
            <a:endParaRPr lang="en-GB" dirty="0"/>
          </a:p>
          <a:p>
            <a:pPr algn="just"/>
            <a:r>
              <a:rPr lang="en-GB" dirty="0"/>
              <a:t>Loop Control Statements (break, continue, pass)</a:t>
            </a:r>
          </a:p>
          <a:p>
            <a:pPr marL="0" indent="0" algn="just">
              <a:buNone/>
            </a:pPr>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F8682-C4C2-2E28-D035-780C92726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FA9DA-DDAA-9211-FFFD-D1592ABEB143}"/>
              </a:ext>
            </a:extLst>
          </p:cNvPr>
          <p:cNvSpPr>
            <a:spLocks noGrp="1"/>
          </p:cNvSpPr>
          <p:nvPr>
            <p:ph type="title"/>
          </p:nvPr>
        </p:nvSpPr>
        <p:spPr/>
        <p:txBody>
          <a:bodyPr/>
          <a:lstStyle/>
          <a:p>
            <a:r>
              <a:rPr lang="en-GB" dirty="0"/>
              <a:t>For Loop</a:t>
            </a:r>
            <a:endParaRPr lang="en-AE" dirty="0"/>
          </a:p>
        </p:txBody>
      </p:sp>
      <p:sp>
        <p:nvSpPr>
          <p:cNvPr id="3" name="Content Placeholder 2">
            <a:extLst>
              <a:ext uri="{FF2B5EF4-FFF2-40B4-BE49-F238E27FC236}">
                <a16:creationId xmlns:a16="http://schemas.microsoft.com/office/drawing/2014/main" id="{0FD7C864-CF45-16BD-8EAF-2FF5B1FB83BE}"/>
              </a:ext>
            </a:extLst>
          </p:cNvPr>
          <p:cNvSpPr>
            <a:spLocks noGrp="1"/>
          </p:cNvSpPr>
          <p:nvPr>
            <p:ph idx="1"/>
          </p:nvPr>
        </p:nvSpPr>
        <p:spPr/>
        <p:txBody>
          <a:bodyPr>
            <a:normAutofit fontScale="85000" lnSpcReduction="10000"/>
          </a:bodyPr>
          <a:lstStyle/>
          <a:p>
            <a:r>
              <a:rPr lang="en-GB" dirty="0"/>
              <a:t>For loops are used to iterate over sequences (lists, tuples, strings, dictionaries, etc.).</a:t>
            </a:r>
          </a:p>
          <a:p>
            <a:r>
              <a:rPr lang="en-GB" dirty="0"/>
              <a:t>The </a:t>
            </a:r>
            <a:r>
              <a:rPr lang="en-GB" b="1" dirty="0"/>
              <a:t>range() </a:t>
            </a:r>
            <a:r>
              <a:rPr lang="en-GB" dirty="0"/>
              <a:t>function generates a sequence of numbers</a:t>
            </a:r>
          </a:p>
          <a:p>
            <a:r>
              <a:rPr lang="en-GB" b="1" dirty="0"/>
              <a:t>Syntax:</a:t>
            </a:r>
            <a:br>
              <a:rPr lang="en-GB" dirty="0"/>
            </a:br>
            <a:r>
              <a:rPr lang="en-GB" dirty="0"/>
              <a:t>		</a:t>
            </a:r>
            <a:r>
              <a:rPr lang="en-GB" sz="3500" dirty="0"/>
              <a:t>range(start, stop, step)</a:t>
            </a:r>
          </a:p>
          <a:p>
            <a:pPr lvl="2"/>
            <a:r>
              <a:rPr lang="en-GB" sz="3500" b="1" dirty="0"/>
              <a:t>start → </a:t>
            </a:r>
            <a:r>
              <a:rPr lang="en-GB" sz="3500" dirty="0"/>
              <a:t>(Optional) Beginning value (default is 0)</a:t>
            </a:r>
          </a:p>
          <a:p>
            <a:pPr lvl="2"/>
            <a:r>
              <a:rPr lang="en-GB" sz="3500" b="1" dirty="0"/>
              <a:t>stop → </a:t>
            </a:r>
            <a:r>
              <a:rPr lang="en-GB" sz="3500" dirty="0"/>
              <a:t>The end value (exclusive)</a:t>
            </a:r>
          </a:p>
          <a:p>
            <a:pPr lvl="2"/>
            <a:r>
              <a:rPr lang="en-GB" sz="3500" b="1" dirty="0"/>
              <a:t>step →</a:t>
            </a:r>
            <a:r>
              <a:rPr lang="en-GB" sz="3500" dirty="0"/>
              <a:t> (Optional) Increment or decrement value (default is 1)</a:t>
            </a:r>
          </a:p>
        </p:txBody>
      </p:sp>
    </p:spTree>
    <p:extLst>
      <p:ext uri="{BB962C8B-B14F-4D97-AF65-F5344CB8AC3E}">
        <p14:creationId xmlns:p14="http://schemas.microsoft.com/office/powerpoint/2010/main" val="3417727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EF32F-9F26-C4FC-A658-04E178E40730}"/>
              </a:ext>
            </a:extLst>
          </p:cNvPr>
          <p:cNvSpPr>
            <a:spLocks noGrp="1"/>
          </p:cNvSpPr>
          <p:nvPr>
            <p:ph type="title"/>
          </p:nvPr>
        </p:nvSpPr>
        <p:spPr/>
        <p:txBody>
          <a:bodyPr/>
          <a:lstStyle/>
          <a:p>
            <a:r>
              <a:rPr lang="en-GB" dirty="0"/>
              <a:t>For Loop Examples</a:t>
            </a:r>
            <a:endParaRPr lang="en-AE" dirty="0"/>
          </a:p>
        </p:txBody>
      </p:sp>
      <p:sp>
        <p:nvSpPr>
          <p:cNvPr id="3" name="Content Placeholder 2">
            <a:extLst>
              <a:ext uri="{FF2B5EF4-FFF2-40B4-BE49-F238E27FC236}">
                <a16:creationId xmlns:a16="http://schemas.microsoft.com/office/drawing/2014/main" id="{EACC75DB-2813-E43B-6B5E-9FF7B7BA0F5F}"/>
              </a:ext>
            </a:extLst>
          </p:cNvPr>
          <p:cNvSpPr>
            <a:spLocks noGrp="1"/>
          </p:cNvSpPr>
          <p:nvPr>
            <p:ph idx="1"/>
          </p:nvPr>
        </p:nvSpPr>
        <p:spPr>
          <a:xfrm>
            <a:off x="457200" y="1600200"/>
            <a:ext cx="8229600" cy="5257800"/>
          </a:xfrm>
        </p:spPr>
        <p:txBody>
          <a:bodyPr>
            <a:noAutofit/>
          </a:bodyPr>
          <a:lstStyle/>
          <a:p>
            <a:pPr marL="457200" indent="-457200"/>
            <a:r>
              <a:rPr lang="en-GB" b="1" dirty="0"/>
              <a:t>Loop with Default Step (1)</a:t>
            </a:r>
          </a:p>
          <a:p>
            <a:pPr marL="800100" lvl="2" indent="0">
              <a:buNone/>
            </a:pPr>
            <a:r>
              <a:rPr lang="en-GB" sz="2800" dirty="0"/>
              <a:t>for </a:t>
            </a:r>
            <a:r>
              <a:rPr lang="en-GB" sz="2800" dirty="0" err="1"/>
              <a:t>i</a:t>
            </a:r>
            <a:r>
              <a:rPr lang="en-GB" sz="2800" dirty="0"/>
              <a:t> in range(5):  </a:t>
            </a:r>
          </a:p>
          <a:p>
            <a:pPr marL="800100" lvl="2" indent="0">
              <a:buNone/>
            </a:pPr>
            <a:r>
              <a:rPr lang="en-GB" sz="2800" dirty="0"/>
              <a:t>    print(</a:t>
            </a:r>
            <a:r>
              <a:rPr lang="en-GB" sz="2800" dirty="0" err="1"/>
              <a:t>i</a:t>
            </a:r>
            <a:r>
              <a:rPr lang="en-GB" sz="2800" dirty="0"/>
              <a:t>)</a:t>
            </a:r>
          </a:p>
          <a:p>
            <a:r>
              <a:rPr lang="en-GB" b="1" dirty="0"/>
              <a:t>Loop with Step 2</a:t>
            </a:r>
          </a:p>
          <a:p>
            <a:pPr marL="800100" lvl="2" indent="0">
              <a:buNone/>
            </a:pPr>
            <a:r>
              <a:rPr lang="en-GB" sz="2800" dirty="0"/>
              <a:t>for </a:t>
            </a:r>
            <a:r>
              <a:rPr lang="en-GB" sz="2800" dirty="0" err="1"/>
              <a:t>i</a:t>
            </a:r>
            <a:r>
              <a:rPr lang="en-GB" sz="2800" dirty="0"/>
              <a:t> in range(0, 10, 2):  </a:t>
            </a:r>
          </a:p>
          <a:p>
            <a:pPr marL="800100" lvl="2" indent="0">
              <a:buNone/>
            </a:pPr>
            <a:r>
              <a:rPr lang="en-GB" sz="2800" dirty="0"/>
              <a:t>    print(</a:t>
            </a:r>
            <a:r>
              <a:rPr lang="en-GB" sz="2800" dirty="0" err="1"/>
              <a:t>i</a:t>
            </a:r>
            <a:r>
              <a:rPr lang="en-GB" sz="2800" dirty="0"/>
              <a:t>)</a:t>
            </a:r>
          </a:p>
          <a:p>
            <a:r>
              <a:rPr lang="en-GB" b="1" dirty="0"/>
              <a:t>Loop with Negative Step</a:t>
            </a:r>
          </a:p>
          <a:p>
            <a:pPr marL="800100" lvl="2" indent="0">
              <a:buNone/>
            </a:pPr>
            <a:r>
              <a:rPr lang="en-GB" sz="2800" dirty="0"/>
              <a:t>for </a:t>
            </a:r>
            <a:r>
              <a:rPr lang="en-GB" sz="2800" dirty="0" err="1"/>
              <a:t>i</a:t>
            </a:r>
            <a:r>
              <a:rPr lang="en-GB" sz="2800" dirty="0"/>
              <a:t> in range(10, 0, -2):  </a:t>
            </a:r>
          </a:p>
          <a:p>
            <a:pPr marL="800100" lvl="2" indent="0">
              <a:buNone/>
            </a:pPr>
            <a:r>
              <a:rPr lang="en-GB" sz="2800" dirty="0"/>
              <a:t>    print(</a:t>
            </a:r>
            <a:r>
              <a:rPr lang="en-GB" sz="2800" dirty="0" err="1"/>
              <a:t>i</a:t>
            </a:r>
            <a:r>
              <a:rPr lang="en-GB" sz="2800" dirty="0"/>
              <a:t>)</a:t>
            </a:r>
          </a:p>
          <a:p>
            <a:pPr lvl="1"/>
            <a:endParaRPr lang="en-GB" dirty="0"/>
          </a:p>
          <a:p>
            <a:endParaRPr lang="en-AE" dirty="0"/>
          </a:p>
        </p:txBody>
      </p:sp>
    </p:spTree>
    <p:extLst>
      <p:ext uri="{BB962C8B-B14F-4D97-AF65-F5344CB8AC3E}">
        <p14:creationId xmlns:p14="http://schemas.microsoft.com/office/powerpoint/2010/main" val="35965849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48B54-A190-D0B2-3E63-48EF5F9D9147}"/>
              </a:ext>
            </a:extLst>
          </p:cNvPr>
          <p:cNvSpPr>
            <a:spLocks noGrp="1"/>
          </p:cNvSpPr>
          <p:nvPr>
            <p:ph type="title"/>
          </p:nvPr>
        </p:nvSpPr>
        <p:spPr/>
        <p:txBody>
          <a:bodyPr/>
          <a:lstStyle/>
          <a:p>
            <a:r>
              <a:rPr lang="en-GB" dirty="0"/>
              <a:t>Example: iterating over a string:</a:t>
            </a:r>
            <a:endParaRPr lang="en-AE" dirty="0"/>
          </a:p>
        </p:txBody>
      </p:sp>
      <p:sp>
        <p:nvSpPr>
          <p:cNvPr id="3" name="Content Placeholder 2">
            <a:extLst>
              <a:ext uri="{FF2B5EF4-FFF2-40B4-BE49-F238E27FC236}">
                <a16:creationId xmlns:a16="http://schemas.microsoft.com/office/drawing/2014/main" id="{90400B76-C472-5464-7152-70E0C28E30EF}"/>
              </a:ext>
            </a:extLst>
          </p:cNvPr>
          <p:cNvSpPr>
            <a:spLocks noGrp="1"/>
          </p:cNvSpPr>
          <p:nvPr>
            <p:ph idx="1"/>
          </p:nvPr>
        </p:nvSpPr>
        <p:spPr/>
        <p:txBody>
          <a:bodyPr/>
          <a:lstStyle/>
          <a:p>
            <a:pPr marL="0" indent="0">
              <a:buNone/>
            </a:pPr>
            <a:r>
              <a:rPr lang="en-GB" dirty="0"/>
              <a:t>name = ‘Python Program'</a:t>
            </a:r>
          </a:p>
          <a:p>
            <a:pPr marL="0" indent="0">
              <a:buNone/>
            </a:pPr>
            <a:r>
              <a:rPr lang="en-GB" dirty="0"/>
              <a:t>for </a:t>
            </a:r>
            <a:r>
              <a:rPr lang="en-GB" dirty="0" err="1"/>
              <a:t>i</a:t>
            </a:r>
            <a:r>
              <a:rPr lang="en-GB" dirty="0"/>
              <a:t> in name:</a:t>
            </a:r>
          </a:p>
          <a:p>
            <a:pPr marL="0" indent="0">
              <a:buNone/>
            </a:pPr>
            <a:r>
              <a:rPr lang="en-GB" dirty="0"/>
              <a:t>    print(</a:t>
            </a:r>
            <a:r>
              <a:rPr lang="en-GB" dirty="0" err="1"/>
              <a:t>i</a:t>
            </a:r>
            <a:r>
              <a:rPr lang="en-GB" dirty="0"/>
              <a:t>, end=", ")</a:t>
            </a:r>
            <a:endParaRPr lang="en-AE" dirty="0"/>
          </a:p>
        </p:txBody>
      </p:sp>
    </p:spTree>
    <p:extLst>
      <p:ext uri="{BB962C8B-B14F-4D97-AF65-F5344CB8AC3E}">
        <p14:creationId xmlns:p14="http://schemas.microsoft.com/office/powerpoint/2010/main" val="23726750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C19C7-ACE7-EC3B-FA35-0813A6A249BB}"/>
              </a:ext>
            </a:extLst>
          </p:cNvPr>
          <p:cNvSpPr>
            <a:spLocks noGrp="1"/>
          </p:cNvSpPr>
          <p:nvPr>
            <p:ph type="title"/>
          </p:nvPr>
        </p:nvSpPr>
        <p:spPr/>
        <p:txBody>
          <a:bodyPr/>
          <a:lstStyle/>
          <a:p>
            <a:r>
              <a:rPr lang="en-GB" dirty="0"/>
              <a:t>While Loop</a:t>
            </a:r>
            <a:endParaRPr lang="en-AE" dirty="0"/>
          </a:p>
        </p:txBody>
      </p:sp>
      <p:sp>
        <p:nvSpPr>
          <p:cNvPr id="3" name="Content Placeholder 2">
            <a:extLst>
              <a:ext uri="{FF2B5EF4-FFF2-40B4-BE49-F238E27FC236}">
                <a16:creationId xmlns:a16="http://schemas.microsoft.com/office/drawing/2014/main" id="{D587BB41-ED5E-D6FD-97DD-75F179D37F46}"/>
              </a:ext>
            </a:extLst>
          </p:cNvPr>
          <p:cNvSpPr>
            <a:spLocks noGrp="1"/>
          </p:cNvSpPr>
          <p:nvPr>
            <p:ph idx="1"/>
          </p:nvPr>
        </p:nvSpPr>
        <p:spPr/>
        <p:txBody>
          <a:bodyPr/>
          <a:lstStyle/>
          <a:p>
            <a:r>
              <a:rPr lang="en-GB" dirty="0"/>
              <a:t>While loops execute as long as the condition is True.</a:t>
            </a:r>
          </a:p>
          <a:p>
            <a:r>
              <a:rPr lang="en-GB" dirty="0"/>
              <a:t>Example:</a:t>
            </a:r>
          </a:p>
          <a:p>
            <a:pPr marL="0" indent="0">
              <a:buNone/>
            </a:pPr>
            <a:r>
              <a:rPr lang="en-GB" dirty="0"/>
              <a:t>	x = 0</a:t>
            </a:r>
          </a:p>
          <a:p>
            <a:pPr marL="400050" lvl="1" indent="0">
              <a:buNone/>
            </a:pPr>
            <a:r>
              <a:rPr lang="en-GB" sz="3200" dirty="0"/>
              <a:t>while x &lt; 5:</a:t>
            </a:r>
          </a:p>
          <a:p>
            <a:pPr marL="400050" lvl="1" indent="0">
              <a:buNone/>
            </a:pPr>
            <a:r>
              <a:rPr lang="en-GB" sz="3200" dirty="0"/>
              <a:t>    print(x)</a:t>
            </a:r>
          </a:p>
          <a:p>
            <a:pPr marL="400050" lvl="1" indent="0">
              <a:buNone/>
            </a:pPr>
            <a:r>
              <a:rPr lang="en-GB" sz="3200" dirty="0"/>
              <a:t>    x += 1</a:t>
            </a:r>
          </a:p>
          <a:p>
            <a:pPr marL="0" indent="0">
              <a:buNone/>
            </a:pPr>
            <a:endParaRPr lang="en-AE" dirty="0"/>
          </a:p>
        </p:txBody>
      </p:sp>
    </p:spTree>
    <p:extLst>
      <p:ext uri="{BB962C8B-B14F-4D97-AF65-F5344CB8AC3E}">
        <p14:creationId xmlns:p14="http://schemas.microsoft.com/office/powerpoint/2010/main" val="1663550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6B4A-4200-6350-503B-7ED6F75EB78D}"/>
              </a:ext>
            </a:extLst>
          </p:cNvPr>
          <p:cNvSpPr>
            <a:spLocks noGrp="1"/>
          </p:cNvSpPr>
          <p:nvPr>
            <p:ph type="title"/>
          </p:nvPr>
        </p:nvSpPr>
        <p:spPr/>
        <p:txBody>
          <a:bodyPr/>
          <a:lstStyle/>
          <a:p>
            <a:r>
              <a:rPr lang="en-GB" dirty="0"/>
              <a:t>Loop Control Statements</a:t>
            </a:r>
            <a:endParaRPr lang="en-AE" dirty="0"/>
          </a:p>
        </p:txBody>
      </p:sp>
      <p:sp>
        <p:nvSpPr>
          <p:cNvPr id="3" name="Content Placeholder 2">
            <a:extLst>
              <a:ext uri="{FF2B5EF4-FFF2-40B4-BE49-F238E27FC236}">
                <a16:creationId xmlns:a16="http://schemas.microsoft.com/office/drawing/2014/main" id="{571CAB35-C0DF-BC8D-8B0F-BC0EDF6C436D}"/>
              </a:ext>
            </a:extLst>
          </p:cNvPr>
          <p:cNvSpPr>
            <a:spLocks noGrp="1"/>
          </p:cNvSpPr>
          <p:nvPr>
            <p:ph idx="1"/>
          </p:nvPr>
        </p:nvSpPr>
        <p:spPr/>
        <p:txBody>
          <a:bodyPr/>
          <a:lstStyle/>
          <a:p>
            <a:r>
              <a:rPr lang="en-GB" dirty="0"/>
              <a:t>Python provides special statements to control loop execution:</a:t>
            </a:r>
          </a:p>
          <a:p>
            <a:pPr lvl="1">
              <a:buFont typeface="Wingdings" panose="05000000000000000000" pitchFamily="2" charset="2"/>
              <a:buChar char="§"/>
            </a:pPr>
            <a:r>
              <a:rPr lang="en-GB" sz="3200" dirty="0"/>
              <a:t>break → Exits the loop.</a:t>
            </a:r>
          </a:p>
          <a:p>
            <a:pPr lvl="1">
              <a:buFont typeface="Wingdings" panose="05000000000000000000" pitchFamily="2" charset="2"/>
              <a:buChar char="§"/>
            </a:pPr>
            <a:r>
              <a:rPr lang="en-GB" sz="3200" dirty="0"/>
              <a:t>continue → Skips the current iteration.</a:t>
            </a:r>
          </a:p>
          <a:p>
            <a:pPr lvl="1">
              <a:buFont typeface="Wingdings" panose="05000000000000000000" pitchFamily="2" charset="2"/>
              <a:buChar char="§"/>
            </a:pPr>
            <a:r>
              <a:rPr lang="en-GB" sz="3200" dirty="0"/>
              <a:t>pass → Does nothing (used as a placeholder).</a:t>
            </a:r>
            <a:endParaRPr lang="en-AE" sz="3200" dirty="0"/>
          </a:p>
        </p:txBody>
      </p:sp>
    </p:spTree>
    <p:extLst>
      <p:ext uri="{BB962C8B-B14F-4D97-AF65-F5344CB8AC3E}">
        <p14:creationId xmlns:p14="http://schemas.microsoft.com/office/powerpoint/2010/main" val="10929208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986BD-F85D-1A10-3B83-3E32D3E9BA0F}"/>
              </a:ext>
            </a:extLst>
          </p:cNvPr>
          <p:cNvSpPr>
            <a:spLocks noGrp="1"/>
          </p:cNvSpPr>
          <p:nvPr>
            <p:ph type="title"/>
          </p:nvPr>
        </p:nvSpPr>
        <p:spPr/>
        <p:txBody>
          <a:bodyPr/>
          <a:lstStyle/>
          <a:p>
            <a:r>
              <a:rPr lang="en-GB" dirty="0"/>
              <a:t>Using break in Loops</a:t>
            </a:r>
            <a:endParaRPr lang="en-AE" dirty="0"/>
          </a:p>
        </p:txBody>
      </p:sp>
      <p:sp>
        <p:nvSpPr>
          <p:cNvPr id="3" name="Content Placeholder 2">
            <a:extLst>
              <a:ext uri="{FF2B5EF4-FFF2-40B4-BE49-F238E27FC236}">
                <a16:creationId xmlns:a16="http://schemas.microsoft.com/office/drawing/2014/main" id="{B85DEC11-A285-2E0C-6E32-F324A08F7FAA}"/>
              </a:ext>
            </a:extLst>
          </p:cNvPr>
          <p:cNvSpPr>
            <a:spLocks noGrp="1"/>
          </p:cNvSpPr>
          <p:nvPr>
            <p:ph idx="1"/>
          </p:nvPr>
        </p:nvSpPr>
        <p:spPr/>
        <p:txBody>
          <a:bodyPr/>
          <a:lstStyle/>
          <a:p>
            <a:pPr marL="0" indent="0">
              <a:buNone/>
            </a:pPr>
            <a:r>
              <a:rPr lang="en-GB" dirty="0"/>
              <a:t>for </a:t>
            </a:r>
            <a:r>
              <a:rPr lang="en-GB" dirty="0" err="1"/>
              <a:t>i</a:t>
            </a:r>
            <a:r>
              <a:rPr lang="en-GB" dirty="0"/>
              <a:t> in range(10):</a:t>
            </a:r>
          </a:p>
          <a:p>
            <a:pPr marL="0" indent="0">
              <a:buNone/>
            </a:pPr>
            <a:r>
              <a:rPr lang="en-GB" dirty="0"/>
              <a:t>    if </a:t>
            </a:r>
            <a:r>
              <a:rPr lang="en-GB" dirty="0" err="1"/>
              <a:t>i</a:t>
            </a:r>
            <a:r>
              <a:rPr lang="en-GB" dirty="0"/>
              <a:t> == 5:</a:t>
            </a:r>
          </a:p>
          <a:p>
            <a:pPr marL="0" indent="0">
              <a:buNone/>
            </a:pPr>
            <a:r>
              <a:rPr lang="en-GB" dirty="0"/>
              <a:t>        break  # Stops loop when </a:t>
            </a:r>
            <a:r>
              <a:rPr lang="en-GB" dirty="0" err="1"/>
              <a:t>i</a:t>
            </a:r>
            <a:r>
              <a:rPr lang="en-GB" dirty="0"/>
              <a:t> is 5</a:t>
            </a:r>
          </a:p>
          <a:p>
            <a:pPr marL="0" indent="0">
              <a:buNone/>
            </a:pPr>
            <a:r>
              <a:rPr lang="en-GB" dirty="0"/>
              <a:t>    print(</a:t>
            </a:r>
            <a:r>
              <a:rPr lang="en-GB" dirty="0" err="1"/>
              <a:t>i</a:t>
            </a:r>
            <a:r>
              <a:rPr lang="en-GB" dirty="0"/>
              <a:t>)</a:t>
            </a:r>
          </a:p>
          <a:p>
            <a:endParaRPr lang="en-AE" dirty="0"/>
          </a:p>
        </p:txBody>
      </p:sp>
    </p:spTree>
    <p:extLst>
      <p:ext uri="{BB962C8B-B14F-4D97-AF65-F5344CB8AC3E}">
        <p14:creationId xmlns:p14="http://schemas.microsoft.com/office/powerpoint/2010/main" val="35444308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BF90-24E1-C884-760A-1EBF3CBD28E1}"/>
              </a:ext>
            </a:extLst>
          </p:cNvPr>
          <p:cNvSpPr>
            <a:spLocks noGrp="1"/>
          </p:cNvSpPr>
          <p:nvPr>
            <p:ph type="title"/>
          </p:nvPr>
        </p:nvSpPr>
        <p:spPr/>
        <p:txBody>
          <a:bodyPr/>
          <a:lstStyle/>
          <a:p>
            <a:r>
              <a:rPr lang="en-GB" dirty="0"/>
              <a:t>Using continue in Loops</a:t>
            </a:r>
            <a:endParaRPr lang="en-AE" dirty="0"/>
          </a:p>
        </p:txBody>
      </p:sp>
      <p:sp>
        <p:nvSpPr>
          <p:cNvPr id="3" name="Content Placeholder 2">
            <a:extLst>
              <a:ext uri="{FF2B5EF4-FFF2-40B4-BE49-F238E27FC236}">
                <a16:creationId xmlns:a16="http://schemas.microsoft.com/office/drawing/2014/main" id="{6E07F3A5-2BD3-C581-3B2D-1BCF1727D5F4}"/>
              </a:ext>
            </a:extLst>
          </p:cNvPr>
          <p:cNvSpPr>
            <a:spLocks noGrp="1"/>
          </p:cNvSpPr>
          <p:nvPr>
            <p:ph idx="1"/>
          </p:nvPr>
        </p:nvSpPr>
        <p:spPr/>
        <p:txBody>
          <a:bodyPr/>
          <a:lstStyle/>
          <a:p>
            <a:pPr marL="0" indent="0">
              <a:buNone/>
            </a:pPr>
            <a:r>
              <a:rPr lang="en-GB" dirty="0"/>
              <a:t>for </a:t>
            </a:r>
            <a:r>
              <a:rPr lang="en-GB" dirty="0" err="1"/>
              <a:t>i</a:t>
            </a:r>
            <a:r>
              <a:rPr lang="en-GB" dirty="0"/>
              <a:t> in range(5):</a:t>
            </a:r>
          </a:p>
          <a:p>
            <a:pPr marL="0" indent="0">
              <a:buNone/>
            </a:pPr>
            <a:r>
              <a:rPr lang="en-GB" dirty="0"/>
              <a:t>    if </a:t>
            </a:r>
            <a:r>
              <a:rPr lang="en-GB" dirty="0" err="1"/>
              <a:t>i</a:t>
            </a:r>
            <a:r>
              <a:rPr lang="en-GB" dirty="0"/>
              <a:t> == 2:</a:t>
            </a:r>
          </a:p>
          <a:p>
            <a:pPr marL="0" indent="0">
              <a:buNone/>
            </a:pPr>
            <a:r>
              <a:rPr lang="en-GB" dirty="0"/>
              <a:t>        continue  # Skips printing 2</a:t>
            </a:r>
          </a:p>
          <a:p>
            <a:pPr marL="0" indent="0">
              <a:buNone/>
            </a:pPr>
            <a:r>
              <a:rPr lang="en-GB" dirty="0"/>
              <a:t>    print(</a:t>
            </a:r>
            <a:r>
              <a:rPr lang="en-GB" dirty="0" err="1"/>
              <a:t>i</a:t>
            </a:r>
            <a:r>
              <a:rPr lang="en-GB" dirty="0"/>
              <a:t>)</a:t>
            </a:r>
          </a:p>
          <a:p>
            <a:endParaRPr lang="en-AE" dirty="0"/>
          </a:p>
        </p:txBody>
      </p:sp>
    </p:spTree>
    <p:extLst>
      <p:ext uri="{BB962C8B-B14F-4D97-AF65-F5344CB8AC3E}">
        <p14:creationId xmlns:p14="http://schemas.microsoft.com/office/powerpoint/2010/main" val="35278619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7F78-C061-E594-90F9-7D878526872B}"/>
              </a:ext>
            </a:extLst>
          </p:cNvPr>
          <p:cNvSpPr>
            <a:spLocks noGrp="1"/>
          </p:cNvSpPr>
          <p:nvPr>
            <p:ph type="title"/>
          </p:nvPr>
        </p:nvSpPr>
        <p:spPr/>
        <p:txBody>
          <a:bodyPr/>
          <a:lstStyle/>
          <a:p>
            <a:r>
              <a:rPr lang="en-GB" dirty="0"/>
              <a:t>Using pass in Loops</a:t>
            </a:r>
            <a:endParaRPr lang="en-AE" dirty="0"/>
          </a:p>
        </p:txBody>
      </p:sp>
      <p:sp>
        <p:nvSpPr>
          <p:cNvPr id="3" name="Content Placeholder 2">
            <a:extLst>
              <a:ext uri="{FF2B5EF4-FFF2-40B4-BE49-F238E27FC236}">
                <a16:creationId xmlns:a16="http://schemas.microsoft.com/office/drawing/2014/main" id="{41D7962D-8C13-35BC-027E-3C84F08DF9E0}"/>
              </a:ext>
            </a:extLst>
          </p:cNvPr>
          <p:cNvSpPr>
            <a:spLocks noGrp="1"/>
          </p:cNvSpPr>
          <p:nvPr>
            <p:ph idx="1"/>
          </p:nvPr>
        </p:nvSpPr>
        <p:spPr/>
        <p:txBody>
          <a:bodyPr/>
          <a:lstStyle/>
          <a:p>
            <a:r>
              <a:rPr lang="en-GB" dirty="0"/>
              <a:t>The pass statement is a placeholder that does nothing but allows the code to run without errors.</a:t>
            </a:r>
          </a:p>
          <a:p>
            <a:r>
              <a:rPr lang="en-GB" dirty="0"/>
              <a:t> It's useful when you have an empty loop or function that you plan to implement later.</a:t>
            </a:r>
            <a:endParaRPr lang="en-AE" dirty="0"/>
          </a:p>
        </p:txBody>
      </p:sp>
    </p:spTree>
    <p:extLst>
      <p:ext uri="{BB962C8B-B14F-4D97-AF65-F5344CB8AC3E}">
        <p14:creationId xmlns:p14="http://schemas.microsoft.com/office/powerpoint/2010/main" val="40467617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0A826-519A-E66A-423C-AB9C986EC9E3}"/>
              </a:ext>
            </a:extLst>
          </p:cNvPr>
          <p:cNvSpPr>
            <a:spLocks noGrp="1"/>
          </p:cNvSpPr>
          <p:nvPr>
            <p:ph type="title"/>
          </p:nvPr>
        </p:nvSpPr>
        <p:spPr/>
        <p:txBody>
          <a:bodyPr/>
          <a:lstStyle/>
          <a:p>
            <a:r>
              <a:rPr lang="en-GB" dirty="0"/>
              <a:t>Example</a:t>
            </a:r>
            <a:endParaRPr lang="en-AE" dirty="0"/>
          </a:p>
        </p:txBody>
      </p:sp>
      <p:sp>
        <p:nvSpPr>
          <p:cNvPr id="3" name="Content Placeholder 2">
            <a:extLst>
              <a:ext uri="{FF2B5EF4-FFF2-40B4-BE49-F238E27FC236}">
                <a16:creationId xmlns:a16="http://schemas.microsoft.com/office/drawing/2014/main" id="{2C14F717-7998-939F-94A9-F34CA58CFCF1}"/>
              </a:ext>
            </a:extLst>
          </p:cNvPr>
          <p:cNvSpPr>
            <a:spLocks noGrp="1"/>
          </p:cNvSpPr>
          <p:nvPr>
            <p:ph idx="1"/>
          </p:nvPr>
        </p:nvSpPr>
        <p:spPr/>
        <p:txBody>
          <a:bodyPr/>
          <a:lstStyle/>
          <a:p>
            <a:pPr marL="0" indent="0">
              <a:buNone/>
            </a:pPr>
            <a:r>
              <a:rPr lang="en-GB" dirty="0"/>
              <a:t>for </a:t>
            </a:r>
            <a:r>
              <a:rPr lang="en-GB" dirty="0" err="1"/>
              <a:t>i</a:t>
            </a:r>
            <a:r>
              <a:rPr lang="en-GB" dirty="0"/>
              <a:t> in range(5):</a:t>
            </a:r>
          </a:p>
          <a:p>
            <a:pPr marL="0" indent="0">
              <a:buNone/>
            </a:pPr>
            <a:r>
              <a:rPr lang="en-GB" dirty="0"/>
              <a:t>    if </a:t>
            </a:r>
            <a:r>
              <a:rPr lang="en-GB" dirty="0" err="1"/>
              <a:t>i</a:t>
            </a:r>
            <a:r>
              <a:rPr lang="en-GB" dirty="0"/>
              <a:t> == 3:</a:t>
            </a:r>
          </a:p>
          <a:p>
            <a:pPr marL="0" indent="0">
              <a:buNone/>
            </a:pPr>
            <a:r>
              <a:rPr lang="en-GB" dirty="0"/>
              <a:t>        pass  # Placeholder, does nothing</a:t>
            </a:r>
          </a:p>
          <a:p>
            <a:pPr marL="0" indent="0">
              <a:buNone/>
            </a:pPr>
            <a:r>
              <a:rPr lang="en-GB" dirty="0"/>
              <a:t>    else:</a:t>
            </a:r>
          </a:p>
          <a:p>
            <a:pPr marL="0" indent="0">
              <a:buNone/>
            </a:pPr>
            <a:r>
              <a:rPr lang="en-GB" dirty="0"/>
              <a:t>        print(</a:t>
            </a:r>
            <a:r>
              <a:rPr lang="en-GB" dirty="0" err="1"/>
              <a:t>i</a:t>
            </a:r>
            <a:r>
              <a:rPr lang="en-GB" dirty="0"/>
              <a:t>)</a:t>
            </a:r>
          </a:p>
          <a:p>
            <a:pPr marL="0" indent="0">
              <a:buNone/>
            </a:pPr>
            <a:endParaRPr lang="en-AE" dirty="0"/>
          </a:p>
        </p:txBody>
      </p:sp>
    </p:spTree>
    <p:extLst>
      <p:ext uri="{BB962C8B-B14F-4D97-AF65-F5344CB8AC3E}">
        <p14:creationId xmlns:p14="http://schemas.microsoft.com/office/powerpoint/2010/main" val="7451052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5D47-C17F-7108-1552-192800B56BD7}"/>
              </a:ext>
            </a:extLst>
          </p:cNvPr>
          <p:cNvSpPr>
            <a:spLocks noGrp="1"/>
          </p:cNvSpPr>
          <p:nvPr>
            <p:ph type="title"/>
          </p:nvPr>
        </p:nvSpPr>
        <p:spPr/>
        <p:txBody>
          <a:bodyPr/>
          <a:lstStyle/>
          <a:p>
            <a:r>
              <a:rPr lang="en-GB" dirty="0"/>
              <a:t>Nested Loops</a:t>
            </a:r>
            <a:endParaRPr lang="en-AE" dirty="0"/>
          </a:p>
        </p:txBody>
      </p:sp>
      <p:sp>
        <p:nvSpPr>
          <p:cNvPr id="3" name="Content Placeholder 2">
            <a:extLst>
              <a:ext uri="{FF2B5EF4-FFF2-40B4-BE49-F238E27FC236}">
                <a16:creationId xmlns:a16="http://schemas.microsoft.com/office/drawing/2014/main" id="{F8FC3903-B381-F815-FF7C-0689C8E1670D}"/>
              </a:ext>
            </a:extLst>
          </p:cNvPr>
          <p:cNvSpPr>
            <a:spLocks noGrp="1"/>
          </p:cNvSpPr>
          <p:nvPr>
            <p:ph idx="1"/>
          </p:nvPr>
        </p:nvSpPr>
        <p:spPr/>
        <p:txBody>
          <a:bodyPr/>
          <a:lstStyle/>
          <a:p>
            <a:pPr algn="just"/>
            <a:r>
              <a:rPr lang="en-GB" dirty="0"/>
              <a:t>Loops inside loops, useful for grids and matrices.</a:t>
            </a:r>
          </a:p>
          <a:p>
            <a:pPr algn="just"/>
            <a:r>
              <a:rPr lang="en-GB" dirty="0"/>
              <a:t>Example:</a:t>
            </a:r>
          </a:p>
          <a:p>
            <a:pPr marL="400050" lvl="1" indent="0" algn="just">
              <a:buNone/>
            </a:pPr>
            <a:r>
              <a:rPr lang="en-GB" sz="3600" dirty="0"/>
              <a:t>for </a:t>
            </a:r>
            <a:r>
              <a:rPr lang="en-GB" sz="3600" dirty="0" err="1"/>
              <a:t>i</a:t>
            </a:r>
            <a:r>
              <a:rPr lang="en-GB" sz="3600" dirty="0"/>
              <a:t> in range(3):  # Outer loop</a:t>
            </a:r>
          </a:p>
          <a:p>
            <a:pPr marL="400050" lvl="1" indent="0" algn="just">
              <a:buNone/>
            </a:pPr>
            <a:r>
              <a:rPr lang="en-GB" sz="3600" dirty="0"/>
              <a:t>    for j in range(2):  # Inner loop</a:t>
            </a:r>
          </a:p>
          <a:p>
            <a:pPr marL="400050" lvl="1" indent="0" algn="just">
              <a:buNone/>
            </a:pPr>
            <a:r>
              <a:rPr lang="en-GB" sz="3600" dirty="0"/>
              <a:t>        print(</a:t>
            </a:r>
            <a:r>
              <a:rPr lang="en-GB" sz="3600" dirty="0" err="1"/>
              <a:t>f'i</a:t>
            </a:r>
            <a:r>
              <a:rPr lang="en-GB" sz="3600" dirty="0"/>
              <a:t>={</a:t>
            </a:r>
            <a:r>
              <a:rPr lang="en-GB" sz="3600" dirty="0" err="1"/>
              <a:t>i</a:t>
            </a:r>
            <a:r>
              <a:rPr lang="en-GB" sz="3600" dirty="0"/>
              <a:t>}, j={j}')</a:t>
            </a:r>
          </a:p>
          <a:p>
            <a:pPr algn="just"/>
            <a:endParaRPr lang="en-AE" dirty="0"/>
          </a:p>
        </p:txBody>
      </p:sp>
    </p:spTree>
    <p:extLst>
      <p:ext uri="{BB962C8B-B14F-4D97-AF65-F5344CB8AC3E}">
        <p14:creationId xmlns:p14="http://schemas.microsoft.com/office/powerpoint/2010/main" val="1605503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TotalTime>
  <Words>3805</Words>
  <Application>Microsoft Office PowerPoint</Application>
  <PresentationFormat>On-screen Show (4:3)</PresentationFormat>
  <Paragraphs>541</Paragraphs>
  <Slides>77</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Arial</vt:lpstr>
      <vt:lpstr>Calibri</vt:lpstr>
      <vt:lpstr>Poppins</vt:lpstr>
      <vt:lpstr>Times New Roman</vt:lpstr>
      <vt:lpstr>Wingdings</vt:lpstr>
      <vt:lpstr>Office Theme</vt:lpstr>
      <vt:lpstr>Python Programming</vt:lpstr>
      <vt:lpstr>What is Python?</vt:lpstr>
      <vt:lpstr>Why Use Python?</vt:lpstr>
      <vt:lpstr>Applications of Python</vt:lpstr>
      <vt:lpstr>Comments in Python</vt:lpstr>
      <vt:lpstr>Example: Comments</vt:lpstr>
      <vt:lpstr>Escape Sequence Characters</vt:lpstr>
      <vt:lpstr>Example Escape Sequence</vt:lpstr>
      <vt:lpstr>Variables and Data Types</vt:lpstr>
      <vt:lpstr>What is a Data Type?</vt:lpstr>
      <vt:lpstr>Built-in data types:</vt:lpstr>
      <vt:lpstr>Example: Variables and Data Types</vt:lpstr>
      <vt:lpstr>Operators in Python</vt:lpstr>
      <vt:lpstr>Example: Operators</vt:lpstr>
      <vt:lpstr>Operator Precedence</vt:lpstr>
      <vt:lpstr>Example: Operator Precedence</vt:lpstr>
      <vt:lpstr>Naming Conventions</vt:lpstr>
      <vt:lpstr>Printing Output</vt:lpstr>
      <vt:lpstr>Example: Printing Output</vt:lpstr>
      <vt:lpstr>Taking User Input</vt:lpstr>
      <vt:lpstr>Example: Taking User Input</vt:lpstr>
      <vt:lpstr>Exercise 1 - Create a Calculator</vt:lpstr>
      <vt:lpstr>Type Casting</vt:lpstr>
      <vt:lpstr>Example: Type Casting</vt:lpstr>
      <vt:lpstr>Types of Typecasting:</vt:lpstr>
      <vt:lpstr>Explicit typecasting:</vt:lpstr>
      <vt:lpstr>Example of explicit typecasting:</vt:lpstr>
      <vt:lpstr>Implicit type casting:</vt:lpstr>
      <vt:lpstr>Example of implicit type casting:</vt:lpstr>
      <vt:lpstr>What are strings?</vt:lpstr>
      <vt:lpstr>Accessing Characters of a String</vt:lpstr>
      <vt:lpstr>Looping through the string</vt:lpstr>
      <vt:lpstr>Operations on String</vt:lpstr>
      <vt:lpstr>String as an array</vt:lpstr>
      <vt:lpstr>Slicing Example:</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String methods</vt:lpstr>
      <vt:lpstr>Conditional Statements</vt:lpstr>
      <vt:lpstr>If Statement</vt:lpstr>
      <vt:lpstr>If-Else Statement</vt:lpstr>
      <vt:lpstr>If-Elif-Else Statement (Multiple Conditions)</vt:lpstr>
      <vt:lpstr>Nested If Statements</vt:lpstr>
      <vt:lpstr>Match-Case (Python 3.10+)</vt:lpstr>
      <vt:lpstr>Example</vt:lpstr>
      <vt:lpstr>Loops in Python</vt:lpstr>
      <vt:lpstr>For Loop</vt:lpstr>
      <vt:lpstr>For Loop Examples</vt:lpstr>
      <vt:lpstr>Example: iterating over a string:</vt:lpstr>
      <vt:lpstr>While Loop</vt:lpstr>
      <vt:lpstr>Loop Control Statements</vt:lpstr>
      <vt:lpstr>Using break in Loops</vt:lpstr>
      <vt:lpstr>Using continue in Loops</vt:lpstr>
      <vt:lpstr>Using pass in Loops</vt:lpstr>
      <vt:lpstr>Example</vt:lpstr>
      <vt:lpstr>Nested Loops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Manahil Fatima</cp:lastModifiedBy>
  <cp:revision>26</cp:revision>
  <dcterms:created xsi:type="dcterms:W3CDTF">2013-01-27T09:14:16Z</dcterms:created>
  <dcterms:modified xsi:type="dcterms:W3CDTF">2025-03-02T07:45:26Z</dcterms:modified>
  <cp:category/>
</cp:coreProperties>
</file>
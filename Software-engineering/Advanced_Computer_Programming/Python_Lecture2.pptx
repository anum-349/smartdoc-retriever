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318" r:id="rId2"/>
    <p:sldId id="364" r:id="rId3"/>
    <p:sldId id="365" r:id="rId4"/>
    <p:sldId id="366" r:id="rId5"/>
    <p:sldId id="367" r:id="rId6"/>
    <p:sldId id="279" r:id="rId7"/>
    <p:sldId id="281" r:id="rId8"/>
    <p:sldId id="368" r:id="rId9"/>
    <p:sldId id="369" r:id="rId10"/>
    <p:sldId id="370" r:id="rId11"/>
    <p:sldId id="371" r:id="rId12"/>
    <p:sldId id="372" r:id="rId13"/>
    <p:sldId id="373" r:id="rId14"/>
    <p:sldId id="374" r:id="rId15"/>
    <p:sldId id="375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387" r:id="rId28"/>
    <p:sldId id="388" r:id="rId29"/>
    <p:sldId id="389" r:id="rId30"/>
    <p:sldId id="390" r:id="rId31"/>
    <p:sldId id="391" r:id="rId32"/>
    <p:sldId id="392" r:id="rId33"/>
    <p:sldId id="393" r:id="rId34"/>
    <p:sldId id="394" r:id="rId35"/>
    <p:sldId id="395" r:id="rId36"/>
    <p:sldId id="396" r:id="rId37"/>
    <p:sldId id="397" r:id="rId38"/>
    <p:sldId id="398" r:id="rId39"/>
    <p:sldId id="399" r:id="rId40"/>
    <p:sldId id="400" r:id="rId41"/>
    <p:sldId id="401" r:id="rId42"/>
    <p:sldId id="402" r:id="rId43"/>
    <p:sldId id="405" r:id="rId44"/>
    <p:sldId id="406" r:id="rId45"/>
    <p:sldId id="407" r:id="rId46"/>
    <p:sldId id="408" r:id="rId47"/>
    <p:sldId id="409" r:id="rId48"/>
    <p:sldId id="410" r:id="rId49"/>
    <p:sldId id="411" r:id="rId50"/>
    <p:sldId id="412" r:id="rId51"/>
    <p:sldId id="413" r:id="rId52"/>
    <p:sldId id="414" r:id="rId53"/>
    <p:sldId id="416" r:id="rId54"/>
    <p:sldId id="415" r:id="rId55"/>
    <p:sldId id="417" r:id="rId56"/>
    <p:sldId id="418" r:id="rId57"/>
    <p:sldId id="419" r:id="rId58"/>
    <p:sldId id="420" r:id="rId59"/>
    <p:sldId id="421" r:id="rId60"/>
    <p:sldId id="426" r:id="rId61"/>
    <p:sldId id="427" r:id="rId62"/>
    <p:sldId id="425" r:id="rId63"/>
    <p:sldId id="423" r:id="rId64"/>
    <p:sldId id="424" r:id="rId65"/>
    <p:sldId id="428" r:id="rId6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70A1"/>
    <a:srgbClr val="F5C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72320" autoAdjust="0"/>
  </p:normalViewPr>
  <p:slideViewPr>
    <p:cSldViewPr snapToGrid="0" snapToObjects="1">
      <p:cViewPr varScale="1">
        <p:scale>
          <a:sx n="49" d="100"/>
          <a:sy n="49" d="100"/>
        </p:scale>
        <p:origin x="199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62C84-2B26-478E-A24D-D7927436A9FA}" type="datetimeFigureOut">
              <a:rPr lang="en-AE" smtClean="0"/>
              <a:t>09/03/2025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0BBE9E-C29F-4FB2-AFDC-9BC42C25FCC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1041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47286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00050" lvl="1" indent="0">
              <a:buNone/>
            </a:pPr>
            <a:r>
              <a:rPr lang="en-GB" dirty="0"/>
              <a:t># Output:</a:t>
            </a:r>
          </a:p>
          <a:p>
            <a:pPr marL="400050" lvl="1" indent="0">
              <a:buNone/>
            </a:pPr>
            <a:r>
              <a:rPr lang="en-GB" dirty="0"/>
              <a:t># 1</a:t>
            </a:r>
          </a:p>
          <a:p>
            <a:pPr marL="400050" lvl="1" indent="0">
              <a:buNone/>
            </a:pPr>
            <a:r>
              <a:rPr lang="en-GB" dirty="0"/>
              <a:t># 2</a:t>
            </a:r>
          </a:p>
          <a:p>
            <a:pPr marL="400050" lvl="1" indent="0">
              <a:buNone/>
            </a:pPr>
            <a:r>
              <a:rPr lang="en-GB" dirty="0"/>
              <a:t># 3</a:t>
            </a:r>
          </a:p>
          <a:p>
            <a:pPr marL="400050" lvl="1" indent="0">
              <a:buNone/>
            </a:pPr>
            <a:r>
              <a:rPr lang="en-GB" dirty="0"/>
              <a:t># 4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15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4150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# Output:</a:t>
            </a:r>
          </a:p>
          <a:p>
            <a:pPr marL="0" indent="0">
              <a:buNone/>
            </a:pPr>
            <a:r>
              <a:rPr lang="en-GB" dirty="0"/>
              <a:t># name: Sara</a:t>
            </a:r>
          </a:p>
          <a:p>
            <a:pPr marL="0" indent="0">
              <a:buNone/>
            </a:pPr>
            <a:r>
              <a:rPr lang="en-GB" dirty="0"/>
              <a:t># age: 25</a:t>
            </a:r>
          </a:p>
          <a:p>
            <a:pPr marL="0" indent="0">
              <a:buNone/>
            </a:pPr>
            <a:r>
              <a:rPr lang="en-GB" dirty="0"/>
              <a:t># job: Engineer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17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51760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# Output:</a:t>
            </a:r>
          </a:p>
          <a:p>
            <a:pPr marL="0" indent="0">
              <a:buNone/>
            </a:pPr>
            <a:r>
              <a:rPr lang="en-GB" dirty="0"/>
              <a:t># Positional arguments:</a:t>
            </a:r>
          </a:p>
          <a:p>
            <a:pPr marL="0" indent="0">
              <a:buNone/>
            </a:pPr>
            <a:r>
              <a:rPr lang="en-GB" dirty="0"/>
              <a:t># 1</a:t>
            </a:r>
          </a:p>
          <a:p>
            <a:pPr marL="0" indent="0">
              <a:buNone/>
            </a:pPr>
            <a:r>
              <a:rPr lang="en-GB" dirty="0"/>
              <a:t># 2</a:t>
            </a:r>
          </a:p>
          <a:p>
            <a:pPr marL="0" indent="0">
              <a:buNone/>
            </a:pPr>
            <a:r>
              <a:rPr lang="en-GB" dirty="0"/>
              <a:t># 3</a:t>
            </a:r>
          </a:p>
          <a:p>
            <a:pPr marL="0" indent="0">
              <a:buNone/>
            </a:pPr>
            <a:r>
              <a:rPr lang="en-GB" dirty="0"/>
              <a:t># Keyword arguments:</a:t>
            </a:r>
          </a:p>
          <a:p>
            <a:pPr marL="0" indent="0">
              <a:buNone/>
            </a:pPr>
            <a:r>
              <a:rPr lang="en-GB" dirty="0"/>
              <a:t># name: </a:t>
            </a:r>
            <a:r>
              <a:rPr lang="en-GB" dirty="0" err="1"/>
              <a:t>saba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# age: 30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18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33257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# Output: No data provided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# Output: Data processed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22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28169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Lists are changeable meaning we can alter them after creation.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</a:t>
            </a:r>
            <a:r>
              <a:rPr lang="en-GB" b="1" dirty="0"/>
              <a:t>lists</a:t>
            </a:r>
            <a:r>
              <a:rPr lang="en-GB" dirty="0"/>
              <a:t> when you need </a:t>
            </a:r>
            <a:r>
              <a:rPr lang="en-GB" b="1" dirty="0"/>
              <a:t>general-purpose storage</a:t>
            </a:r>
            <a:r>
              <a:rPr lang="en-GB" dirty="0"/>
              <a:t> with different data types.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</a:t>
            </a:r>
            <a:r>
              <a:rPr lang="en-GB" b="1" dirty="0"/>
              <a:t>arrays</a:t>
            </a:r>
            <a:r>
              <a:rPr lang="en-GB" dirty="0"/>
              <a:t> when you need </a:t>
            </a:r>
            <a:r>
              <a:rPr lang="en-GB" b="1" dirty="0"/>
              <a:t>faster numerical operations</a:t>
            </a:r>
            <a:r>
              <a:rPr lang="en-GB" dirty="0"/>
              <a:t>.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23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94578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[1, 2, 2, 3, 5, 4, 6]</a:t>
            </a:r>
          </a:p>
          <a:p>
            <a:r>
              <a:rPr lang="en-GB" dirty="0"/>
              <a:t>['Red', 'Green', 'Blue']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24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32227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As we can see, a single list can contain items of different data types.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25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24772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Using slicing ([:]) – Also copies a list</a:t>
            </a:r>
          </a:p>
          <a:p>
            <a:r>
              <a:rPr lang="en-GB" dirty="0"/>
              <a:t>list1 = [1, 2, 3]</a:t>
            </a:r>
          </a:p>
          <a:p>
            <a:r>
              <a:rPr lang="en-GB" dirty="0"/>
              <a:t>list2 = list1[:]</a:t>
            </a:r>
          </a:p>
          <a:p>
            <a:r>
              <a:rPr lang="en-GB" dirty="0"/>
              <a:t>print(list2)  # Output: [1, 2, 3]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33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99698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8292A2"/>
                </a:solidFill>
                <a:effectLst/>
              </a:rPr>
              <a:t># Similar to print(</a:t>
            </a:r>
            <a:r>
              <a:rPr lang="en-GB" dirty="0"/>
              <a:t>fruits</a:t>
            </a:r>
            <a:r>
              <a:rPr lang="en-GB" dirty="0">
                <a:solidFill>
                  <a:srgbClr val="8292A2"/>
                </a:solidFill>
                <a:effectLst/>
              </a:rPr>
              <a:t>[</a:t>
            </a:r>
            <a:r>
              <a:rPr lang="en-GB" dirty="0" err="1">
                <a:solidFill>
                  <a:srgbClr val="8292A2"/>
                </a:solidFill>
                <a:effectLst/>
              </a:rPr>
              <a:t>len</a:t>
            </a:r>
            <a:r>
              <a:rPr lang="en-GB" dirty="0">
                <a:solidFill>
                  <a:srgbClr val="8292A2"/>
                </a:solidFill>
                <a:effectLst/>
              </a:rPr>
              <a:t>(</a:t>
            </a:r>
            <a:r>
              <a:rPr lang="en-GB" dirty="0"/>
              <a:t>fruits</a:t>
            </a:r>
            <a:r>
              <a:rPr lang="en-GB" dirty="0">
                <a:solidFill>
                  <a:srgbClr val="8292A2"/>
                </a:solidFill>
                <a:effectLst/>
              </a:rPr>
              <a:t>) - 1])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38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18161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50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00426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{'name’: Saba', 'age': 19, 'eligible': True}</a:t>
            </a:r>
          </a:p>
          <a:p>
            <a:r>
              <a:rPr lang="en-GB" dirty="0"/>
              <a:t>{'name’: Saba', 'age': 20, 'eligible': True, 'DOB': 2001}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BBE9E-C29F-4FB2-AFDC-9BC42C25FCC0}" type="slidenum">
              <a:rPr lang="en-AE" smtClean="0"/>
              <a:t>58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40590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750EB8-5EB5-0D33-7E47-B2E00DCE25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8654" y="231668"/>
            <a:ext cx="1769094" cy="225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755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Python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Lecture 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A96A9-0D63-9A20-4837-069717C54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Python Functions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86A38-C29B-9E8A-E73A-514748A08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</a:t>
            </a:r>
            <a:r>
              <a:rPr lang="en-GB" b="1" dirty="0"/>
              <a:t>function</a:t>
            </a:r>
            <a:r>
              <a:rPr lang="en-GB" dirty="0"/>
              <a:t> in Python is a </a:t>
            </a:r>
            <a:r>
              <a:rPr lang="en-GB" b="1" dirty="0"/>
              <a:t>reusable block of code</a:t>
            </a:r>
            <a:r>
              <a:rPr lang="en-GB" dirty="0"/>
              <a:t> that performs a specific task. Functions make code</a:t>
            </a:r>
            <a:r>
              <a:rPr lang="en-GB" b="1" dirty="0"/>
              <a:t> organized, and reusable</a:t>
            </a:r>
            <a:r>
              <a:rPr lang="en-GB" dirty="0"/>
              <a:t>.</a:t>
            </a:r>
          </a:p>
          <a:p>
            <a:r>
              <a:rPr lang="en-GB" dirty="0"/>
              <a:t>There are two types of functions:</a:t>
            </a:r>
          </a:p>
          <a:p>
            <a:pPr lvl="1"/>
            <a:r>
              <a:rPr lang="en-GB" sz="3200" dirty="0"/>
              <a:t>Built-in functions</a:t>
            </a:r>
          </a:p>
          <a:p>
            <a:pPr lvl="1"/>
            <a:r>
              <a:rPr lang="en-GB" sz="3200" dirty="0"/>
              <a:t>User-defined functions</a:t>
            </a:r>
            <a:endParaRPr lang="en-AE" sz="3200" dirty="0"/>
          </a:p>
        </p:txBody>
      </p:sp>
    </p:spTree>
    <p:extLst>
      <p:ext uri="{BB962C8B-B14F-4D97-AF65-F5344CB8AC3E}">
        <p14:creationId xmlns:p14="http://schemas.microsoft.com/office/powerpoint/2010/main" val="827586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B66FE-59CB-0A46-7E60-79338C9F3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Built-in functions: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3CC40-67F6-FDBF-48E0-D513394D7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l">
              <a:buNone/>
            </a:pPr>
            <a:r>
              <a:rPr lang="en-GB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These functions are defined and pre-coded in python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min()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max()</a:t>
            </a:r>
          </a:p>
          <a:p>
            <a:pPr algn="l"/>
            <a:r>
              <a:rPr lang="en-GB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len</a:t>
            </a:r>
            <a:r>
              <a:rPr lang="en-GB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() 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sum()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type()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range()</a:t>
            </a:r>
          </a:p>
          <a:p>
            <a:pPr algn="l"/>
            <a:r>
              <a:rPr lang="en-GB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dict</a:t>
            </a:r>
            <a:r>
              <a:rPr lang="en-GB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()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list() 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tuple() 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set()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print(), etc.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13768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E7DA2-F1A9-D092-680E-C10281E8F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User-defined functions: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0EDE9-E1EC-F495-E19B-1C9ACE84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+mj-lt"/>
              </a:rPr>
              <a:t>We can create functions to perform specific tasks as per our needs. Such functions are called user-defined functions.</a:t>
            </a:r>
          </a:p>
          <a:p>
            <a:r>
              <a:rPr lang="en-GB" dirty="0">
                <a:solidFill>
                  <a:srgbClr val="000000"/>
                </a:solidFill>
                <a:latin typeface="+mj-lt"/>
              </a:rPr>
              <a:t>Syntax:</a:t>
            </a:r>
            <a:br>
              <a:rPr lang="en-GB" dirty="0">
                <a:solidFill>
                  <a:srgbClr val="000000"/>
                </a:solidFill>
                <a:latin typeface="+mj-lt"/>
              </a:rPr>
            </a:br>
            <a:r>
              <a:rPr lang="en-GB" dirty="0">
                <a:solidFill>
                  <a:srgbClr val="000000"/>
                </a:solidFill>
                <a:latin typeface="+mj-lt"/>
              </a:rPr>
              <a:t>def </a:t>
            </a:r>
            <a:r>
              <a:rPr lang="en-GB" dirty="0" err="1">
                <a:solidFill>
                  <a:srgbClr val="000000"/>
                </a:solidFill>
                <a:latin typeface="+mj-lt"/>
              </a:rPr>
              <a:t>function_name</a:t>
            </a:r>
            <a:r>
              <a:rPr lang="en-GB" dirty="0">
                <a:solidFill>
                  <a:srgbClr val="000000"/>
                </a:solidFill>
                <a:latin typeface="+mj-lt"/>
              </a:rPr>
              <a:t>(parameters):</a:t>
            </a:r>
          </a:p>
          <a:p>
            <a:pPr marL="800100" lvl="2" indent="0">
              <a:buNone/>
            </a:pPr>
            <a:r>
              <a:rPr lang="en-GB" sz="3200" dirty="0">
                <a:solidFill>
                  <a:srgbClr val="000000"/>
                </a:solidFill>
                <a:latin typeface="+mj-lt"/>
              </a:rPr>
              <a:t>  pass</a:t>
            </a:r>
          </a:p>
          <a:p>
            <a:pPr marL="800100" lvl="2" indent="0">
              <a:buNone/>
            </a:pPr>
            <a:r>
              <a:rPr lang="en-GB" sz="3200" dirty="0">
                <a:solidFill>
                  <a:srgbClr val="000000"/>
                </a:solidFill>
                <a:latin typeface="+mj-lt"/>
              </a:rPr>
              <a:t>  # Code and Statements</a:t>
            </a:r>
            <a:endParaRPr lang="en-AE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62215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F77E2-E77C-F334-1B20-C676F481E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7F4FA-550D-6575-F8F8-D42276097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User-defined functions: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0696E-9944-3E7F-3C5A-2EAF65CFF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3200" dirty="0">
                <a:latin typeface="+mj-lt"/>
              </a:rPr>
              <a:t>Create a function using the def keyword, followed by a function name, followed by a </a:t>
            </a:r>
            <a:r>
              <a:rPr lang="en-GB" sz="3200" dirty="0" err="1">
                <a:latin typeface="+mj-lt"/>
              </a:rPr>
              <a:t>paranthesis</a:t>
            </a:r>
            <a:r>
              <a:rPr lang="en-GB" sz="3200" dirty="0">
                <a:latin typeface="+mj-lt"/>
              </a:rPr>
              <a:t> (()) and a colon(:).</a:t>
            </a:r>
          </a:p>
          <a:p>
            <a:r>
              <a:rPr lang="en-GB" sz="3200" dirty="0">
                <a:latin typeface="+mj-lt"/>
              </a:rPr>
              <a:t>Any parameters and arguments should be placed within the parentheses.</a:t>
            </a:r>
          </a:p>
          <a:p>
            <a:r>
              <a:rPr lang="en-GB" sz="3200" dirty="0">
                <a:latin typeface="+mj-lt"/>
              </a:rPr>
              <a:t>Rules to naming function are similar to that of naming variables.</a:t>
            </a:r>
          </a:p>
          <a:p>
            <a:r>
              <a:rPr lang="en-GB" sz="3200" dirty="0">
                <a:latin typeface="+mj-lt"/>
              </a:rPr>
              <a:t>Any statements and other code within the function should be indented.</a:t>
            </a:r>
            <a:endParaRPr lang="en-AE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0371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Calling a function: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We call a function by giving the function name, followed by parameters (if any) in the parenthesis.</a:t>
            </a:r>
          </a:p>
          <a:p>
            <a:pPr marL="0" indent="0">
              <a:buNone/>
            </a:pPr>
            <a:r>
              <a:rPr lang="en-GB" dirty="0"/>
              <a:t>Example:</a:t>
            </a:r>
            <a:br>
              <a:rPr lang="en-GB" dirty="0"/>
            </a:br>
            <a:r>
              <a:rPr lang="en-GB" dirty="0"/>
              <a:t>def greet(name):</a:t>
            </a:r>
          </a:p>
          <a:p>
            <a:pPr marL="0" indent="0">
              <a:buNone/>
            </a:pPr>
            <a:r>
              <a:rPr lang="en-GB" dirty="0"/>
              <a:t>    print('Hello,', name)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greet(‘Sara')</a:t>
            </a:r>
          </a:p>
          <a:p>
            <a:pPr marL="0" indent="0"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Functions can take parameters to process values.</a:t>
            </a:r>
          </a:p>
          <a:p>
            <a:r>
              <a:rPr dirty="0"/>
              <a:t>Positional and keyword arguments.</a:t>
            </a:r>
            <a:endParaRPr lang="en-US" dirty="0"/>
          </a:p>
          <a:p>
            <a:r>
              <a:rPr lang="en-GB" dirty="0"/>
              <a:t>There are four types of arguments that we can provide in a function:</a:t>
            </a:r>
          </a:p>
          <a:p>
            <a:pPr lvl="1"/>
            <a:r>
              <a:rPr lang="en-GB" sz="3200" dirty="0"/>
              <a:t>Default Arguments</a:t>
            </a:r>
          </a:p>
          <a:p>
            <a:pPr lvl="1"/>
            <a:r>
              <a:rPr lang="en-GB" sz="3200" dirty="0"/>
              <a:t>Keyword Arguments</a:t>
            </a:r>
          </a:p>
          <a:p>
            <a:pPr lvl="1"/>
            <a:r>
              <a:rPr lang="en-GB" sz="3200" dirty="0"/>
              <a:t>Variable length Arguments</a:t>
            </a:r>
          </a:p>
          <a:p>
            <a:pPr lvl="1"/>
            <a:r>
              <a:rPr lang="en-GB" sz="3200" dirty="0"/>
              <a:t>Required Arguments</a:t>
            </a:r>
            <a:endParaRPr lang="en-US" sz="3200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157A4-084F-9331-63D3-1906E5F0A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Default arguments: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AB135-4456-5377-33E3-99DB244F6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can provide a default value while creating a function. This way the function assumes a default value even if a value is not provided in the function call for that argument.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66688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877AD-388B-5F15-D08E-E54A284EA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BF18D-81C1-3E89-0016-44AE8860D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def greet(name="Guest"): </a:t>
            </a:r>
          </a:p>
          <a:p>
            <a:pPr marL="0" indent="0">
              <a:buNone/>
            </a:pPr>
            <a:r>
              <a:rPr lang="en-GB" dirty="0"/>
              <a:t>    print("Hello,", name)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greet(“sara") </a:t>
            </a:r>
          </a:p>
          <a:p>
            <a:pPr marL="0" indent="0">
              <a:buNone/>
            </a:pPr>
            <a:r>
              <a:rPr lang="en-GB" dirty="0"/>
              <a:t>greet() 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832068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6A91F-B255-D27E-5683-7CB7A285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Keyword arguments: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1C06A-7444-F56C-F837-26DC1E38D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Keyword arguments in Python functions allow you to pass arguments by explicitly specifying the name of the parameter, regardless of their order in the function definition. </a:t>
            </a:r>
          </a:p>
          <a:p>
            <a:r>
              <a:rPr lang="en-GB" dirty="0"/>
              <a:t>This makes the code more readable and can help prevent errors that may arise from passing arguments in the wrong order.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888909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CDD9F-86D7-ADD6-DD8A-A4FB55817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81330-C2C0-2C1B-BE09-07AD4EBA4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def </a:t>
            </a:r>
            <a:r>
              <a:rPr lang="en-GB" dirty="0" err="1"/>
              <a:t>describe_car</a:t>
            </a:r>
            <a:r>
              <a:rPr lang="en-GB" dirty="0"/>
              <a:t>(make, model, year, </a:t>
            </a:r>
            <a:r>
              <a:rPr lang="en-GB" dirty="0" err="1"/>
              <a:t>color</a:t>
            </a:r>
            <a:r>
              <a:rPr lang="en-GB" dirty="0"/>
              <a:t>):</a:t>
            </a:r>
          </a:p>
          <a:p>
            <a:pPr marL="0" indent="0">
              <a:buNone/>
            </a:pPr>
            <a:r>
              <a:rPr lang="en-GB" dirty="0"/>
              <a:t>    print(</a:t>
            </a:r>
            <a:r>
              <a:rPr lang="en-GB" dirty="0" err="1"/>
              <a:t>f"A</a:t>
            </a:r>
            <a:r>
              <a:rPr lang="en-GB" dirty="0"/>
              <a:t> {year} {</a:t>
            </a:r>
            <a:r>
              <a:rPr lang="en-GB" dirty="0" err="1"/>
              <a:t>color</a:t>
            </a:r>
            <a:r>
              <a:rPr lang="en-GB" dirty="0"/>
              <a:t>} {make} {model}.")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# Using keyword arguments to call the function</a:t>
            </a:r>
          </a:p>
          <a:p>
            <a:pPr marL="0" indent="0">
              <a:buNone/>
            </a:pPr>
            <a:r>
              <a:rPr lang="en-GB" dirty="0" err="1"/>
              <a:t>describe_car</a:t>
            </a:r>
            <a:r>
              <a:rPr lang="en-GB" dirty="0"/>
              <a:t>(make="Toyota", model="Corolla", year=2021, </a:t>
            </a:r>
            <a:r>
              <a:rPr lang="en-GB" dirty="0" err="1"/>
              <a:t>color</a:t>
            </a:r>
            <a:r>
              <a:rPr lang="en-GB" dirty="0"/>
              <a:t>="red")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# Using keyword arguments, the order of arguments can be changed</a:t>
            </a:r>
          </a:p>
          <a:p>
            <a:pPr marL="0" indent="0">
              <a:buNone/>
            </a:pPr>
            <a:r>
              <a:rPr lang="en-GB" dirty="0" err="1"/>
              <a:t>describe_car</a:t>
            </a:r>
            <a:r>
              <a:rPr lang="en-GB" dirty="0"/>
              <a:t>(model="Mustang", make="Ford", </a:t>
            </a:r>
            <a:r>
              <a:rPr lang="en-GB" dirty="0" err="1"/>
              <a:t>color</a:t>
            </a:r>
            <a:r>
              <a:rPr lang="en-GB" dirty="0"/>
              <a:t>="blue", year=1967)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219147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AEB74-3D17-781E-D63D-436DE32DA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Required arguments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DF643-7C4E-98CE-EAC5-DF8894248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Required arguments in Python functions are the parameters that must be provided during a function call. </a:t>
            </a:r>
          </a:p>
          <a:p>
            <a:r>
              <a:rPr lang="en-GB" dirty="0"/>
              <a:t>If these arguments are not supplied, Python raises a </a:t>
            </a:r>
            <a:r>
              <a:rPr lang="en-GB" dirty="0" err="1"/>
              <a:t>TypeError</a:t>
            </a:r>
            <a:r>
              <a:rPr lang="en-GB" dirty="0"/>
              <a:t> indicating that the function is missing necessary positional arguments. </a:t>
            </a:r>
          </a:p>
          <a:p>
            <a:r>
              <a:rPr lang="en-GB" dirty="0"/>
              <a:t>These arguments are fundamental for the function to operate and are defined in the function's signature without default values.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193201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AA3EF-1473-D14F-2B33-7DDA913BC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7BA00-988A-C104-4171-14D162385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GB" sz="8000" dirty="0"/>
              <a:t>def </a:t>
            </a:r>
            <a:r>
              <a:rPr lang="en-GB" sz="8000" dirty="0" err="1"/>
              <a:t>rectangle_area</a:t>
            </a:r>
            <a:r>
              <a:rPr lang="en-GB" sz="8000" dirty="0"/>
              <a:t>(length, width):</a:t>
            </a:r>
          </a:p>
          <a:p>
            <a:pPr marL="0" indent="0">
              <a:buNone/>
            </a:pPr>
            <a:r>
              <a:rPr lang="en-GB" sz="8000" dirty="0"/>
              <a:t>    area = length * width</a:t>
            </a:r>
          </a:p>
          <a:p>
            <a:pPr marL="0" indent="0">
              <a:buNone/>
            </a:pPr>
            <a:r>
              <a:rPr lang="en-GB" sz="8000" dirty="0"/>
              <a:t>    return area</a:t>
            </a:r>
          </a:p>
          <a:p>
            <a:pPr marL="0" indent="0">
              <a:buNone/>
            </a:pPr>
            <a:endParaRPr lang="en-GB" sz="8000" dirty="0"/>
          </a:p>
          <a:p>
            <a:pPr marL="0" indent="0">
              <a:buNone/>
            </a:pPr>
            <a:r>
              <a:rPr lang="en-GB" sz="8000" dirty="0"/>
              <a:t># Calling the function with both required arguments</a:t>
            </a:r>
          </a:p>
          <a:p>
            <a:pPr marL="0" indent="0">
              <a:buNone/>
            </a:pPr>
            <a:r>
              <a:rPr lang="en-GB" sz="8000" dirty="0"/>
              <a:t>print("Area of rectangle:", </a:t>
            </a:r>
            <a:r>
              <a:rPr lang="en-GB" sz="8000" dirty="0" err="1"/>
              <a:t>rectangle_area</a:t>
            </a:r>
            <a:r>
              <a:rPr lang="en-GB" sz="8000" dirty="0"/>
              <a:t>(5, 3))</a:t>
            </a:r>
          </a:p>
          <a:p>
            <a:pPr marL="0" indent="0">
              <a:buNone/>
            </a:pPr>
            <a:r>
              <a:rPr lang="en-GB" sz="8000" dirty="0"/>
              <a:t># Output: Area of rectangle: 15</a:t>
            </a:r>
          </a:p>
          <a:p>
            <a:pPr marL="0" indent="0">
              <a:buNone/>
            </a:pPr>
            <a:endParaRPr lang="en-GB" sz="8000" dirty="0"/>
          </a:p>
          <a:p>
            <a:pPr marL="0" indent="0">
              <a:buNone/>
            </a:pPr>
            <a:r>
              <a:rPr lang="en-GB" sz="8000" dirty="0"/>
              <a:t># print(</a:t>
            </a:r>
            <a:r>
              <a:rPr lang="en-GB" sz="8000" dirty="0" err="1"/>
              <a:t>rectangle_area</a:t>
            </a:r>
            <a:r>
              <a:rPr lang="en-GB" sz="8000" dirty="0"/>
              <a:t>(5)) </a:t>
            </a:r>
          </a:p>
          <a:p>
            <a:pPr marL="0" indent="0">
              <a:buNone/>
            </a:pPr>
            <a:r>
              <a:rPr lang="en-GB" sz="8000" dirty="0"/>
              <a:t># </a:t>
            </a:r>
            <a:r>
              <a:rPr lang="en-GB" sz="8000" dirty="0" err="1"/>
              <a:t>TypeError</a:t>
            </a:r>
            <a:r>
              <a:rPr lang="en-GB" sz="8000" dirty="0"/>
              <a:t>: </a:t>
            </a:r>
            <a:r>
              <a:rPr lang="en-GB" sz="8000" dirty="0" err="1"/>
              <a:t>rectangle_area</a:t>
            </a:r>
            <a:r>
              <a:rPr lang="en-GB" sz="8000" dirty="0"/>
              <a:t>() missing 1 required positional argument: 'width'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156854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AA2BB-2086-DDC4-001F-CEED12A0F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Variable-length arguments: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5296D-0017-F64D-D004-600EC4C07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Variable-length arguments in Python allow a function to accept an arbitrary number of arguments. </a:t>
            </a:r>
          </a:p>
          <a:p>
            <a:r>
              <a:rPr lang="en-GB" dirty="0"/>
              <a:t>This is useful when you want to write functions that can handle a varying amount of input data gracefully. </a:t>
            </a:r>
          </a:p>
          <a:p>
            <a:r>
              <a:rPr lang="en-GB" dirty="0"/>
              <a:t>Python supports this through the use of *</a:t>
            </a:r>
            <a:r>
              <a:rPr lang="en-GB" dirty="0" err="1"/>
              <a:t>args</a:t>
            </a:r>
            <a:r>
              <a:rPr lang="en-GB" dirty="0"/>
              <a:t> for non-keyword variable-length argument lists and **</a:t>
            </a:r>
            <a:r>
              <a:rPr lang="en-GB" dirty="0" err="1"/>
              <a:t>kwargs</a:t>
            </a:r>
            <a:r>
              <a:rPr lang="en-GB" dirty="0"/>
              <a:t> for keyword variable-length arguments.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065657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E41B7-23D1-520B-95B2-21FEBCB8C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*</a:t>
            </a:r>
            <a:r>
              <a:rPr lang="en-GB" dirty="0" err="1"/>
              <a:t>args</a:t>
            </a:r>
            <a:r>
              <a:rPr lang="en-GB" dirty="0"/>
              <a:t> (Non-Keyword Variable-Length Arguments)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C0C24-862E-0332-DFB9-16A9596E6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 *</a:t>
            </a:r>
            <a:r>
              <a:rPr lang="en-GB" dirty="0" err="1"/>
              <a:t>args</a:t>
            </a:r>
            <a:r>
              <a:rPr lang="en-GB" dirty="0"/>
              <a:t> parameter in a function definition allows the function to accept any number of positional arguments (i.e., arguments that are not keyword arguments). These arguments are accessed within the function as a tuple.</a:t>
            </a:r>
            <a:endParaRPr lang="en-US" dirty="0"/>
          </a:p>
          <a:p>
            <a:r>
              <a:rPr lang="en-US" dirty="0"/>
              <a:t>Example</a:t>
            </a:r>
          </a:p>
          <a:p>
            <a:pPr marL="400050" lvl="1" indent="0">
              <a:buNone/>
            </a:pPr>
            <a:r>
              <a:rPr lang="en-GB" dirty="0"/>
              <a:t>def </a:t>
            </a:r>
            <a:r>
              <a:rPr lang="en-GB" dirty="0" err="1"/>
              <a:t>print_all</a:t>
            </a:r>
            <a:r>
              <a:rPr lang="en-GB" dirty="0"/>
              <a:t>(*</a:t>
            </a:r>
            <a:r>
              <a:rPr lang="en-GB" dirty="0" err="1"/>
              <a:t>args</a:t>
            </a:r>
            <a:r>
              <a:rPr lang="en-GB" dirty="0"/>
              <a:t>):</a:t>
            </a:r>
          </a:p>
          <a:p>
            <a:pPr marL="400050" lvl="1" indent="0">
              <a:buNone/>
            </a:pPr>
            <a:r>
              <a:rPr lang="en-GB" dirty="0"/>
              <a:t>    for item in </a:t>
            </a:r>
            <a:r>
              <a:rPr lang="en-GB" dirty="0" err="1"/>
              <a:t>args</a:t>
            </a:r>
            <a:r>
              <a:rPr lang="en-GB" dirty="0"/>
              <a:t>:</a:t>
            </a:r>
          </a:p>
          <a:p>
            <a:pPr marL="400050" lvl="1" indent="0">
              <a:buNone/>
            </a:pPr>
            <a:r>
              <a:rPr lang="en-GB" dirty="0"/>
              <a:t>        print(item)</a:t>
            </a:r>
          </a:p>
          <a:p>
            <a:pPr marL="400050" lvl="1" indent="0">
              <a:buNone/>
            </a:pPr>
            <a:endParaRPr lang="en-GB" dirty="0"/>
          </a:p>
          <a:p>
            <a:pPr marL="400050" lvl="1" indent="0">
              <a:buNone/>
            </a:pPr>
            <a:r>
              <a:rPr lang="en-GB" dirty="0" err="1"/>
              <a:t>print_all</a:t>
            </a:r>
            <a:r>
              <a:rPr lang="en-GB" dirty="0"/>
              <a:t>(1, 2, 3, 4)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905266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8CBCC-48C3-223B-EDCE-375A7909B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**</a:t>
            </a:r>
            <a:r>
              <a:rPr lang="en-GB" dirty="0" err="1"/>
              <a:t>kwargs</a:t>
            </a:r>
            <a:r>
              <a:rPr lang="en-GB" dirty="0"/>
              <a:t> (Keyword Variable-Length Arguments)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C4E03-80DF-D657-9955-E24B67B8C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**</a:t>
            </a:r>
            <a:r>
              <a:rPr lang="en-GB" dirty="0" err="1"/>
              <a:t>kwargs</a:t>
            </a:r>
            <a:r>
              <a:rPr lang="en-GB" dirty="0"/>
              <a:t> parameter allows a function to accept any number of keyword arguments (i.e., arguments provided in the form of key=value). This is useful for passing a variable number of named properties into a function. The **</a:t>
            </a:r>
            <a:r>
              <a:rPr lang="en-GB" dirty="0" err="1"/>
              <a:t>kwargs</a:t>
            </a:r>
            <a:r>
              <a:rPr lang="en-GB" dirty="0"/>
              <a:t> arguments are accessed within the function as a dictionary.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778488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FC7E5-8D27-06CE-92E5-C125F3384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9D4E3-6FAC-5057-47EE-0281BCA33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def </a:t>
            </a:r>
            <a:r>
              <a:rPr lang="en-GB" dirty="0" err="1"/>
              <a:t>print_properties</a:t>
            </a:r>
            <a:r>
              <a:rPr lang="en-GB" dirty="0"/>
              <a:t>(**</a:t>
            </a:r>
            <a:r>
              <a:rPr lang="en-GB" dirty="0" err="1"/>
              <a:t>kwargs</a:t>
            </a:r>
            <a:r>
              <a:rPr lang="en-GB" dirty="0"/>
              <a:t>):</a:t>
            </a:r>
          </a:p>
          <a:p>
            <a:pPr marL="0" indent="0">
              <a:buNone/>
            </a:pPr>
            <a:r>
              <a:rPr lang="en-GB" dirty="0"/>
              <a:t>    for key, value in </a:t>
            </a:r>
            <a:r>
              <a:rPr lang="en-GB" dirty="0" err="1"/>
              <a:t>kwargs.items</a:t>
            </a:r>
            <a:r>
              <a:rPr lang="en-GB" dirty="0"/>
              <a:t>():</a:t>
            </a:r>
          </a:p>
          <a:p>
            <a:pPr marL="0" indent="0">
              <a:buNone/>
            </a:pPr>
            <a:r>
              <a:rPr lang="en-GB" dirty="0"/>
              <a:t>        print(f"{key}: {value}")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/>
              <a:t>print_properties</a:t>
            </a:r>
            <a:r>
              <a:rPr lang="en-GB" dirty="0"/>
              <a:t>(name=“Sara", age=25, job="Engineer")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04821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34D6C-4285-CCFC-9A71-D3B1483D8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Combining *</a:t>
            </a:r>
            <a:r>
              <a:rPr lang="en-GB" dirty="0" err="1"/>
              <a:t>args</a:t>
            </a:r>
            <a:r>
              <a:rPr lang="en-GB" dirty="0"/>
              <a:t> and **</a:t>
            </a:r>
            <a:r>
              <a:rPr lang="en-GB" dirty="0" err="1"/>
              <a:t>kwargs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A596F-1671-BD38-EA9D-E1855DC7E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GB" dirty="0"/>
              <a:t>def </a:t>
            </a:r>
            <a:r>
              <a:rPr lang="en-GB" dirty="0" err="1"/>
              <a:t>print_both</a:t>
            </a:r>
            <a:r>
              <a:rPr lang="en-GB" dirty="0"/>
              <a:t>(*</a:t>
            </a:r>
            <a:r>
              <a:rPr lang="en-GB" dirty="0" err="1"/>
              <a:t>args</a:t>
            </a:r>
            <a:r>
              <a:rPr lang="en-GB" dirty="0"/>
              <a:t>, **</a:t>
            </a:r>
            <a:r>
              <a:rPr lang="en-GB" dirty="0" err="1"/>
              <a:t>kwargs</a:t>
            </a:r>
            <a:r>
              <a:rPr lang="en-GB" dirty="0"/>
              <a:t>):</a:t>
            </a:r>
          </a:p>
          <a:p>
            <a:pPr marL="0" indent="0">
              <a:buNone/>
            </a:pPr>
            <a:r>
              <a:rPr lang="en-GB" dirty="0"/>
              <a:t>    print("Positional arguments:")</a:t>
            </a:r>
          </a:p>
          <a:p>
            <a:pPr marL="0" indent="0">
              <a:buNone/>
            </a:pPr>
            <a:r>
              <a:rPr lang="en-GB" dirty="0"/>
              <a:t>    for </a:t>
            </a:r>
            <a:r>
              <a:rPr lang="en-GB" dirty="0" err="1"/>
              <a:t>arg</a:t>
            </a:r>
            <a:r>
              <a:rPr lang="en-GB" dirty="0"/>
              <a:t> in </a:t>
            </a:r>
            <a:r>
              <a:rPr lang="en-GB" dirty="0" err="1"/>
              <a:t>args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dirty="0"/>
              <a:t>        print(</a:t>
            </a:r>
            <a:r>
              <a:rPr lang="en-GB" dirty="0" err="1"/>
              <a:t>arg</a:t>
            </a:r>
            <a:r>
              <a:rPr lang="en-GB" dirty="0"/>
              <a:t>)</a:t>
            </a:r>
          </a:p>
          <a:p>
            <a:pPr marL="0" indent="0">
              <a:buNone/>
            </a:pPr>
            <a:r>
              <a:rPr lang="en-GB" dirty="0"/>
              <a:t>    print("Keyword arguments:")</a:t>
            </a:r>
          </a:p>
          <a:p>
            <a:pPr marL="0" indent="0">
              <a:buNone/>
            </a:pPr>
            <a:r>
              <a:rPr lang="en-GB" dirty="0"/>
              <a:t>    for key, value in </a:t>
            </a:r>
            <a:r>
              <a:rPr lang="en-GB" dirty="0" err="1"/>
              <a:t>kwargs.items</a:t>
            </a:r>
            <a:r>
              <a:rPr lang="en-GB" dirty="0"/>
              <a:t>():</a:t>
            </a:r>
          </a:p>
          <a:p>
            <a:pPr marL="0" indent="0">
              <a:buNone/>
            </a:pPr>
            <a:r>
              <a:rPr lang="en-GB" dirty="0"/>
              <a:t>        print(f"{key}: {value}")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/>
              <a:t>print_both</a:t>
            </a:r>
            <a:r>
              <a:rPr lang="en-GB" dirty="0"/>
              <a:t>(1, 2, 3, name=“</a:t>
            </a:r>
            <a:r>
              <a:rPr lang="en-GB" dirty="0" err="1"/>
              <a:t>saba</a:t>
            </a:r>
            <a:r>
              <a:rPr lang="en-GB" dirty="0"/>
              <a:t>", age=30)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542279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E350B-F02A-1B8C-506F-7A84E9894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return Statement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C4FBF-F70A-2C28-0CDF-5CBBC97CD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return statement is used to return the value of the expression back to the calling function.</a:t>
            </a:r>
          </a:p>
          <a:p>
            <a:r>
              <a:rPr lang="en-GB" dirty="0"/>
              <a:t>Example:</a:t>
            </a:r>
          </a:p>
          <a:p>
            <a:pPr marL="400050" lvl="1" indent="0">
              <a:buNone/>
            </a:pPr>
            <a:r>
              <a:rPr lang="en-GB" dirty="0"/>
              <a:t>def </a:t>
            </a:r>
            <a:r>
              <a:rPr lang="en-GB" dirty="0" err="1"/>
              <a:t>add_numbers</a:t>
            </a:r>
            <a:r>
              <a:rPr lang="en-GB" dirty="0"/>
              <a:t>(x, y):</a:t>
            </a:r>
          </a:p>
          <a:p>
            <a:pPr marL="400050" lvl="1" indent="0">
              <a:buNone/>
            </a:pPr>
            <a:r>
              <a:rPr lang="en-GB" dirty="0"/>
              <a:t>    return x + y</a:t>
            </a:r>
          </a:p>
          <a:p>
            <a:pPr marL="400050" lvl="1" indent="0">
              <a:buNone/>
            </a:pPr>
            <a:endParaRPr lang="en-GB" dirty="0"/>
          </a:p>
          <a:p>
            <a:pPr marL="400050" lvl="1" indent="0">
              <a:buNone/>
            </a:pPr>
            <a:r>
              <a:rPr lang="en-GB" dirty="0"/>
              <a:t>result = </a:t>
            </a:r>
            <a:r>
              <a:rPr lang="en-GB" dirty="0" err="1"/>
              <a:t>add_numbers</a:t>
            </a:r>
            <a:r>
              <a:rPr lang="en-GB" dirty="0"/>
              <a:t>(5, 3)</a:t>
            </a:r>
          </a:p>
          <a:p>
            <a:pPr marL="400050" lvl="1" indent="0">
              <a:buNone/>
            </a:pPr>
            <a:r>
              <a:rPr lang="en-GB" dirty="0"/>
              <a:t>print(result)  # Output: 8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048321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A3F15-307F-4278-B513-3072C9D1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Returning Multiple Values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80F88-4408-D488-D94D-88D58DFBB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Python allows returning multiple values from a function using tuples. This is quite useful when you want to return more than one value from a function.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458306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9C207-6689-D961-5B2F-FA3D6519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84777-285F-81C9-115E-0E0351BB6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def </a:t>
            </a:r>
            <a:r>
              <a:rPr lang="en-GB" dirty="0" err="1"/>
              <a:t>get_user_data</a:t>
            </a:r>
            <a:r>
              <a:rPr lang="en-GB" dirty="0"/>
              <a:t>():</a:t>
            </a:r>
          </a:p>
          <a:p>
            <a:pPr marL="0" indent="0">
              <a:buNone/>
            </a:pPr>
            <a:r>
              <a:rPr lang="en-GB" dirty="0"/>
              <a:t>    name = "Ali"</a:t>
            </a:r>
          </a:p>
          <a:p>
            <a:pPr marL="0" indent="0">
              <a:buNone/>
            </a:pPr>
            <a:r>
              <a:rPr lang="en-GB" dirty="0"/>
              <a:t>    age = 25</a:t>
            </a:r>
          </a:p>
          <a:p>
            <a:pPr marL="0" indent="0">
              <a:buNone/>
            </a:pPr>
            <a:r>
              <a:rPr lang="en-GB" dirty="0"/>
              <a:t>    return name, age  # Returns a tuple (name, age)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/>
              <a:t>user_name</a:t>
            </a:r>
            <a:r>
              <a:rPr lang="en-GB" dirty="0"/>
              <a:t>, </a:t>
            </a:r>
            <a:r>
              <a:rPr lang="en-GB" dirty="0" err="1"/>
              <a:t>user_age</a:t>
            </a:r>
            <a:r>
              <a:rPr lang="en-GB" dirty="0"/>
              <a:t> = </a:t>
            </a:r>
            <a:r>
              <a:rPr lang="en-GB" dirty="0" err="1"/>
              <a:t>get_user_data</a:t>
            </a:r>
            <a:r>
              <a:rPr lang="en-GB" dirty="0"/>
              <a:t>()</a:t>
            </a:r>
          </a:p>
          <a:p>
            <a:pPr marL="0" indent="0">
              <a:buNone/>
            </a:pPr>
            <a:r>
              <a:rPr lang="en-GB" dirty="0"/>
              <a:t>print(</a:t>
            </a:r>
            <a:r>
              <a:rPr lang="en-GB" dirty="0" err="1"/>
              <a:t>user_name</a:t>
            </a:r>
            <a:r>
              <a:rPr lang="en-GB" dirty="0"/>
              <a:t>, </a:t>
            </a:r>
            <a:r>
              <a:rPr lang="en-GB" dirty="0" err="1"/>
              <a:t>user_age</a:t>
            </a:r>
            <a:r>
              <a:rPr lang="en-GB" dirty="0"/>
              <a:t>)  # Output: Ali 25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26304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90961-E1E6-9523-2007-C53F8CE9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Early Exit from a Function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BC590-DF3B-1D6F-15A8-FA90CCF67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The return statement can be used to prematurely terminate a function execution based on a condition.</a:t>
            </a:r>
          </a:p>
          <a:p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en-GB" dirty="0"/>
              <a:t>def </a:t>
            </a:r>
            <a:r>
              <a:rPr lang="en-GB" dirty="0" err="1"/>
              <a:t>process_data</a:t>
            </a:r>
            <a:r>
              <a:rPr lang="en-GB" dirty="0"/>
              <a:t>(data):</a:t>
            </a:r>
          </a:p>
          <a:p>
            <a:pPr marL="0" indent="0">
              <a:buNone/>
            </a:pPr>
            <a:r>
              <a:rPr lang="en-GB" dirty="0"/>
              <a:t>    if not data:</a:t>
            </a:r>
          </a:p>
          <a:p>
            <a:pPr marL="0" indent="0">
              <a:buNone/>
            </a:pPr>
            <a:r>
              <a:rPr lang="en-GB" dirty="0"/>
              <a:t>        return "No data provided"</a:t>
            </a:r>
          </a:p>
          <a:p>
            <a:pPr marL="0" indent="0">
              <a:buNone/>
            </a:pPr>
            <a:r>
              <a:rPr lang="en-GB" dirty="0"/>
              <a:t>    # Process data if not empty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processed_data</a:t>
            </a:r>
            <a:r>
              <a:rPr lang="en-GB" dirty="0"/>
              <a:t> = data + " processed"</a:t>
            </a:r>
          </a:p>
          <a:p>
            <a:pPr marL="0" indent="0">
              <a:buNone/>
            </a:pPr>
            <a:r>
              <a:rPr lang="en-GB" dirty="0"/>
              <a:t>    return </a:t>
            </a:r>
            <a:r>
              <a:rPr lang="en-GB" dirty="0" err="1"/>
              <a:t>processed_data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print(</a:t>
            </a:r>
            <a:r>
              <a:rPr lang="en-GB" dirty="0" err="1"/>
              <a:t>process_data</a:t>
            </a:r>
            <a:r>
              <a:rPr lang="en-GB" dirty="0"/>
              <a:t>(""))</a:t>
            </a:r>
          </a:p>
          <a:p>
            <a:pPr marL="0" indent="0">
              <a:buNone/>
            </a:pPr>
            <a:r>
              <a:rPr lang="en-GB" dirty="0"/>
              <a:t>print(</a:t>
            </a:r>
            <a:r>
              <a:rPr lang="en-GB" dirty="0" err="1"/>
              <a:t>process_data</a:t>
            </a:r>
            <a:r>
              <a:rPr lang="en-GB" dirty="0"/>
              <a:t>("Data"))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171471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F97A4-5F41-00EC-E6F2-D3F6EDCBD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EC073-C64B-8F2B-78F8-C0D9B5E82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Lists are ordered, mutable collections of items.</a:t>
            </a:r>
          </a:p>
          <a:p>
            <a:r>
              <a:rPr lang="en-GB" dirty="0"/>
              <a:t>They can store different data types.</a:t>
            </a:r>
          </a:p>
          <a:p>
            <a:r>
              <a:rPr lang="en-GB" dirty="0"/>
              <a:t>They store multiple items in a single variable.</a:t>
            </a:r>
          </a:p>
          <a:p>
            <a:r>
              <a:rPr lang="en-GB" dirty="0"/>
              <a:t>List items are separated by commas and enclosed within square brackets [].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381376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CA9C6-FE05-3045-4E93-D2423D59B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BBD03-F910-AD1A-E7B6-6603DB292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lst1 = [1,2,2,3,5,4,6]</a:t>
            </a:r>
          </a:p>
          <a:p>
            <a:pPr marL="0" indent="0">
              <a:buNone/>
            </a:pPr>
            <a:r>
              <a:rPr lang="en-GB" dirty="0"/>
              <a:t>lst2 = ["Red", "Green", "Blue"]</a:t>
            </a:r>
          </a:p>
          <a:p>
            <a:pPr marL="0" indent="0">
              <a:buNone/>
            </a:pPr>
            <a:r>
              <a:rPr lang="en-GB" dirty="0"/>
              <a:t>print(lst1)</a:t>
            </a:r>
          </a:p>
          <a:p>
            <a:pPr marL="0" indent="0">
              <a:buNone/>
            </a:pPr>
            <a:r>
              <a:rPr lang="en-GB" dirty="0"/>
              <a:t>print(lst2)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910159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E0F90-68F7-F89E-16B0-2E35B7529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Lists with Mixed Data Types: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0B4FE-E50D-BC89-4A02-CD1B7581B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/>
              <a:t>mixed_list</a:t>
            </a:r>
            <a:r>
              <a:rPr lang="en-GB" dirty="0"/>
              <a:t> = [10, "Hello", 3.14]</a:t>
            </a:r>
          </a:p>
          <a:p>
            <a:pPr marL="0" indent="0">
              <a:buNone/>
            </a:pPr>
            <a:r>
              <a:rPr lang="en-GB" dirty="0"/>
              <a:t>print(</a:t>
            </a:r>
            <a:r>
              <a:rPr lang="en-GB" dirty="0" err="1"/>
              <a:t>mixed_list</a:t>
            </a:r>
            <a:r>
              <a:rPr lang="en-GB" dirty="0"/>
              <a:t>)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66955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77A6-F923-4BB9-3948-55C2BAACD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Accessing Elements in a List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5EBAE-0851-9F00-2F68-CC6E9CD61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/>
              <a:t>my_list</a:t>
            </a:r>
            <a:r>
              <a:rPr lang="en-GB" dirty="0"/>
              <a:t> = ["apple", "banana", "cherry"]</a:t>
            </a:r>
          </a:p>
          <a:p>
            <a:pPr marL="0" indent="0">
              <a:buNone/>
            </a:pPr>
            <a:r>
              <a:rPr lang="en-GB" dirty="0"/>
              <a:t>print(</a:t>
            </a:r>
            <a:r>
              <a:rPr lang="en-GB" dirty="0" err="1"/>
              <a:t>my_list</a:t>
            </a:r>
            <a:r>
              <a:rPr lang="en-GB" dirty="0"/>
              <a:t>[0])  # First element</a:t>
            </a:r>
          </a:p>
          <a:p>
            <a:pPr marL="0" indent="0">
              <a:buNone/>
            </a:pPr>
            <a:r>
              <a:rPr lang="en-GB" dirty="0"/>
              <a:t>print(</a:t>
            </a:r>
            <a:r>
              <a:rPr lang="en-GB" dirty="0" err="1"/>
              <a:t>my_list</a:t>
            </a:r>
            <a:r>
              <a:rPr lang="en-GB" dirty="0"/>
              <a:t>[-1]) # Last element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533653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2A4B1-1159-7EEE-366F-914757781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Modifying Lists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9BA24-D9D2-F560-6240-F0824FE2B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/>
              <a:t>my_list</a:t>
            </a:r>
            <a:r>
              <a:rPr lang="en-GB" dirty="0"/>
              <a:t> = [10, 20, 30]</a:t>
            </a:r>
          </a:p>
          <a:p>
            <a:pPr marL="0" indent="0">
              <a:buNone/>
            </a:pPr>
            <a:r>
              <a:rPr lang="en-GB" dirty="0" err="1"/>
              <a:t>my_list</a:t>
            </a:r>
            <a:r>
              <a:rPr lang="en-GB" dirty="0"/>
              <a:t>[1] = 50  # Change value at index 1</a:t>
            </a:r>
          </a:p>
          <a:p>
            <a:pPr marL="0" indent="0">
              <a:buNone/>
            </a:pPr>
            <a:r>
              <a:rPr lang="en-GB" dirty="0"/>
              <a:t>print(</a:t>
            </a:r>
            <a:r>
              <a:rPr lang="en-GB" dirty="0" err="1"/>
              <a:t>my_list</a:t>
            </a:r>
            <a:r>
              <a:rPr lang="en-GB" dirty="0"/>
              <a:t>)  # Output: [10, 50, 30]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0452860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B1560-EFCD-CAA9-A11D-A285CB3C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Elements to a List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C0D4-BA2B-B8E2-FBF3-4E7F77447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Methods:</a:t>
            </a:r>
          </a:p>
          <a:p>
            <a:r>
              <a:rPr lang="en-GB" dirty="0"/>
              <a:t>append() → Adds an element at the end.</a:t>
            </a:r>
          </a:p>
          <a:p>
            <a:r>
              <a:rPr lang="en-GB" dirty="0"/>
              <a:t>insert() → Adds an element at a specific index.</a:t>
            </a:r>
          </a:p>
          <a:p>
            <a:pPr marL="0" indent="0">
              <a:buNone/>
            </a:pPr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en-AE" sz="3000" dirty="0"/>
              <a:t>	</a:t>
            </a:r>
            <a:r>
              <a:rPr lang="en-GB" sz="3000" dirty="0" err="1"/>
              <a:t>my_list</a:t>
            </a:r>
            <a:r>
              <a:rPr lang="en-GB" sz="3000" dirty="0"/>
              <a:t> = [1, 2, 3]</a:t>
            </a:r>
          </a:p>
          <a:p>
            <a:pPr marL="400050" lvl="1" indent="0">
              <a:buNone/>
            </a:pPr>
            <a:r>
              <a:rPr lang="en-GB" sz="3000" dirty="0" err="1"/>
              <a:t>my_list.append</a:t>
            </a:r>
            <a:r>
              <a:rPr lang="en-GB" sz="3000" dirty="0"/>
              <a:t>(4)</a:t>
            </a:r>
          </a:p>
          <a:p>
            <a:pPr marL="400050" lvl="1" indent="0">
              <a:buNone/>
            </a:pPr>
            <a:r>
              <a:rPr lang="en-GB" sz="3000" dirty="0"/>
              <a:t>print(</a:t>
            </a:r>
            <a:r>
              <a:rPr lang="en-GB" sz="3000" dirty="0" err="1"/>
              <a:t>my_list</a:t>
            </a:r>
            <a:r>
              <a:rPr lang="en-GB" sz="3000" dirty="0"/>
              <a:t>)  # Output: [1, 2, 3, 4]</a:t>
            </a:r>
          </a:p>
          <a:p>
            <a:pPr marL="400050" lvl="1" indent="0">
              <a:buNone/>
            </a:pPr>
            <a:endParaRPr lang="en-GB" sz="3000" dirty="0"/>
          </a:p>
          <a:p>
            <a:pPr marL="400050" lvl="1" indent="0">
              <a:buNone/>
            </a:pPr>
            <a:r>
              <a:rPr lang="en-GB" sz="3000" dirty="0" err="1"/>
              <a:t>my_list.insert</a:t>
            </a:r>
            <a:r>
              <a:rPr lang="en-GB" sz="3000" dirty="0"/>
              <a:t>(1, 10)</a:t>
            </a:r>
          </a:p>
          <a:p>
            <a:pPr marL="400050" lvl="1" indent="0">
              <a:buNone/>
            </a:pPr>
            <a:r>
              <a:rPr lang="en-GB" sz="3000" dirty="0"/>
              <a:t>print(</a:t>
            </a:r>
            <a:r>
              <a:rPr lang="en-GB" sz="3000" dirty="0" err="1"/>
              <a:t>my_list</a:t>
            </a:r>
            <a:r>
              <a:rPr lang="en-GB" sz="3000" dirty="0"/>
              <a:t>)  # Output: [1, 10, 2, 3, 4]</a:t>
            </a:r>
            <a:endParaRPr lang="en-AE" sz="3000" dirty="0"/>
          </a:p>
        </p:txBody>
      </p:sp>
    </p:spTree>
    <p:extLst>
      <p:ext uri="{BB962C8B-B14F-4D97-AF65-F5344CB8AC3E}">
        <p14:creationId xmlns:p14="http://schemas.microsoft.com/office/powerpoint/2010/main" val="29038549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DEC0B-EED7-999C-B812-EE1B30060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Removing Elements from a List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A8EA6-8817-5B36-0234-D40BDC718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Methods:</a:t>
            </a:r>
          </a:p>
          <a:p>
            <a:r>
              <a:rPr lang="en-GB" dirty="0"/>
              <a:t>remove() → Removes the first occurrence of a value.</a:t>
            </a:r>
          </a:p>
          <a:p>
            <a:r>
              <a:rPr lang="en-GB" dirty="0"/>
              <a:t>pop() → Removes an element at a specific index (default is last).</a:t>
            </a:r>
          </a:p>
          <a:p>
            <a:r>
              <a:rPr lang="en-GB" dirty="0"/>
              <a:t>del → Deletes an element by index.</a:t>
            </a:r>
          </a:p>
          <a:p>
            <a:r>
              <a:rPr lang="en-GB" dirty="0"/>
              <a:t>clear() → Removes all elements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6319478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669F2-BF93-628E-4FE1-39FFD297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16286-0830-5C2F-2543-E4E9EDCAB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81062"/>
            <a:ext cx="8229600" cy="5129784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GB" sz="2800" dirty="0"/>
              <a:t>numbers = [10, 20, 30]</a:t>
            </a:r>
          </a:p>
          <a:p>
            <a:pPr marL="0" indent="0">
              <a:buNone/>
            </a:pPr>
            <a:r>
              <a:rPr lang="en-GB" sz="2800" dirty="0" err="1"/>
              <a:t>numbers.remove</a:t>
            </a:r>
            <a:r>
              <a:rPr lang="en-GB" sz="2800" dirty="0"/>
              <a:t>(20)</a:t>
            </a:r>
          </a:p>
          <a:p>
            <a:pPr marL="0" indent="0">
              <a:buNone/>
            </a:pPr>
            <a:r>
              <a:rPr lang="en-GB" sz="2800" dirty="0"/>
              <a:t>print(numbers) </a:t>
            </a:r>
          </a:p>
          <a:p>
            <a:pPr marL="0" indent="0">
              <a:buNone/>
            </a:pPr>
            <a:r>
              <a:rPr lang="en-GB" sz="2800" dirty="0"/>
              <a:t> # Output: [10, 30]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sz="2800" dirty="0" err="1"/>
              <a:t>numbers.pop</a:t>
            </a:r>
            <a:r>
              <a:rPr lang="en-GB" sz="2800" dirty="0"/>
              <a:t>() </a:t>
            </a:r>
          </a:p>
          <a:p>
            <a:pPr marL="0" indent="0">
              <a:buNone/>
            </a:pPr>
            <a:r>
              <a:rPr lang="en-GB" sz="2800" dirty="0"/>
              <a:t># Removes last element</a:t>
            </a:r>
          </a:p>
          <a:p>
            <a:pPr marL="0" indent="0">
              <a:buNone/>
            </a:pPr>
            <a:r>
              <a:rPr lang="en-GB" sz="2800" dirty="0"/>
              <a:t>print(numbers) </a:t>
            </a:r>
          </a:p>
          <a:p>
            <a:pPr marL="0" indent="0">
              <a:buNone/>
            </a:pPr>
            <a:r>
              <a:rPr lang="en-GB" sz="2800" dirty="0"/>
              <a:t> # Output: [10]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sz="2800" dirty="0"/>
              <a:t>del numbers[0]  # Removes element at index 0</a:t>
            </a:r>
          </a:p>
          <a:p>
            <a:pPr marL="0" indent="0">
              <a:buNone/>
            </a:pPr>
            <a:r>
              <a:rPr lang="en-GB" sz="2800" dirty="0"/>
              <a:t>print(numbers)  # Output: []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sz="2800" dirty="0" err="1"/>
              <a:t>my_list</a:t>
            </a:r>
            <a:r>
              <a:rPr lang="en-GB" sz="2800" dirty="0"/>
              <a:t> = [10, 20, 30]</a:t>
            </a:r>
          </a:p>
          <a:p>
            <a:pPr marL="0" indent="0">
              <a:buNone/>
            </a:pPr>
            <a:r>
              <a:rPr lang="en-GB" sz="2800" dirty="0" err="1"/>
              <a:t>my_list.clear</a:t>
            </a:r>
            <a:r>
              <a:rPr lang="en-GB" sz="2800" dirty="0"/>
              <a:t>()</a:t>
            </a:r>
          </a:p>
          <a:p>
            <a:pPr marL="0" indent="0">
              <a:buNone/>
            </a:pPr>
            <a:r>
              <a:rPr lang="en-GB" sz="2800" dirty="0"/>
              <a:t>print(</a:t>
            </a:r>
            <a:r>
              <a:rPr lang="en-GB" sz="2800" dirty="0" err="1"/>
              <a:t>my_list</a:t>
            </a:r>
            <a:r>
              <a:rPr lang="en-GB" sz="2800" dirty="0"/>
              <a:t>)  # Output: []</a:t>
            </a:r>
          </a:p>
          <a:p>
            <a:pPr marL="0" indent="0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953053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62515-B995-3593-F445-6BF847DC6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Looping Through a List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94582-1AE8-558F-B048-7ADACB340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en-GB" dirty="0"/>
              <a:t>fruits = ["apple", "banana", "cherry"]</a:t>
            </a:r>
          </a:p>
          <a:p>
            <a:pPr marL="0" indent="0">
              <a:buNone/>
            </a:pPr>
            <a:r>
              <a:rPr lang="en-GB" dirty="0"/>
              <a:t>for fruit in fruits:</a:t>
            </a:r>
          </a:p>
          <a:p>
            <a:pPr marL="0" indent="0">
              <a:buNone/>
            </a:pPr>
            <a:r>
              <a:rPr lang="en-GB" dirty="0"/>
              <a:t>    print(fruit)</a:t>
            </a:r>
          </a:p>
        </p:txBody>
      </p:sp>
    </p:spTree>
    <p:extLst>
      <p:ext uri="{BB962C8B-B14F-4D97-AF65-F5344CB8AC3E}">
        <p14:creationId xmlns:p14="http://schemas.microsoft.com/office/powerpoint/2010/main" val="5304016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9B207-94B7-AF13-186B-099E51C50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Sorting and Reversing Lists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65593-EFB7-382D-F4DA-A0BF90472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Methods:</a:t>
            </a:r>
          </a:p>
          <a:p>
            <a:r>
              <a:rPr lang="en-GB" dirty="0"/>
              <a:t>sort() → Sorts the list in ascending order.</a:t>
            </a:r>
          </a:p>
          <a:p>
            <a:r>
              <a:rPr lang="en-GB" dirty="0"/>
              <a:t>reverse() → Reverses the order of elements.</a:t>
            </a:r>
          </a:p>
          <a:p>
            <a:pPr marL="0" indent="0">
              <a:buNone/>
            </a:pPr>
            <a:r>
              <a:rPr lang="en-GB" dirty="0"/>
              <a:t>Example:</a:t>
            </a:r>
          </a:p>
          <a:p>
            <a:pPr marL="400050" lvl="1" indent="0">
              <a:buNone/>
            </a:pPr>
            <a:r>
              <a:rPr lang="en-GB" sz="2600" dirty="0"/>
              <a:t>numbers = [4, 2, 9, 1]</a:t>
            </a:r>
          </a:p>
          <a:p>
            <a:pPr marL="400050" lvl="1" indent="0">
              <a:buNone/>
            </a:pPr>
            <a:r>
              <a:rPr lang="en-GB" sz="2600" dirty="0" err="1"/>
              <a:t>numbers.sort</a:t>
            </a:r>
            <a:r>
              <a:rPr lang="en-GB" sz="2600" dirty="0"/>
              <a:t>()</a:t>
            </a:r>
          </a:p>
          <a:p>
            <a:pPr marL="400050" lvl="1" indent="0">
              <a:buNone/>
            </a:pPr>
            <a:r>
              <a:rPr lang="en-GB" sz="2600" dirty="0"/>
              <a:t>print(numbers)</a:t>
            </a:r>
          </a:p>
          <a:p>
            <a:pPr marL="400050" lvl="1" indent="0">
              <a:buNone/>
            </a:pPr>
            <a:r>
              <a:rPr lang="en-GB" sz="2600" dirty="0" err="1"/>
              <a:t>numbers.reverse</a:t>
            </a:r>
            <a:r>
              <a:rPr lang="en-GB" sz="2600" dirty="0"/>
              <a:t>()</a:t>
            </a:r>
          </a:p>
          <a:p>
            <a:pPr marL="400050" lvl="1" indent="0">
              <a:buNone/>
            </a:pPr>
            <a:r>
              <a:rPr lang="en-GB" sz="2600" dirty="0"/>
              <a:t>print(numbers)  # Output: [9, 4, 2, 1]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1606785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B35CD-2833-FB1E-7B73-CFB0818BE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Copying Lists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AA341-1A2D-3C28-A014-3045EAB38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list1 = [1, 2, 3]</a:t>
            </a:r>
          </a:p>
          <a:p>
            <a:pPr marL="0" indent="0">
              <a:buNone/>
            </a:pPr>
            <a:r>
              <a:rPr lang="en-GB" dirty="0"/>
              <a:t>list2 = list1.copy()</a:t>
            </a:r>
          </a:p>
          <a:p>
            <a:pPr marL="0" indent="0">
              <a:buNone/>
            </a:pPr>
            <a:r>
              <a:rPr lang="en-GB" dirty="0"/>
              <a:t>print(list2)  # Output: [1, 2, 3]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429571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5DC7B-46B3-1FAC-71CA-0F611D33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Tuples in Python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A4CF2-9371-BD39-22AF-37AC6A071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b="1" dirty="0"/>
              <a:t>tuple</a:t>
            </a:r>
            <a:r>
              <a:rPr lang="en-GB" dirty="0"/>
              <a:t> is an </a:t>
            </a:r>
            <a:r>
              <a:rPr lang="en-GB" b="1" dirty="0"/>
              <a:t>ordered, immutable</a:t>
            </a:r>
            <a:r>
              <a:rPr lang="en-GB" dirty="0"/>
              <a:t> collection of items in Python. </a:t>
            </a:r>
          </a:p>
          <a:p>
            <a:r>
              <a:rPr lang="en-GB" dirty="0"/>
              <a:t>Tuples are similar to lists, but </a:t>
            </a:r>
            <a:r>
              <a:rPr lang="en-GB" b="1" dirty="0"/>
              <a:t>they cannot be modified (immutable)</a:t>
            </a:r>
            <a:r>
              <a:rPr lang="en-GB" dirty="0"/>
              <a:t>.</a:t>
            </a:r>
          </a:p>
          <a:p>
            <a:r>
              <a:rPr lang="en-GB" dirty="0"/>
              <a:t>Tuple items are separated by commas and enclosed within round brackets ().</a:t>
            </a:r>
          </a:p>
        </p:txBody>
      </p:sp>
    </p:spTree>
    <p:extLst>
      <p:ext uri="{BB962C8B-B14F-4D97-AF65-F5344CB8AC3E}">
        <p14:creationId xmlns:p14="http://schemas.microsoft.com/office/powerpoint/2010/main" val="8777884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FD224-F913-B94A-7FA2-F2ABA87E9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9C455-89C7-BE41-5F6A-5D2B9A691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tuple1 = (1,2,2,3,5,4,6)</a:t>
            </a:r>
          </a:p>
          <a:p>
            <a:pPr marL="0" indent="0">
              <a:buNone/>
            </a:pPr>
            <a:r>
              <a:rPr lang="en-GB" dirty="0"/>
              <a:t>tuple2 = ("Red", "Green", "Blue")</a:t>
            </a:r>
          </a:p>
          <a:p>
            <a:pPr marL="0" indent="0">
              <a:buNone/>
            </a:pPr>
            <a:r>
              <a:rPr lang="en-GB" dirty="0"/>
              <a:t>print(tuple1)</a:t>
            </a:r>
          </a:p>
          <a:p>
            <a:pPr marL="0" indent="0">
              <a:buNone/>
            </a:pPr>
            <a:r>
              <a:rPr lang="en-GB" dirty="0"/>
              <a:t>print(tuple2)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8933316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3BEF8-58EA-8881-66D8-B4C732CF4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Tuple with Mixed Data Types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A3B0D-62CB-81D2-6638-0473E6622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/>
              <a:t>mixed_tuple</a:t>
            </a:r>
            <a:r>
              <a:rPr lang="en-GB" dirty="0"/>
              <a:t> = (10, "Hello", 3.14)</a:t>
            </a:r>
          </a:p>
          <a:p>
            <a:pPr marL="0" indent="0">
              <a:buNone/>
            </a:pPr>
            <a:r>
              <a:rPr lang="en-GB" dirty="0"/>
              <a:t>print(</a:t>
            </a:r>
            <a:r>
              <a:rPr lang="en-GB" dirty="0" err="1"/>
              <a:t>mixed_tuple</a:t>
            </a:r>
            <a:r>
              <a:rPr lang="en-GB" dirty="0"/>
              <a:t>)  # Output: (10, 'Hello', 3.14)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4233400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B60BB-C9E8-81E6-52AC-FFA54867C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Tuple with a Single Element (Add a comma ,)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A534-6C97-C489-E6F8-DF543986B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/>
              <a:t>single_element_tuple</a:t>
            </a:r>
            <a:r>
              <a:rPr lang="en-GB" dirty="0"/>
              <a:t> = (5,)</a:t>
            </a:r>
          </a:p>
          <a:p>
            <a:pPr marL="0" indent="0">
              <a:buNone/>
            </a:pPr>
            <a:r>
              <a:rPr lang="en-GB" dirty="0"/>
              <a:t>print(</a:t>
            </a:r>
            <a:r>
              <a:rPr lang="en-GB" dirty="0" err="1"/>
              <a:t>single_element_tuple</a:t>
            </a:r>
            <a:r>
              <a:rPr lang="en-GB" dirty="0"/>
              <a:t>)  # Output: (5,)</a:t>
            </a:r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r>
              <a:rPr lang="en-GB" dirty="0"/>
              <a:t>❌ Without the comma, Python treats it as an integer, not a tuple.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1444530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026B3-FE53-1DDB-F94F-545119B08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Accessing Tuple Elements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6D174-9002-C408-BDA7-983AE4D30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fruits = ("apple", "banana", "cherry")</a:t>
            </a:r>
          </a:p>
          <a:p>
            <a:pPr marL="0" indent="0">
              <a:buNone/>
            </a:pPr>
            <a:r>
              <a:rPr lang="en-GB" dirty="0"/>
              <a:t>print(fruits[0])   # Output: apple</a:t>
            </a:r>
          </a:p>
          <a:p>
            <a:pPr marL="0" indent="0">
              <a:buNone/>
            </a:pPr>
            <a:r>
              <a:rPr lang="en-GB" dirty="0"/>
              <a:t>print(fruits[-1])  # Output: cherry (last element)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1121228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408B6-EF57-55E0-8E15-8A140BE7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Tuple Slicing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836DB-164C-E0B0-EB3C-E438B7877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Example</a:t>
            </a:r>
          </a:p>
          <a:p>
            <a:r>
              <a:rPr lang="en-GB" dirty="0"/>
              <a:t>numbers = (1, 2, 3, 4, 5, 6)</a:t>
            </a:r>
          </a:p>
          <a:p>
            <a:r>
              <a:rPr lang="en-GB" dirty="0"/>
              <a:t>print(numbers[1:4])  # Output: (2, 3, 4)</a:t>
            </a:r>
          </a:p>
          <a:p>
            <a:r>
              <a:rPr lang="en-GB" dirty="0"/>
              <a:t>print(numbers[:3])   # Output: (1, 2, 3)</a:t>
            </a:r>
          </a:p>
          <a:p>
            <a:r>
              <a:rPr lang="en-GB" dirty="0"/>
              <a:t>print(numbers[3:])   # Output: (4, 5, 6)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134278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14FCE-E4E0-48F1-977D-038C99513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Tuple Immutability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971BC-2158-7CCB-E9BA-A717E8816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Tuples </a:t>
            </a:r>
            <a:r>
              <a:rPr lang="en-GB" b="1" dirty="0"/>
              <a:t>cannot be modified</a:t>
            </a:r>
            <a:r>
              <a:rPr lang="en-GB" dirty="0"/>
              <a:t> after creation.</a:t>
            </a:r>
          </a:p>
          <a:p>
            <a:pPr marL="0" indent="0">
              <a:buNone/>
            </a:pPr>
            <a:r>
              <a:rPr lang="en-GB" dirty="0" err="1"/>
              <a:t>my_tuple</a:t>
            </a:r>
            <a:r>
              <a:rPr lang="en-GB" dirty="0"/>
              <a:t> = (1, 2, 3)</a:t>
            </a:r>
          </a:p>
          <a:p>
            <a:pPr marL="0" indent="0">
              <a:buNone/>
            </a:pPr>
            <a:r>
              <a:rPr lang="en-GB" dirty="0"/>
              <a:t># </a:t>
            </a:r>
            <a:r>
              <a:rPr lang="en-GB" dirty="0" err="1"/>
              <a:t>my_tuple</a:t>
            </a:r>
            <a:r>
              <a:rPr lang="en-GB" dirty="0"/>
              <a:t>[1] = 10  # ❌ ERROR: Tuples do not support item assignment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4926623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5C8D6-7777-CF2A-3C6A-550CF00E8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Looping Through Tuples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BE6FA-41FD-7256-31B7-198239271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fruits = ("apple", "banana", "cherry")</a:t>
            </a:r>
          </a:p>
          <a:p>
            <a:pPr marL="0" indent="0">
              <a:buNone/>
            </a:pPr>
            <a:r>
              <a:rPr lang="en-GB" dirty="0"/>
              <a:t>for fruit in fruits:</a:t>
            </a:r>
          </a:p>
          <a:p>
            <a:pPr marL="0" indent="0">
              <a:buNone/>
            </a:pPr>
            <a:r>
              <a:rPr lang="en-GB" dirty="0"/>
              <a:t>    print(fruit)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9880255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B41A7-7832-0EB9-E7DA-306CD534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Checking if an Item Exists in a Tuple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93DD0-5275-5216-49D6-F573CD7A0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fruits = ("apple", "banana", "cherry")</a:t>
            </a:r>
          </a:p>
          <a:p>
            <a:pPr marL="0" indent="0">
              <a:buNone/>
            </a:pPr>
            <a:r>
              <a:rPr lang="en-GB" dirty="0"/>
              <a:t>if "banana" in fruits:</a:t>
            </a:r>
          </a:p>
          <a:p>
            <a:pPr marL="0" indent="0">
              <a:buNone/>
            </a:pPr>
            <a:r>
              <a:rPr lang="en-GB" dirty="0"/>
              <a:t>    print("Yes, 'banana' is in the tuple.")</a:t>
            </a:r>
          </a:p>
        </p:txBody>
      </p:sp>
    </p:spTree>
    <p:extLst>
      <p:ext uri="{BB962C8B-B14F-4D97-AF65-F5344CB8AC3E}">
        <p14:creationId xmlns:p14="http://schemas.microsoft.com/office/powerpoint/2010/main" val="464147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E3244-D12E-A6E0-E754-275BE2F7C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Tuple Concatenation and Repetition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0D077-A4B1-DF46-512A-079382F68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tuple1 = (1, 2, 3)</a:t>
            </a:r>
          </a:p>
          <a:p>
            <a:pPr marL="0" indent="0">
              <a:buNone/>
            </a:pPr>
            <a:r>
              <a:rPr lang="en-GB" dirty="0"/>
              <a:t>tuple2 = (4, 5, 6)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/>
              <a:t>concatenated_tuple</a:t>
            </a:r>
            <a:r>
              <a:rPr lang="en-GB" dirty="0"/>
              <a:t> = tuple1 + tuple2</a:t>
            </a:r>
          </a:p>
          <a:p>
            <a:pPr marL="0" indent="0">
              <a:buNone/>
            </a:pPr>
            <a:r>
              <a:rPr lang="en-GB" dirty="0"/>
              <a:t>print(</a:t>
            </a:r>
            <a:r>
              <a:rPr lang="en-GB" dirty="0" err="1"/>
              <a:t>concatenated_tuple</a:t>
            </a:r>
            <a:r>
              <a:rPr lang="en-GB" dirty="0"/>
              <a:t>)  # Output: (1, 2, 3, 4, 5, 6)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/>
              <a:t>repeated_tuple</a:t>
            </a:r>
            <a:r>
              <a:rPr lang="en-GB" dirty="0"/>
              <a:t> = tuple1 * 2</a:t>
            </a:r>
          </a:p>
          <a:p>
            <a:pPr marL="0" indent="0">
              <a:buNone/>
            </a:pPr>
            <a:r>
              <a:rPr lang="en-GB" dirty="0"/>
              <a:t>print(</a:t>
            </a:r>
            <a:r>
              <a:rPr lang="en-GB" dirty="0" err="1"/>
              <a:t>repeated_tuple</a:t>
            </a:r>
            <a:r>
              <a:rPr lang="en-GB" dirty="0"/>
              <a:t>)  # Output: (1, 2, 3, 1, 2, 3)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1094059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8BFE9-DA1A-0E46-0727-A467F9158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C593-344B-7992-002D-43DAECE6F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Tuple cont..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61E47-50D7-850C-CB55-A221F0681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count(x) → Returns the number of times x appears	</a:t>
            </a:r>
          </a:p>
          <a:p>
            <a:pPr marL="0" indent="0">
              <a:buNone/>
            </a:pPr>
            <a:r>
              <a:rPr lang="en-GB" dirty="0"/>
              <a:t>index(x) → Returns the first index of x	</a:t>
            </a:r>
          </a:p>
          <a:p>
            <a:pPr marL="0" indent="0">
              <a:buNone/>
            </a:pPr>
            <a:r>
              <a:rPr lang="en-GB" dirty="0"/>
              <a:t>Example:</a:t>
            </a:r>
          </a:p>
          <a:p>
            <a:pPr marL="400050" lvl="1" indent="0">
              <a:buNone/>
            </a:pPr>
            <a:r>
              <a:rPr lang="en-GB" sz="3200" dirty="0"/>
              <a:t>numbers = (1, 2, 2, 3, 4, 2)</a:t>
            </a:r>
          </a:p>
          <a:p>
            <a:pPr marL="400050" lvl="1" indent="0">
              <a:buNone/>
            </a:pPr>
            <a:r>
              <a:rPr lang="en-GB" sz="3200" dirty="0"/>
              <a:t>print(</a:t>
            </a:r>
            <a:r>
              <a:rPr lang="en-GB" sz="3200" dirty="0" err="1"/>
              <a:t>numbers.count</a:t>
            </a:r>
            <a:r>
              <a:rPr lang="en-GB" sz="3200" dirty="0"/>
              <a:t>(2))  # Output: 3</a:t>
            </a:r>
          </a:p>
          <a:p>
            <a:pPr marL="400050" lvl="1" indent="0">
              <a:buNone/>
            </a:pPr>
            <a:endParaRPr lang="en-GB" sz="3200" dirty="0"/>
          </a:p>
          <a:p>
            <a:pPr marL="400050" lvl="1" indent="0">
              <a:buNone/>
            </a:pPr>
            <a:r>
              <a:rPr lang="en-GB" sz="3200" dirty="0"/>
              <a:t>fruits = ("apple", "banana", "cherry")</a:t>
            </a:r>
          </a:p>
          <a:p>
            <a:pPr marL="400050" lvl="1" indent="0">
              <a:buNone/>
            </a:pPr>
            <a:r>
              <a:rPr lang="en-GB" sz="3200" dirty="0"/>
              <a:t>print(</a:t>
            </a:r>
            <a:r>
              <a:rPr lang="en-GB" sz="3200" dirty="0" err="1"/>
              <a:t>fruits.index</a:t>
            </a:r>
            <a:r>
              <a:rPr lang="en-GB" sz="3200" dirty="0"/>
              <a:t>("banana"))  # Output: 1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1499105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46CAA-829D-EBB1-B049-93CA91087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Unpacking Tuples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C882B-BBF4-6F58-3502-F7F645B01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</a:t>
            </a:r>
            <a:r>
              <a:rPr lang="en-GB" b="1" dirty="0"/>
              <a:t>assign tuple values to multiple variables</a:t>
            </a:r>
            <a:r>
              <a:rPr lang="en-GB" dirty="0"/>
              <a:t> at once.</a:t>
            </a:r>
          </a:p>
          <a:p>
            <a:r>
              <a:rPr lang="en-GB" dirty="0"/>
              <a:t>Example:</a:t>
            </a:r>
          </a:p>
          <a:p>
            <a:pPr marL="400050" lvl="1" indent="0">
              <a:buNone/>
            </a:pPr>
            <a:r>
              <a:rPr lang="en-GB" dirty="0"/>
              <a:t>coordinates = (10, 20, 30)</a:t>
            </a:r>
          </a:p>
          <a:p>
            <a:pPr marL="400050" lvl="1" indent="0">
              <a:buNone/>
            </a:pPr>
            <a:r>
              <a:rPr lang="en-GB" dirty="0"/>
              <a:t>x, y, z = coordinates</a:t>
            </a:r>
          </a:p>
          <a:p>
            <a:pPr marL="400050" lvl="1" indent="0">
              <a:buNone/>
            </a:pPr>
            <a:r>
              <a:rPr lang="en-GB" dirty="0"/>
              <a:t>print(x)  # Output: 10</a:t>
            </a:r>
          </a:p>
          <a:p>
            <a:pPr marL="400050" lvl="1" indent="0">
              <a:buNone/>
            </a:pPr>
            <a:r>
              <a:rPr lang="en-GB" dirty="0"/>
              <a:t>print(y)  # Output: 20</a:t>
            </a:r>
          </a:p>
          <a:p>
            <a:pPr marL="400050" lvl="1" indent="0">
              <a:buNone/>
            </a:pPr>
            <a:r>
              <a:rPr lang="en-GB" dirty="0"/>
              <a:t>print(z)  # Output: 30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3731690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6E840-C087-C127-B82F-80250DE95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Converting Between Lists and Tuples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6C6BD-F290-D301-D3CA-27900DCAC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Convert a tuple to a list</a:t>
            </a:r>
            <a:r>
              <a:rPr lang="en-GB" dirty="0"/>
              <a:t> (to modify its content):</a:t>
            </a:r>
          </a:p>
          <a:p>
            <a:r>
              <a:rPr lang="en-GB" dirty="0"/>
              <a:t>Example:</a:t>
            </a:r>
          </a:p>
          <a:p>
            <a:pPr marL="400050" lvl="1" indent="0">
              <a:buNone/>
            </a:pPr>
            <a:r>
              <a:rPr lang="en-GB" dirty="0" err="1"/>
              <a:t>tuple_data</a:t>
            </a:r>
            <a:r>
              <a:rPr lang="en-GB" dirty="0"/>
              <a:t> = (1, 2, 3)</a:t>
            </a:r>
          </a:p>
          <a:p>
            <a:pPr marL="400050" lvl="1" indent="0">
              <a:buNone/>
            </a:pPr>
            <a:r>
              <a:rPr lang="en-GB" dirty="0" err="1"/>
              <a:t>list_data</a:t>
            </a:r>
            <a:r>
              <a:rPr lang="en-GB" dirty="0"/>
              <a:t> = list(</a:t>
            </a:r>
            <a:r>
              <a:rPr lang="en-GB" dirty="0" err="1"/>
              <a:t>tuple_data</a:t>
            </a:r>
            <a:r>
              <a:rPr lang="en-GB" dirty="0"/>
              <a:t>)</a:t>
            </a:r>
          </a:p>
          <a:p>
            <a:pPr marL="400050" lvl="1" indent="0">
              <a:buNone/>
            </a:pPr>
            <a:r>
              <a:rPr lang="en-GB" dirty="0" err="1"/>
              <a:t>list_data.append</a:t>
            </a:r>
            <a:r>
              <a:rPr lang="en-GB" dirty="0"/>
              <a:t>(4)</a:t>
            </a:r>
          </a:p>
          <a:p>
            <a:pPr marL="400050" lvl="1" indent="0">
              <a:buNone/>
            </a:pPr>
            <a:r>
              <a:rPr lang="en-GB" dirty="0" err="1"/>
              <a:t>tuple_data</a:t>
            </a:r>
            <a:r>
              <a:rPr lang="en-GB" dirty="0"/>
              <a:t> = tuple(</a:t>
            </a:r>
            <a:r>
              <a:rPr lang="en-GB" dirty="0" err="1"/>
              <a:t>list_data</a:t>
            </a:r>
            <a:r>
              <a:rPr lang="en-GB" dirty="0"/>
              <a:t>)</a:t>
            </a:r>
          </a:p>
          <a:p>
            <a:pPr marL="400050" lvl="1" indent="0">
              <a:buNone/>
            </a:pPr>
            <a:r>
              <a:rPr lang="en-GB" dirty="0"/>
              <a:t>print(</a:t>
            </a:r>
            <a:r>
              <a:rPr lang="en-GB" dirty="0" err="1"/>
              <a:t>tuple_data</a:t>
            </a:r>
            <a:r>
              <a:rPr lang="en-GB" dirty="0"/>
              <a:t>)  # Output: (1, 2, 3, 4)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0706435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75C6B-E940-A937-83F0-1E10ACDC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Convert a list to a tuple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2845C-0B2E-49E6-ED02-DF4E6B5A4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list_data</a:t>
            </a:r>
            <a:r>
              <a:rPr lang="en-GB" dirty="0"/>
              <a:t> = [10, 20, 30]</a:t>
            </a:r>
          </a:p>
          <a:p>
            <a:r>
              <a:rPr lang="en-GB" dirty="0" err="1"/>
              <a:t>tuple_data</a:t>
            </a:r>
            <a:r>
              <a:rPr lang="en-GB" dirty="0"/>
              <a:t> = tuple(</a:t>
            </a:r>
            <a:r>
              <a:rPr lang="en-GB" dirty="0" err="1"/>
              <a:t>list_data</a:t>
            </a:r>
            <a:r>
              <a:rPr lang="en-GB" dirty="0"/>
              <a:t>)</a:t>
            </a:r>
          </a:p>
          <a:p>
            <a:r>
              <a:rPr lang="en-GB" dirty="0"/>
              <a:t>print(</a:t>
            </a:r>
            <a:r>
              <a:rPr lang="en-GB" dirty="0" err="1"/>
              <a:t>tuple_data</a:t>
            </a:r>
            <a:r>
              <a:rPr lang="en-GB" dirty="0"/>
              <a:t>)  # Output: (10, 20, 30)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8650122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397D0-EA82-A27C-0E5E-7275386A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count() Method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38F66-0B89-AABD-0C75-1435F2F59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count() method of Tuple returns the number of times the given element appears in the tuple.</a:t>
            </a:r>
          </a:p>
          <a:p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en-GB" dirty="0"/>
              <a:t>	Tuple1 = (0, 1, 2, 3, 2, 3, 1, 3, 2)</a:t>
            </a:r>
          </a:p>
          <a:p>
            <a:pPr marL="400050" lvl="1" indent="0">
              <a:buNone/>
            </a:pPr>
            <a:r>
              <a:rPr lang="en-GB" sz="3200" dirty="0"/>
              <a:t>res = Tuple1.count(3)</a:t>
            </a:r>
          </a:p>
          <a:p>
            <a:pPr marL="400050" lvl="1" indent="0">
              <a:buNone/>
            </a:pPr>
            <a:r>
              <a:rPr lang="en-GB" sz="3200" dirty="0"/>
              <a:t>print('Count of 3 in Tuple1 is:', res)</a:t>
            </a:r>
            <a:endParaRPr lang="en-AE" sz="3200" dirty="0"/>
          </a:p>
        </p:txBody>
      </p:sp>
    </p:spTree>
    <p:extLst>
      <p:ext uri="{BB962C8B-B14F-4D97-AF65-F5344CB8AC3E}">
        <p14:creationId xmlns:p14="http://schemas.microsoft.com/office/powerpoint/2010/main" val="23621463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3FC60-DAA9-A3CC-8107-B1DB8B290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Dictionaries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46399-493F-C18C-E7A8-1928F1DC6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+mj-lt"/>
              </a:rPr>
              <a:t>Dictionaries are ordered collection of data items. </a:t>
            </a:r>
          </a:p>
          <a:p>
            <a:r>
              <a:rPr lang="en-GB" b="0" i="0" dirty="0">
                <a:solidFill>
                  <a:srgbClr val="000000"/>
                </a:solidFill>
                <a:effectLst/>
                <a:latin typeface="+mj-lt"/>
              </a:rPr>
              <a:t>They store multiple items in a single variable. </a:t>
            </a:r>
          </a:p>
          <a:p>
            <a:r>
              <a:rPr lang="en-GB" b="0" i="0" dirty="0">
                <a:solidFill>
                  <a:srgbClr val="000000"/>
                </a:solidFill>
                <a:effectLst/>
                <a:latin typeface="+mj-lt"/>
              </a:rPr>
              <a:t>Dictionary items are key-value pairs that are separated by commas and enclosed within curly brackets {}.</a:t>
            </a:r>
          </a:p>
          <a:p>
            <a:r>
              <a:rPr lang="en-GB" dirty="0">
                <a:latin typeface="+mj-lt"/>
              </a:rPr>
              <a:t>Keys must be unique and immutable.</a:t>
            </a:r>
          </a:p>
          <a:p>
            <a:r>
              <a:rPr lang="en-GB" dirty="0">
                <a:latin typeface="+mj-lt"/>
              </a:rPr>
              <a:t>Dictionaries are mutable (modifiable).</a:t>
            </a:r>
            <a:endParaRPr lang="en-AE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70388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14E3D-1DCE-B1AB-9FF1-A2CBE786D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Creating a Dictionary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32D4C-4BDF-CA8E-27B7-D5309FD76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student = {"name": “Rabia", "age": 21, "grade": "A"}</a:t>
            </a:r>
          </a:p>
          <a:p>
            <a:pPr marL="0" indent="0">
              <a:buNone/>
            </a:pPr>
            <a:r>
              <a:rPr lang="en-GB" dirty="0"/>
              <a:t>print(student)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Output:</a:t>
            </a:r>
            <a:br>
              <a:rPr lang="en-GB" dirty="0"/>
            </a:br>
            <a:r>
              <a:rPr lang="en-GB" dirty="0"/>
              <a:t>	{'name': ‘Rabia', 'age': 21, 'grade': 'A'}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6744924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A7EB4-C3AB-A6E6-3770-2FE889DDD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Accessing Dictionary items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26F25-E3C9-6713-C948-1580198FB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Values in a dictionary can be accessed using keys.</a:t>
            </a:r>
          </a:p>
          <a:p>
            <a:r>
              <a:rPr lang="en-GB" dirty="0"/>
              <a:t>We can access dictionary values by mentioning keys either in square brackets or by using get method.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0560258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39724-D35A-1638-FDBB-65A896A7C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Accessing single values: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BF2DE-3F2D-1E7E-7366-3D5DAF41F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student = {"name": “Rabia", "age": 21, "grade": "A"}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print(student["name"])  # Output: Rabia</a:t>
            </a:r>
          </a:p>
          <a:p>
            <a:pPr marL="0" indent="0">
              <a:buNone/>
            </a:pPr>
            <a:r>
              <a:rPr lang="en-GB" dirty="0"/>
              <a:t>print(</a:t>
            </a:r>
            <a:r>
              <a:rPr lang="en-GB" dirty="0" err="1"/>
              <a:t>student.get</a:t>
            </a:r>
            <a:r>
              <a:rPr lang="en-GB" dirty="0"/>
              <a:t>("age"))  # Output: 21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698466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0F7D7-A008-E713-2D27-09C2F3FD8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029B4-C7F0-B430-6902-525A0670A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Accessing single values: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172D0-836C-3B93-6DE0-195DEDF7A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Using get() prevents errors if the key doesn’t exist:</a:t>
            </a:r>
          </a:p>
          <a:p>
            <a:pPr marL="0" indent="0">
              <a:buNone/>
            </a:pPr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en-GB" dirty="0"/>
              <a:t>		print(</a:t>
            </a:r>
            <a:r>
              <a:rPr lang="en-GB" dirty="0" err="1"/>
              <a:t>student.get</a:t>
            </a:r>
            <a:r>
              <a:rPr lang="en-GB" dirty="0"/>
              <a:t>("height", "Not Found"))  </a:t>
            </a:r>
          </a:p>
          <a:p>
            <a:pPr marL="0" indent="0">
              <a:buNone/>
            </a:pPr>
            <a:r>
              <a:rPr lang="en-GB" dirty="0"/>
              <a:t>		# Output: Not Found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789826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EC583-AEC4-D273-8FF5-E2F4AB556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Accessing multiple values: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B8558-2436-D0A4-74C0-7EE20E48D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can print all the values in the dictionary using values() method.</a:t>
            </a:r>
          </a:p>
          <a:p>
            <a:r>
              <a:rPr lang="en-GB" b="1" dirty="0"/>
              <a:t>Example:</a:t>
            </a:r>
          </a:p>
          <a:p>
            <a:pPr marL="0" indent="0">
              <a:buNone/>
            </a:pPr>
            <a:r>
              <a:rPr lang="en-GB" dirty="0"/>
              <a:t>	info = {'name’:’</a:t>
            </a:r>
            <a:r>
              <a:rPr lang="en-GB" dirty="0" err="1"/>
              <a:t>saba</a:t>
            </a:r>
            <a:r>
              <a:rPr lang="en-GB" dirty="0"/>
              <a:t>', 'age':19, '</a:t>
            </a:r>
            <a:r>
              <a:rPr lang="en-GB" dirty="0" err="1"/>
              <a:t>eligible':True</a:t>
            </a:r>
            <a:r>
              <a:rPr lang="en-GB" dirty="0"/>
              <a:t>}</a:t>
            </a:r>
          </a:p>
          <a:p>
            <a:pPr marL="0" indent="0">
              <a:buNone/>
            </a:pPr>
            <a:r>
              <a:rPr lang="en-GB" dirty="0"/>
              <a:t>	print(</a:t>
            </a:r>
            <a:r>
              <a:rPr lang="en-GB" dirty="0" err="1"/>
              <a:t>info.values</a:t>
            </a:r>
            <a:r>
              <a:rPr lang="en-GB" dirty="0"/>
              <a:t>())</a:t>
            </a:r>
          </a:p>
          <a:p>
            <a:r>
              <a:rPr lang="en-GB" b="1" dirty="0"/>
              <a:t>Output:</a:t>
            </a:r>
            <a:br>
              <a:rPr lang="en-GB" dirty="0"/>
            </a:br>
            <a:r>
              <a:rPr lang="en-GB" dirty="0"/>
              <a:t>	</a:t>
            </a:r>
            <a:r>
              <a:rPr lang="en-GB" dirty="0" err="1"/>
              <a:t>dict_values</a:t>
            </a:r>
            <a:r>
              <a:rPr lang="en-GB" dirty="0"/>
              <a:t>([‘</a:t>
            </a:r>
            <a:r>
              <a:rPr lang="en-GB" dirty="0" err="1"/>
              <a:t>saba</a:t>
            </a:r>
            <a:r>
              <a:rPr lang="en-GB" dirty="0"/>
              <a:t>', 19, True])	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9438227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C5F8D-5229-3AFD-6B14-13C6758A9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Accessing keys: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213E7-BBB2-258A-CAD4-423CE5785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can print all the keys in the dictionary using keys() method.</a:t>
            </a:r>
          </a:p>
          <a:p>
            <a:r>
              <a:rPr lang="en-GB" dirty="0"/>
              <a:t>Example:</a:t>
            </a:r>
          </a:p>
          <a:p>
            <a:pPr marL="400050" lvl="1" indent="0">
              <a:buNone/>
            </a:pPr>
            <a:r>
              <a:rPr lang="en-GB" sz="3200" dirty="0"/>
              <a:t>info = {'</a:t>
            </a:r>
            <a:r>
              <a:rPr lang="en-GB" sz="3200" dirty="0" err="1"/>
              <a:t>name’:’Saba</a:t>
            </a:r>
            <a:r>
              <a:rPr lang="en-GB" sz="3200" dirty="0"/>
              <a:t>', 'age':19, '</a:t>
            </a:r>
            <a:r>
              <a:rPr lang="en-GB" sz="3200" dirty="0" err="1"/>
              <a:t>eligible':True</a:t>
            </a:r>
            <a:r>
              <a:rPr lang="en-GB" sz="3200" dirty="0"/>
              <a:t>}</a:t>
            </a:r>
          </a:p>
          <a:p>
            <a:pPr marL="400050" lvl="1" indent="0">
              <a:buNone/>
            </a:pPr>
            <a:r>
              <a:rPr lang="en-GB" sz="3200" dirty="0"/>
              <a:t>print(</a:t>
            </a:r>
            <a:r>
              <a:rPr lang="en-GB" sz="3200" dirty="0" err="1"/>
              <a:t>info.keys</a:t>
            </a:r>
            <a:r>
              <a:rPr lang="en-GB" sz="3200" dirty="0"/>
              <a:t>())</a:t>
            </a:r>
          </a:p>
          <a:p>
            <a:r>
              <a:rPr lang="en-GB" dirty="0"/>
              <a:t>Output: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err="1"/>
              <a:t>dict_keys</a:t>
            </a:r>
            <a:r>
              <a:rPr lang="en-GB" dirty="0"/>
              <a:t>(['name', 'age', 'eligible'])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1826699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06CE1-378B-7C04-BB1B-3AAC38FB3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Accessing key-value pairs: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2BB1F-4872-BBC7-4D82-13F8D51BA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can print all the key-value pairs in the dictionary using items() method.</a:t>
            </a:r>
          </a:p>
          <a:p>
            <a:r>
              <a:rPr lang="en-GB" dirty="0"/>
              <a:t>Example</a:t>
            </a:r>
          </a:p>
          <a:p>
            <a:pPr marL="0" indent="0">
              <a:buNone/>
            </a:pPr>
            <a:r>
              <a:rPr lang="en-GB" dirty="0"/>
              <a:t>	info = {'</a:t>
            </a:r>
            <a:r>
              <a:rPr lang="en-GB" dirty="0" err="1"/>
              <a:t>name’:’Saba</a:t>
            </a:r>
            <a:r>
              <a:rPr lang="en-GB" dirty="0"/>
              <a:t>', 'age':19, '</a:t>
            </a:r>
            <a:r>
              <a:rPr lang="en-GB" dirty="0" err="1"/>
              <a:t>eligible':True</a:t>
            </a:r>
            <a:r>
              <a:rPr lang="en-GB" dirty="0"/>
              <a:t>}</a:t>
            </a:r>
          </a:p>
          <a:p>
            <a:pPr marL="0" indent="0">
              <a:buNone/>
            </a:pPr>
            <a:r>
              <a:rPr lang="en-GB" dirty="0"/>
              <a:t>	print(</a:t>
            </a:r>
            <a:r>
              <a:rPr lang="en-GB" dirty="0" err="1"/>
              <a:t>info.items</a:t>
            </a:r>
            <a:r>
              <a:rPr lang="en-GB" dirty="0"/>
              <a:t>())</a:t>
            </a:r>
          </a:p>
          <a:p>
            <a:r>
              <a:rPr lang="en-GB" dirty="0"/>
              <a:t>Output: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err="1"/>
              <a:t>dict_items</a:t>
            </a:r>
            <a:r>
              <a:rPr lang="en-GB" dirty="0"/>
              <a:t>([('name', ‘Saba'), ('age', 19), ('eligible', True)])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4225294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0E50C-D35A-D118-A890-86C52DC0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Adding and Updating Dictionary Values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9F4D6-45FE-AE73-BDDB-0C455488F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student["age"] = 22  # Updating an existing key</a:t>
            </a:r>
          </a:p>
          <a:p>
            <a:r>
              <a:rPr lang="en-GB" dirty="0"/>
              <a:t>student["city"] = "New York"  # Adding a new key-value pair</a:t>
            </a:r>
          </a:p>
          <a:p>
            <a:r>
              <a:rPr lang="en-GB" dirty="0"/>
              <a:t>print(student)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3520418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B8440-F41B-87F0-CAC6-F2C423B82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E5E60-4666-5736-71AB-3E04B4332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Adding and Updating Dictionary Values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90C1A-EB6E-E99C-C2E1-6AEECC165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 update() method updates the value of the key provided to it.</a:t>
            </a:r>
          </a:p>
          <a:p>
            <a:r>
              <a:rPr lang="en-GB" dirty="0"/>
              <a:t> if the item already exists in the dictionary, else it creates a new key-value pair.</a:t>
            </a:r>
          </a:p>
          <a:p>
            <a:pPr marL="0" indent="0">
              <a:buNone/>
            </a:pPr>
            <a:r>
              <a:rPr lang="en-GB" dirty="0"/>
              <a:t>Example:</a:t>
            </a:r>
            <a:br>
              <a:rPr lang="en-GB" dirty="0"/>
            </a:br>
            <a:r>
              <a:rPr lang="en-GB" dirty="0"/>
              <a:t>info = {'</a:t>
            </a:r>
            <a:r>
              <a:rPr lang="en-GB" dirty="0" err="1"/>
              <a:t>name’:’Saba</a:t>
            </a:r>
            <a:r>
              <a:rPr lang="en-GB" dirty="0"/>
              <a:t>', 'age':19, '</a:t>
            </a:r>
            <a:r>
              <a:rPr lang="en-GB" dirty="0" err="1"/>
              <a:t>eligible':True</a:t>
            </a:r>
            <a:r>
              <a:rPr lang="en-GB" dirty="0"/>
              <a:t>}</a:t>
            </a:r>
          </a:p>
          <a:p>
            <a:pPr marL="0" indent="0">
              <a:buNone/>
            </a:pPr>
            <a:r>
              <a:rPr lang="en-GB" dirty="0"/>
              <a:t>print(info)</a:t>
            </a:r>
          </a:p>
          <a:p>
            <a:pPr marL="0" indent="0">
              <a:buNone/>
            </a:pPr>
            <a:r>
              <a:rPr lang="en-GB" dirty="0" err="1"/>
              <a:t>info.update</a:t>
            </a:r>
            <a:r>
              <a:rPr lang="en-GB" dirty="0"/>
              <a:t>({'age':20})</a:t>
            </a:r>
          </a:p>
          <a:p>
            <a:pPr marL="0" indent="0">
              <a:buNone/>
            </a:pPr>
            <a:r>
              <a:rPr lang="en-GB" dirty="0" err="1"/>
              <a:t>info.update</a:t>
            </a:r>
            <a:r>
              <a:rPr lang="en-GB" dirty="0"/>
              <a:t>({'DOB':2001})</a:t>
            </a:r>
          </a:p>
          <a:p>
            <a:pPr marL="0" indent="0">
              <a:buNone/>
            </a:pPr>
            <a:r>
              <a:rPr lang="en-GB" dirty="0"/>
              <a:t>print(info)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607672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7043D-8DB6-1DF1-C886-42D436745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Removing Elements from a Dictionary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BB70E-C7C0-E57E-7F80-6DB9D2775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del student["grade"] → Deletes a key-value pair</a:t>
            </a:r>
          </a:p>
          <a:p>
            <a:r>
              <a:rPr lang="en-GB" dirty="0" err="1"/>
              <a:t>student.pop</a:t>
            </a:r>
            <a:r>
              <a:rPr lang="en-GB" dirty="0"/>
              <a:t>("age") → Removes a key and returns its value</a:t>
            </a:r>
          </a:p>
          <a:p>
            <a:r>
              <a:rPr lang="en-GB" dirty="0" err="1"/>
              <a:t>student.popitem</a:t>
            </a:r>
            <a:r>
              <a:rPr lang="en-GB" dirty="0"/>
              <a:t>() → Removes the last inserted item</a:t>
            </a:r>
          </a:p>
          <a:p>
            <a:r>
              <a:rPr lang="en-GB" dirty="0" err="1"/>
              <a:t>student.clear</a:t>
            </a:r>
            <a:r>
              <a:rPr lang="en-GB" dirty="0"/>
              <a:t>() → Removes all elements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2813178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D5CD9-F4EE-1F55-E855-AED1C8EA7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4DB39-A58D-1FBB-A94E-CFE257D52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674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# Creating a dictionary</a:t>
            </a:r>
          </a:p>
          <a:p>
            <a:pPr marL="0" indent="0">
              <a:buNone/>
            </a:pPr>
            <a:r>
              <a:rPr lang="en-GB" sz="2400" dirty="0"/>
              <a:t>student = {"name": "</a:t>
            </a:r>
            <a:r>
              <a:rPr lang="en-GB" sz="2400" dirty="0" err="1"/>
              <a:t>Rida","age</a:t>
            </a:r>
            <a:r>
              <a:rPr lang="en-GB" sz="2400" dirty="0"/>
              <a:t>": 21,"grade": "</a:t>
            </a:r>
            <a:r>
              <a:rPr lang="en-GB" sz="2400" dirty="0" err="1"/>
              <a:t>A","city</a:t>
            </a:r>
            <a:r>
              <a:rPr lang="en-GB" sz="2400" dirty="0"/>
              <a:t>": "New York"}</a:t>
            </a:r>
          </a:p>
          <a:p>
            <a:pPr marL="0" indent="0">
              <a:buNone/>
            </a:pPr>
            <a:r>
              <a:rPr lang="en-GB" sz="2400" dirty="0"/>
              <a:t>print("Original Dictionary:")</a:t>
            </a:r>
          </a:p>
          <a:p>
            <a:pPr marL="0" indent="0">
              <a:buNone/>
            </a:pPr>
            <a:r>
              <a:rPr lang="en-GB" sz="2400" dirty="0"/>
              <a:t>print(student)</a:t>
            </a:r>
          </a:p>
          <a:p>
            <a:pPr marL="0" indent="0">
              <a:buNone/>
            </a:pPr>
            <a:r>
              <a:rPr lang="en-GB" sz="2400" dirty="0"/>
              <a:t># Output: {'name': 'Rida', 'age': 21, 'grade': 'A', 'city': 'New York'}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# 1. Using del to delete a specific key-value pair</a:t>
            </a:r>
          </a:p>
          <a:p>
            <a:pPr marL="0" indent="0">
              <a:buNone/>
            </a:pPr>
            <a:r>
              <a:rPr lang="en-GB" sz="2400" dirty="0"/>
              <a:t>del student["grade"]</a:t>
            </a:r>
          </a:p>
          <a:p>
            <a:pPr marL="0" indent="0">
              <a:buNone/>
            </a:pPr>
            <a:r>
              <a:rPr lang="en-GB" sz="2400" dirty="0"/>
              <a:t>print("\</a:t>
            </a:r>
            <a:r>
              <a:rPr lang="en-GB" sz="2400" dirty="0" err="1"/>
              <a:t>nAfter</a:t>
            </a:r>
            <a:r>
              <a:rPr lang="en-GB" sz="2400" dirty="0"/>
              <a:t> using del to remove 'grade':")</a:t>
            </a:r>
          </a:p>
          <a:p>
            <a:pPr marL="0" indent="0">
              <a:buNone/>
            </a:pPr>
            <a:r>
              <a:rPr lang="en-GB" sz="2400" dirty="0"/>
              <a:t>print(student)</a:t>
            </a:r>
          </a:p>
          <a:p>
            <a:pPr marL="0" indent="0">
              <a:buNone/>
            </a:pPr>
            <a:r>
              <a:rPr lang="en-GB" sz="2400" dirty="0"/>
              <a:t># Output: {'name': 'Rida', 'age': 21, 'city': 'New York'}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AE" sz="2400" dirty="0"/>
          </a:p>
        </p:txBody>
      </p:sp>
    </p:spTree>
    <p:extLst>
      <p:ext uri="{BB962C8B-B14F-4D97-AF65-F5344CB8AC3E}">
        <p14:creationId xmlns:p14="http://schemas.microsoft.com/office/powerpoint/2010/main" val="13032767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8F289-9B90-ECB7-B889-8D7398518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C949E-37BB-A371-98A9-B7575E00F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BB1DE-0303-C7EF-5008-AD96A36C4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2800" dirty="0"/>
              <a:t># 2. Using pop() to remove and return a value</a:t>
            </a:r>
          </a:p>
          <a:p>
            <a:pPr marL="0" indent="0">
              <a:buNone/>
            </a:pPr>
            <a:r>
              <a:rPr lang="en-GB" sz="2800" dirty="0" err="1"/>
              <a:t>removed_value</a:t>
            </a:r>
            <a:r>
              <a:rPr lang="en-GB" sz="2800" dirty="0"/>
              <a:t> = </a:t>
            </a:r>
            <a:r>
              <a:rPr lang="en-GB" sz="2800" dirty="0" err="1"/>
              <a:t>student.pop</a:t>
            </a:r>
            <a:r>
              <a:rPr lang="en-GB" sz="2800" dirty="0"/>
              <a:t>("age")</a:t>
            </a:r>
          </a:p>
          <a:p>
            <a:pPr marL="0" indent="0">
              <a:buNone/>
            </a:pPr>
            <a:r>
              <a:rPr lang="en-GB" sz="2800" dirty="0"/>
              <a:t>print("\</a:t>
            </a:r>
            <a:r>
              <a:rPr lang="en-GB" sz="2800" dirty="0" err="1"/>
              <a:t>nAfter</a:t>
            </a:r>
            <a:r>
              <a:rPr lang="en-GB" sz="2800" dirty="0"/>
              <a:t> using pop('age'):")</a:t>
            </a:r>
          </a:p>
          <a:p>
            <a:pPr marL="0" indent="0">
              <a:buNone/>
            </a:pPr>
            <a:r>
              <a:rPr lang="en-GB" sz="2800" dirty="0"/>
              <a:t>print(student)</a:t>
            </a:r>
          </a:p>
          <a:p>
            <a:pPr marL="0" indent="0">
              <a:buNone/>
            </a:pPr>
            <a:r>
              <a:rPr lang="en-GB" sz="2800" dirty="0"/>
              <a:t>print(</a:t>
            </a:r>
            <a:r>
              <a:rPr lang="en-GB" sz="2800" dirty="0" err="1"/>
              <a:t>f"Removed</a:t>
            </a:r>
            <a:r>
              <a:rPr lang="en-GB" sz="2800" dirty="0"/>
              <a:t> Value: {</a:t>
            </a:r>
            <a:r>
              <a:rPr lang="en-GB" sz="2800" dirty="0" err="1"/>
              <a:t>removed_value</a:t>
            </a:r>
            <a:r>
              <a:rPr lang="en-GB" sz="2800" dirty="0"/>
              <a:t>}")</a:t>
            </a:r>
          </a:p>
          <a:p>
            <a:pPr marL="0" indent="0">
              <a:buNone/>
            </a:pPr>
            <a:r>
              <a:rPr lang="en-GB" sz="2800" dirty="0"/>
              <a:t># Output: {'name': 'Rida', 'city': 'New York’} # Removed Value: 21</a:t>
            </a:r>
          </a:p>
        </p:txBody>
      </p:sp>
    </p:spTree>
    <p:extLst>
      <p:ext uri="{BB962C8B-B14F-4D97-AF65-F5344CB8AC3E}">
        <p14:creationId xmlns:p14="http://schemas.microsoft.com/office/powerpoint/2010/main" val="35465911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5AA9A-054C-9A5D-5B79-0629A1F32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5EFC9-3A78-2575-AC7B-5FF0B5C0D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# 3. Using </a:t>
            </a:r>
            <a:r>
              <a:rPr lang="en-GB" sz="2400" dirty="0" err="1"/>
              <a:t>popitem</a:t>
            </a:r>
            <a:r>
              <a:rPr lang="en-GB" sz="2400" dirty="0"/>
              <a:t>() to remove the last inserted item</a:t>
            </a:r>
          </a:p>
          <a:p>
            <a:pPr marL="0" indent="0">
              <a:buNone/>
            </a:pPr>
            <a:r>
              <a:rPr lang="en-GB" sz="2400" dirty="0" err="1"/>
              <a:t>removed_item</a:t>
            </a:r>
            <a:r>
              <a:rPr lang="en-GB" sz="2400" dirty="0"/>
              <a:t> = </a:t>
            </a:r>
            <a:r>
              <a:rPr lang="en-GB" sz="2400" dirty="0" err="1"/>
              <a:t>student.popitem</a:t>
            </a:r>
            <a:r>
              <a:rPr lang="en-GB" sz="2400" dirty="0"/>
              <a:t>()</a:t>
            </a:r>
          </a:p>
          <a:p>
            <a:pPr marL="0" indent="0">
              <a:buNone/>
            </a:pPr>
            <a:r>
              <a:rPr lang="en-GB" sz="2400" dirty="0"/>
              <a:t>print("\</a:t>
            </a:r>
            <a:r>
              <a:rPr lang="en-GB" sz="2400" dirty="0" err="1"/>
              <a:t>nAfter</a:t>
            </a:r>
            <a:r>
              <a:rPr lang="en-GB" sz="2400" dirty="0"/>
              <a:t> using </a:t>
            </a:r>
            <a:r>
              <a:rPr lang="en-GB" sz="2400" dirty="0" err="1"/>
              <a:t>popitem</a:t>
            </a:r>
            <a:r>
              <a:rPr lang="en-GB" sz="2400" dirty="0"/>
              <a:t>():")</a:t>
            </a:r>
          </a:p>
          <a:p>
            <a:pPr marL="0" indent="0">
              <a:buNone/>
            </a:pPr>
            <a:r>
              <a:rPr lang="en-GB" sz="2400" dirty="0"/>
              <a:t>print(student)</a:t>
            </a:r>
          </a:p>
          <a:p>
            <a:pPr marL="0" indent="0">
              <a:buNone/>
            </a:pPr>
            <a:r>
              <a:rPr lang="en-GB" sz="2400" dirty="0"/>
              <a:t>print(</a:t>
            </a:r>
            <a:r>
              <a:rPr lang="en-GB" sz="2400" dirty="0" err="1"/>
              <a:t>f"Removed</a:t>
            </a:r>
            <a:r>
              <a:rPr lang="en-GB" sz="2400" dirty="0"/>
              <a:t> Item: {</a:t>
            </a:r>
            <a:r>
              <a:rPr lang="en-GB" sz="2400" dirty="0" err="1"/>
              <a:t>removed_item</a:t>
            </a:r>
            <a:r>
              <a:rPr lang="en-GB" sz="2400" dirty="0"/>
              <a:t>}")</a:t>
            </a:r>
          </a:p>
          <a:p>
            <a:pPr marL="0" indent="0">
              <a:buNone/>
            </a:pPr>
            <a:r>
              <a:rPr lang="en-GB" sz="2400" dirty="0"/>
              <a:t># Output: {'name': 'Rida'}# Removed Item: ('city', 'New York')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# 4. Using clear() to remove all elements</a:t>
            </a:r>
          </a:p>
          <a:p>
            <a:pPr marL="0" indent="0">
              <a:buNone/>
            </a:pPr>
            <a:r>
              <a:rPr lang="en-GB" sz="2400" dirty="0" err="1"/>
              <a:t>student.clear</a:t>
            </a:r>
            <a:r>
              <a:rPr lang="en-GB" sz="2400" dirty="0"/>
              <a:t>()</a:t>
            </a:r>
          </a:p>
          <a:p>
            <a:pPr marL="0" indent="0">
              <a:buNone/>
            </a:pPr>
            <a:r>
              <a:rPr lang="en-GB" sz="2400" dirty="0"/>
              <a:t>print("\</a:t>
            </a:r>
            <a:r>
              <a:rPr lang="en-GB" sz="2400" dirty="0" err="1"/>
              <a:t>nAfter</a:t>
            </a:r>
            <a:r>
              <a:rPr lang="en-GB" sz="2400" dirty="0"/>
              <a:t> using clear():")</a:t>
            </a:r>
          </a:p>
          <a:p>
            <a:pPr marL="0" indent="0">
              <a:buNone/>
            </a:pPr>
            <a:r>
              <a:rPr lang="en-GB" sz="2400" dirty="0"/>
              <a:t>print(student) # Output: {}</a:t>
            </a:r>
          </a:p>
          <a:p>
            <a:pPr marL="0" indent="0">
              <a:buNone/>
            </a:pPr>
            <a:endParaRPr lang="en-AE" sz="2000" dirty="0"/>
          </a:p>
        </p:txBody>
      </p:sp>
    </p:spTree>
    <p:extLst>
      <p:ext uri="{BB962C8B-B14F-4D97-AF65-F5344CB8AC3E}">
        <p14:creationId xmlns:p14="http://schemas.microsoft.com/office/powerpoint/2010/main" val="38499011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FD7D0-92D0-3340-71DD-6305ED607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Looping Through a Dictionary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73FC5-5313-FE8B-D01E-399E5B2F6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00050" lvl="1" indent="0">
              <a:buNone/>
            </a:pPr>
            <a:r>
              <a:rPr lang="en-GB" sz="3200" dirty="0"/>
              <a:t>for key, value in </a:t>
            </a:r>
            <a:r>
              <a:rPr lang="en-GB" sz="3200" dirty="0" err="1"/>
              <a:t>student.items</a:t>
            </a:r>
            <a:r>
              <a:rPr lang="en-GB" sz="3200" dirty="0"/>
              <a:t>():</a:t>
            </a:r>
          </a:p>
          <a:p>
            <a:pPr marL="400050" lvl="1" indent="0">
              <a:buNone/>
            </a:pPr>
            <a:r>
              <a:rPr lang="en-GB" sz="3200" dirty="0"/>
              <a:t>    print(f"{key}: {value}")</a:t>
            </a:r>
          </a:p>
          <a:p>
            <a:r>
              <a:rPr lang="en-GB" b="1" dirty="0"/>
              <a:t>Looping through keys:</a:t>
            </a:r>
          </a:p>
          <a:p>
            <a:pPr marL="400050" lvl="1" indent="0">
              <a:buNone/>
            </a:pPr>
            <a:r>
              <a:rPr lang="en-GB" sz="3200" dirty="0"/>
              <a:t>for key in </a:t>
            </a:r>
            <a:r>
              <a:rPr lang="en-GB" sz="3200" dirty="0" err="1"/>
              <a:t>student.keys</a:t>
            </a:r>
            <a:r>
              <a:rPr lang="en-GB" sz="3200" dirty="0"/>
              <a:t>():</a:t>
            </a:r>
          </a:p>
          <a:p>
            <a:pPr marL="400050" lvl="1" indent="0">
              <a:buNone/>
            </a:pPr>
            <a:r>
              <a:rPr lang="en-GB" sz="3200" dirty="0"/>
              <a:t>    print(key)</a:t>
            </a:r>
          </a:p>
          <a:p>
            <a:r>
              <a:rPr lang="en-GB" b="1" dirty="0"/>
              <a:t>Looping through values:</a:t>
            </a:r>
          </a:p>
          <a:p>
            <a:pPr marL="400050" lvl="1" indent="0">
              <a:buNone/>
            </a:pPr>
            <a:r>
              <a:rPr lang="en-GB" sz="3200" dirty="0"/>
              <a:t>for value in </a:t>
            </a:r>
            <a:r>
              <a:rPr lang="en-GB" sz="3200" dirty="0" err="1"/>
              <a:t>student.values</a:t>
            </a:r>
            <a:r>
              <a:rPr lang="en-GB" sz="3200" dirty="0"/>
              <a:t>():</a:t>
            </a:r>
          </a:p>
          <a:p>
            <a:pPr marL="400050" lvl="1" indent="0">
              <a:buNone/>
            </a:pPr>
            <a:r>
              <a:rPr lang="en-GB" sz="3200" dirty="0"/>
              <a:t>    print(value)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7513350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18E37-C1B5-C5D1-87CC-96579CCE0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Merging Dictionaries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22516-418C-71F2-7737-80442CE61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dict1 = {"a": 1, "b": 2}</a:t>
            </a:r>
          </a:p>
          <a:p>
            <a:pPr marL="0" indent="0">
              <a:buNone/>
            </a:pPr>
            <a:r>
              <a:rPr lang="en-GB" dirty="0"/>
              <a:t>dict2 = {"c": 3, "d": 4}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dict1.update(dict2)</a:t>
            </a:r>
          </a:p>
          <a:p>
            <a:pPr marL="0" indent="0">
              <a:buNone/>
            </a:pPr>
            <a:r>
              <a:rPr lang="en-GB" dirty="0"/>
              <a:t>print(dict1)</a:t>
            </a:r>
          </a:p>
          <a:p>
            <a:r>
              <a:rPr lang="en-AE" dirty="0"/>
              <a:t>Output:</a:t>
            </a:r>
            <a:br>
              <a:rPr lang="en-AE" dirty="0"/>
            </a:br>
            <a:r>
              <a:rPr lang="en-GB" dirty="0"/>
              <a:t>{'a': 1, 'b': 2, 'c': 3, 'd': 4}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9721237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75636-AE47-38A3-4EC2-7F21DF904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to Use What?</a:t>
            </a:r>
            <a:endParaRPr lang="en-AE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DA0D08C-0CB7-9DE8-88F3-713A49E3A0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2012199"/>
              </p:ext>
            </p:extLst>
          </p:nvPr>
        </p:nvGraphicFramePr>
        <p:xfrm>
          <a:off x="457200" y="1600200"/>
          <a:ext cx="8229600" cy="4777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08093942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25103563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28797118"/>
                    </a:ext>
                  </a:extLst>
                </a:gridCol>
              </a:tblGrid>
              <a:tr h="587079">
                <a:tc>
                  <a:txBody>
                    <a:bodyPr/>
                    <a:lstStyle/>
                    <a:p>
                      <a:r>
                        <a:rPr lang="en-GB" sz="2800" dirty="0"/>
                        <a:t>Data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804890"/>
                  </a:ext>
                </a:extLst>
              </a:tr>
              <a:tr h="1013314">
                <a:tc>
                  <a:txBody>
                    <a:bodyPr/>
                    <a:lstStyle/>
                    <a:p>
                      <a:r>
                        <a:rPr lang="en-GB" sz="2800" b="1" dirty="0"/>
                        <a:t>List ([])</a:t>
                      </a:r>
                      <a:endParaRPr lang="en-GB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Ordered, mutable 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Task manager, Shopping cart, Playlists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12546"/>
                  </a:ext>
                </a:extLst>
              </a:tr>
              <a:tr h="1013314">
                <a:tc>
                  <a:txBody>
                    <a:bodyPr/>
                    <a:lstStyle/>
                    <a:p>
                      <a:r>
                        <a:rPr lang="en-GB" sz="2800" b="1"/>
                        <a:t>Tuple (())</a:t>
                      </a:r>
                      <a:endParaRPr lang="en-GB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Immutable 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GPS coordinates, API responses, Fixed settings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6447796"/>
                  </a:ext>
                </a:extLst>
              </a:tr>
              <a:tr h="1447591">
                <a:tc>
                  <a:txBody>
                    <a:bodyPr/>
                    <a:lstStyle/>
                    <a:p>
                      <a:r>
                        <a:rPr lang="en-GB" sz="2800" b="1"/>
                        <a:t>Dictionary ({})</a:t>
                      </a:r>
                      <a:endParaRPr lang="en-GB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Key-value pairs, fast lookup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800" dirty="0"/>
                        <a:t>User profiles, Configurations, JSON </a:t>
                      </a:r>
                      <a:r>
                        <a:rPr lang="fr-FR" sz="2800" dirty="0" err="1"/>
                        <a:t>responses</a:t>
                      </a:r>
                      <a:endParaRPr lang="fr-FR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9097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947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3615</Words>
  <Application>Microsoft Office PowerPoint</Application>
  <PresentationFormat>On-screen Show (4:3)</PresentationFormat>
  <Paragraphs>463</Paragraphs>
  <Slides>65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0" baseType="lpstr">
      <vt:lpstr>Arial</vt:lpstr>
      <vt:lpstr>Calibri</vt:lpstr>
      <vt:lpstr>Poppins</vt:lpstr>
      <vt:lpstr>Times New Roman</vt:lpstr>
      <vt:lpstr>Office Theme</vt:lpstr>
      <vt:lpstr>Python Programming</vt:lpstr>
      <vt:lpstr>Python Functions</vt:lpstr>
      <vt:lpstr>Built-in functions:</vt:lpstr>
      <vt:lpstr>User-defined functions:</vt:lpstr>
      <vt:lpstr>User-defined functions:</vt:lpstr>
      <vt:lpstr>Calling a function:</vt:lpstr>
      <vt:lpstr>Function Arguments</vt:lpstr>
      <vt:lpstr>Default arguments:</vt:lpstr>
      <vt:lpstr>Example:</vt:lpstr>
      <vt:lpstr>Keyword arguments:</vt:lpstr>
      <vt:lpstr>Example</vt:lpstr>
      <vt:lpstr>Required arguments</vt:lpstr>
      <vt:lpstr>Example</vt:lpstr>
      <vt:lpstr>Variable-length arguments:</vt:lpstr>
      <vt:lpstr>*args (Non-Keyword Variable-Length Arguments)</vt:lpstr>
      <vt:lpstr>**kwargs (Keyword Variable-Length Arguments)</vt:lpstr>
      <vt:lpstr>Example</vt:lpstr>
      <vt:lpstr>Combining *args and **kwargs</vt:lpstr>
      <vt:lpstr>return Statement</vt:lpstr>
      <vt:lpstr>Returning Multiple Values</vt:lpstr>
      <vt:lpstr>Example</vt:lpstr>
      <vt:lpstr>Early Exit from a Function</vt:lpstr>
      <vt:lpstr>Lists</vt:lpstr>
      <vt:lpstr>Example</vt:lpstr>
      <vt:lpstr>Lists with Mixed Data Types:</vt:lpstr>
      <vt:lpstr>Accessing Elements in a List</vt:lpstr>
      <vt:lpstr>Modifying Lists</vt:lpstr>
      <vt:lpstr>Adding Elements to a List</vt:lpstr>
      <vt:lpstr>Removing Elements from a List</vt:lpstr>
      <vt:lpstr>Example</vt:lpstr>
      <vt:lpstr>Looping Through a List</vt:lpstr>
      <vt:lpstr>Sorting and Reversing Lists</vt:lpstr>
      <vt:lpstr>Copying Lists</vt:lpstr>
      <vt:lpstr>Tuples in Python</vt:lpstr>
      <vt:lpstr>Example</vt:lpstr>
      <vt:lpstr>Tuple with Mixed Data Types</vt:lpstr>
      <vt:lpstr>Tuple with a Single Element (Add a comma ,)</vt:lpstr>
      <vt:lpstr>Accessing Tuple Elements</vt:lpstr>
      <vt:lpstr>Tuple Slicing</vt:lpstr>
      <vt:lpstr>Tuple Immutability</vt:lpstr>
      <vt:lpstr>Looping Through Tuples</vt:lpstr>
      <vt:lpstr>Checking if an Item Exists in a Tuple</vt:lpstr>
      <vt:lpstr>Tuple Concatenation and Repetition</vt:lpstr>
      <vt:lpstr>Tuple cont..</vt:lpstr>
      <vt:lpstr>Unpacking Tuples</vt:lpstr>
      <vt:lpstr>Converting Between Lists and Tuples</vt:lpstr>
      <vt:lpstr>Convert a list to a tuple</vt:lpstr>
      <vt:lpstr>count() Method</vt:lpstr>
      <vt:lpstr> Dictionaries</vt:lpstr>
      <vt:lpstr>Creating a Dictionary</vt:lpstr>
      <vt:lpstr>Accessing Dictionary items</vt:lpstr>
      <vt:lpstr>Accessing single values:</vt:lpstr>
      <vt:lpstr>Accessing single values:</vt:lpstr>
      <vt:lpstr>Accessing multiple values:</vt:lpstr>
      <vt:lpstr>Accessing keys:</vt:lpstr>
      <vt:lpstr>Accessing key-value pairs:</vt:lpstr>
      <vt:lpstr>Adding and Updating Dictionary Values</vt:lpstr>
      <vt:lpstr>Adding and Updating Dictionary Values</vt:lpstr>
      <vt:lpstr>Removing Elements from a Dictionary</vt:lpstr>
      <vt:lpstr>Example</vt:lpstr>
      <vt:lpstr>Example</vt:lpstr>
      <vt:lpstr>Example</vt:lpstr>
      <vt:lpstr>Looping Through a Dictionary</vt:lpstr>
      <vt:lpstr>Merging Dictionaries</vt:lpstr>
      <vt:lpstr>When to Use What?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Manahil Fatima</cp:lastModifiedBy>
  <cp:revision>40</cp:revision>
  <dcterms:created xsi:type="dcterms:W3CDTF">2013-01-27T09:14:16Z</dcterms:created>
  <dcterms:modified xsi:type="dcterms:W3CDTF">2025-03-09T07:57:10Z</dcterms:modified>
  <cp:category/>
</cp:coreProperties>
</file>
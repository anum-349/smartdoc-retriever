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318" r:id="rId2"/>
    <p:sldId id="319" r:id="rId3"/>
    <p:sldId id="320" r:id="rId4"/>
    <p:sldId id="324" r:id="rId5"/>
    <p:sldId id="321" r:id="rId6"/>
    <p:sldId id="322" r:id="rId7"/>
    <p:sldId id="323" r:id="rId8"/>
    <p:sldId id="325" r:id="rId9"/>
    <p:sldId id="326" r:id="rId10"/>
    <p:sldId id="330" r:id="rId11"/>
    <p:sldId id="331" r:id="rId12"/>
    <p:sldId id="327" r:id="rId13"/>
    <p:sldId id="328" r:id="rId14"/>
    <p:sldId id="329" r:id="rId15"/>
    <p:sldId id="332" r:id="rId16"/>
    <p:sldId id="333" r:id="rId17"/>
    <p:sldId id="334" r:id="rId18"/>
    <p:sldId id="335" r:id="rId19"/>
    <p:sldId id="336" r:id="rId20"/>
    <p:sldId id="338" r:id="rId21"/>
    <p:sldId id="337" r:id="rId22"/>
    <p:sldId id="339" r:id="rId23"/>
    <p:sldId id="340" r:id="rId24"/>
    <p:sldId id="341" r:id="rId25"/>
    <p:sldId id="342" r:id="rId26"/>
    <p:sldId id="343" r:id="rId27"/>
    <p:sldId id="344" r:id="rId28"/>
    <p:sldId id="345" r:id="rId29"/>
    <p:sldId id="346" r:id="rId30"/>
    <p:sldId id="347" r:id="rId31"/>
    <p:sldId id="348" r:id="rId32"/>
    <p:sldId id="349" r:id="rId33"/>
    <p:sldId id="354" r:id="rId34"/>
    <p:sldId id="350" r:id="rId35"/>
    <p:sldId id="355" r:id="rId36"/>
    <p:sldId id="356" r:id="rId37"/>
    <p:sldId id="357" r:id="rId38"/>
    <p:sldId id="359" r:id="rId39"/>
    <p:sldId id="358" r:id="rId40"/>
    <p:sldId id="360" r:id="rId41"/>
    <p:sldId id="361" r:id="rId42"/>
    <p:sldId id="351" r:id="rId43"/>
    <p:sldId id="362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70A1"/>
    <a:srgbClr val="F5C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72320" autoAdjust="0"/>
  </p:normalViewPr>
  <p:slideViewPr>
    <p:cSldViewPr snapToGrid="0" snapToObjects="1">
      <p:cViewPr varScale="1">
        <p:scale>
          <a:sx n="49" d="100"/>
          <a:sy n="49" d="100"/>
        </p:scale>
        <p:origin x="199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B62C84-2B26-478E-A24D-D7927436A9FA}" type="datetimeFigureOut">
              <a:rPr lang="en-AE" smtClean="0"/>
              <a:t>15/03/2025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0BBE9E-C29F-4FB2-AFDC-9BC42C25FCC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1041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Exception handling in Python allows us to </a:t>
            </a:r>
            <a:r>
              <a:rPr lang="en-GB" b="1" dirty="0"/>
              <a:t>gracefully handle runtime errors</a:t>
            </a:r>
            <a:r>
              <a:rPr lang="en-GB" dirty="0"/>
              <a:t> to prevent crashes and provide meaningful error messages.</a:t>
            </a:r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BBE9E-C29F-4FB2-AFDC-9BC42C25FCC0}" type="slidenum">
              <a:rPr lang="en-AE" smtClean="0"/>
              <a:t>3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54007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Enter an integer: 6.022</a:t>
            </a:r>
          </a:p>
          <a:p>
            <a:r>
              <a:rPr lang="en-GB" dirty="0"/>
              <a:t>Number entered is not an integer.</a:t>
            </a:r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BBE9E-C29F-4FB2-AFDC-9BC42C25FCC0}" type="slidenum">
              <a:rPr lang="en-AE" smtClean="0"/>
              <a:t>7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2725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Error: Cannot divide by zero!</a:t>
            </a:r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BBE9E-C29F-4FB2-AFDC-9BC42C25FCC0}" type="slidenum">
              <a:rPr lang="en-AE" smtClean="0"/>
              <a:t>8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771290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Case 1: User enters 0</a:t>
            </a:r>
          </a:p>
          <a:p>
            <a:r>
              <a:rPr lang="en-GB" dirty="0"/>
              <a:t>You cannot divide by zero!</a:t>
            </a:r>
          </a:p>
          <a:p>
            <a:r>
              <a:rPr lang="en-GB" b="1" dirty="0"/>
              <a:t>Case 2: User enters </a:t>
            </a:r>
            <a:r>
              <a:rPr lang="en-GB" b="1" dirty="0" err="1"/>
              <a:t>abc</a:t>
            </a:r>
            <a:endParaRPr lang="en-GB" b="1" dirty="0"/>
          </a:p>
          <a:p>
            <a:r>
              <a:rPr lang="en-GB" b="0" dirty="0"/>
              <a:t>Invalid input! Please enter a number.</a:t>
            </a:r>
          </a:p>
          <a:p>
            <a:endParaRPr lang="en-A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BBE9E-C29F-4FB2-AFDC-9BC42C25FCC0}" type="slidenum">
              <a:rPr lang="en-AE" smtClean="0"/>
              <a:t>9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281562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Useful for </a:t>
            </a:r>
            <a:r>
              <a:rPr lang="en-GB" b="1" dirty="0"/>
              <a:t>cleaning up resources</a:t>
            </a:r>
            <a:r>
              <a:rPr lang="en-GB" dirty="0"/>
              <a:t> like closing files or database connections.</a:t>
            </a:r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BBE9E-C29F-4FB2-AFDC-9BC42C25FCC0}" type="slidenum">
              <a:rPr lang="en-AE" smtClean="0"/>
              <a:t>12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025630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Enter an integer: 19</a:t>
            </a:r>
          </a:p>
          <a:p>
            <a:r>
              <a:rPr lang="en-GB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Integer Accepted.</a:t>
            </a:r>
          </a:p>
          <a:p>
            <a:r>
              <a:rPr lang="en-GB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This block is always executed.</a:t>
            </a:r>
          </a:p>
          <a:p>
            <a:endParaRPr lang="en-GB" b="0" i="0" dirty="0">
              <a:solidFill>
                <a:srgbClr val="1F1F1F"/>
              </a:solidFill>
              <a:effectLst/>
              <a:latin typeface="Courier New" panose="02070309020205020404" pitchFamily="49" charset="0"/>
            </a:endParaRPr>
          </a:p>
          <a:p>
            <a:endParaRPr lang="en-GB" b="0" i="0" dirty="0">
              <a:solidFill>
                <a:srgbClr val="1F1F1F"/>
              </a:solidFill>
              <a:effectLst/>
              <a:latin typeface="Courier New" panose="02070309020205020404" pitchFamily="49" charset="0"/>
            </a:endParaRPr>
          </a:p>
          <a:p>
            <a:r>
              <a:rPr lang="en-GB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Enter an integer: a </a:t>
            </a:r>
          </a:p>
          <a:p>
            <a:r>
              <a:rPr lang="en-GB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Number entered is not an integer.</a:t>
            </a:r>
          </a:p>
          <a:p>
            <a:r>
              <a:rPr lang="en-GB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This block is always executed.</a:t>
            </a:r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BBE9E-C29F-4FB2-AFDC-9BC42C25FCC0}" type="slidenum">
              <a:rPr lang="en-AE" smtClean="0"/>
              <a:t>14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813056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Traceback (most recent call last):</a:t>
            </a:r>
          </a:p>
          <a:p>
            <a:r>
              <a:rPr lang="en-GB" dirty="0"/>
              <a:t>  File "...", line 4, in &lt;module&gt;</a:t>
            </a:r>
          </a:p>
          <a:p>
            <a:r>
              <a:rPr lang="en-GB" dirty="0" err="1"/>
              <a:t>ValueError</a:t>
            </a:r>
            <a:r>
              <a:rPr lang="en-GB" dirty="0"/>
              <a:t>: You must be 18 or older to register!</a:t>
            </a:r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BBE9E-C29F-4FB2-AFDC-9BC42C25FCC0}" type="slidenum">
              <a:rPr lang="en-AE" smtClean="0"/>
              <a:t>16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750704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User enters -5</a:t>
            </a:r>
          </a:p>
          <a:p>
            <a:r>
              <a:rPr lang="en-GB" dirty="0"/>
              <a:t>Negative numbers are not allowed!</a:t>
            </a:r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BBE9E-C29F-4FB2-AFDC-9BC42C25FCC0}" type="slidenum">
              <a:rPr lang="en-AE" smtClean="0"/>
              <a:t>19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32827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Best for logs or saving historical data.</a:t>
            </a:r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BBE9E-C29F-4FB2-AFDC-9BC42C25FCC0}" type="slidenum">
              <a:rPr lang="en-AE" smtClean="0"/>
              <a:t>29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409715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BBE9E-C29F-4FB2-AFDC-9BC42C25FCC0}" type="slidenum">
              <a:rPr lang="en-AE" smtClean="0"/>
              <a:t>30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088919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AEADF-EB63-D919-AE06-055D53559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914BE6-95E2-13B0-6BB5-0726B18E47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22C856-A233-D54E-0145-9EC4955FFE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BCF0D-FC0E-5024-E72D-59D926E46E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BBE9E-C29F-4FB2-AFDC-9BC42C25FCC0}" type="slidenum">
              <a:rPr lang="en-AE" smtClean="0"/>
              <a:t>31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864727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B72A2-4A36-7F67-9AC6-E527CAED1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3CCD26-D321-D8EE-4AF8-30AAD4658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13E72E-0F64-4CE9-4AC0-B48401E6E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"status"</a:t>
            </a:r>
            <a:r>
              <a:rPr lang="en-GB" dirty="0"/>
              <a:t> or </a:t>
            </a:r>
            <a:r>
              <a:rPr lang="en-GB" b="1" dirty="0"/>
              <a:t>"stat structure"</a:t>
            </a:r>
            <a:r>
              <a:rPr lang="en-GB" dirty="0"/>
              <a:t>.</a:t>
            </a: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59EB9-8D6A-088D-EAED-F50F0063D0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BBE9E-C29F-4FB2-AFDC-9BC42C25FCC0}" type="slidenum">
              <a:rPr lang="en-AE" smtClean="0"/>
              <a:t>38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283368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value is returned as a </a:t>
            </a:r>
            <a:r>
              <a:rPr lang="en-GB" b="1" dirty="0"/>
              <a:t>timestamp</a:t>
            </a:r>
            <a:r>
              <a:rPr lang="en-GB" dirty="0"/>
              <a:t> (seconds since Jan 1, 1970, Unix Epoch).</a:t>
            </a:r>
          </a:p>
          <a:p>
            <a:r>
              <a:rPr lang="en-GB" dirty="0"/>
              <a:t>Last Modified: Mon Feb 19 14:30:12 2024</a:t>
            </a:r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BBE9E-C29F-4FB2-AFDC-9BC42C25FCC0}" type="slidenum">
              <a:rPr lang="en-AE" smtClean="0"/>
              <a:t>39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37005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750EB8-5EB5-0D33-7E47-B2E00DCE25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8654" y="231668"/>
            <a:ext cx="1769094" cy="225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0755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Python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Lecture 3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C49A3-18E8-E6AB-90D4-9E341AF6E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Exception Handling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85765-54EE-8746-17C1-C37F0C447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Exception </a:t>
            </a:r>
            <a:r>
              <a:rPr lang="en-GB" b="1" dirty="0"/>
              <a:t>handling</a:t>
            </a:r>
            <a:r>
              <a:rPr lang="en-GB" dirty="0"/>
              <a:t> is the process of responding to </a:t>
            </a:r>
            <a:r>
              <a:rPr lang="en-GB" b="1" dirty="0"/>
              <a:t>unwanted</a:t>
            </a:r>
            <a:r>
              <a:rPr lang="en-GB" dirty="0"/>
              <a:t> or </a:t>
            </a:r>
            <a:r>
              <a:rPr lang="en-GB" b="1" dirty="0"/>
              <a:t>unexpected events</a:t>
            </a:r>
            <a:r>
              <a:rPr lang="en-GB" dirty="0"/>
              <a:t> when a computer program </a:t>
            </a:r>
            <a:r>
              <a:rPr lang="en-GB" b="1" dirty="0"/>
              <a:t>runs.</a:t>
            </a:r>
          </a:p>
          <a:p>
            <a:pPr algn="just"/>
            <a:r>
              <a:rPr lang="en-GB" dirty="0"/>
              <a:t> Exception handling deals with these events to </a:t>
            </a:r>
            <a:r>
              <a:rPr lang="en-GB" b="1" dirty="0"/>
              <a:t>avoid</a:t>
            </a:r>
            <a:r>
              <a:rPr lang="en-GB" dirty="0"/>
              <a:t> the program or </a:t>
            </a:r>
            <a:r>
              <a:rPr lang="en-GB" b="1" dirty="0"/>
              <a:t>system crashing</a:t>
            </a:r>
            <a:r>
              <a:rPr lang="en-GB" dirty="0"/>
              <a:t>, and without this process, exceptions would disrupt the normal operation of a program.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969985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056FC-3A3B-8F5B-07BE-B8BB6BA4C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Exceptions in Python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498C8-E8AC-A35F-DBC2-F3D93CFA3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Python has many built-in exceptions that are raised when your program encounters an error (something in the program goes wrong).</a:t>
            </a:r>
          </a:p>
          <a:p>
            <a:pPr algn="just"/>
            <a:r>
              <a:rPr lang="en-GB" dirty="0"/>
              <a:t>When these exceptions occur, the Python interpreter stops the current process and passes it to the calling process until it is handled. If not handled, the program will crash.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808456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FAEAD-F585-B530-4F2D-0F7D59CA4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Exception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3F642-5E98-9136-5931-EBD97E3A8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An exception is an error that occurs during execution. </a:t>
            </a:r>
          </a:p>
          <a:p>
            <a:r>
              <a:rPr lang="en-GB" dirty="0"/>
              <a:t>Examples:</a:t>
            </a:r>
          </a:p>
          <a:p>
            <a:pPr lvl="1"/>
            <a:r>
              <a:rPr lang="en-GB" dirty="0" err="1"/>
              <a:t>ZeroDivisionError</a:t>
            </a:r>
            <a:r>
              <a:rPr lang="en-GB" dirty="0"/>
              <a:t> → Division by zero</a:t>
            </a:r>
          </a:p>
          <a:p>
            <a:pPr lvl="1"/>
            <a:r>
              <a:rPr lang="en-GB" dirty="0" err="1"/>
              <a:t>ValueError</a:t>
            </a:r>
            <a:r>
              <a:rPr lang="en-GB" dirty="0"/>
              <a:t> → Invalid input conversion</a:t>
            </a:r>
          </a:p>
          <a:p>
            <a:pPr lvl="1"/>
            <a:r>
              <a:rPr lang="en-GB" dirty="0" err="1"/>
              <a:t>FileNotFoundError</a:t>
            </a:r>
            <a:r>
              <a:rPr lang="en-GB" dirty="0"/>
              <a:t> → Missing file</a:t>
            </a:r>
          </a:p>
          <a:p>
            <a:pPr lvl="1"/>
            <a:r>
              <a:rPr lang="en-GB" dirty="0" err="1"/>
              <a:t>TypeError</a:t>
            </a:r>
            <a:r>
              <a:rPr lang="en-GB" dirty="0"/>
              <a:t>	 → When an operation is performed on incompatible data types.</a:t>
            </a:r>
          </a:p>
          <a:p>
            <a:pPr lvl="1"/>
            <a:r>
              <a:rPr lang="en-GB" dirty="0" err="1"/>
              <a:t>IndexError</a:t>
            </a:r>
            <a:r>
              <a:rPr lang="en-GB" dirty="0"/>
              <a:t> → 	When trying to access an invalid index in a list.</a:t>
            </a:r>
          </a:p>
          <a:p>
            <a:pPr lvl="1"/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993868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5C44F-1C49-C40A-B720-0AD6B6A9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Python try...except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EF0E9-C368-462A-0283-FD2894CBF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try….. except blocks are used in python to handle errors and exceptions. </a:t>
            </a:r>
          </a:p>
          <a:p>
            <a:pPr algn="just"/>
            <a:r>
              <a:rPr lang="en-GB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The code in try block runs when there is no error. If the try block catches the error, then the except block is executed.</a:t>
            </a:r>
          </a:p>
        </p:txBody>
      </p:sp>
    </p:spTree>
    <p:extLst>
      <p:ext uri="{BB962C8B-B14F-4D97-AF65-F5344CB8AC3E}">
        <p14:creationId xmlns:p14="http://schemas.microsoft.com/office/powerpoint/2010/main" val="655482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FC8D3-4EA0-EBC2-826E-18E8E199D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try...except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18386-E381-A745-C090-86049DD61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i="0" dirty="0">
                <a:effectLst/>
                <a:latin typeface="Poppins" panose="00000500000000000000" pitchFamily="2" charset="0"/>
              </a:rPr>
              <a:t>Syntax:</a:t>
            </a:r>
          </a:p>
          <a:p>
            <a:pPr marL="400050" lvl="1" indent="0">
              <a:buNone/>
            </a:pPr>
            <a:r>
              <a:rPr lang="en-GB" sz="3200" dirty="0"/>
              <a:t>try:</a:t>
            </a:r>
          </a:p>
          <a:p>
            <a:pPr marL="400050" lvl="1" indent="0">
              <a:buNone/>
            </a:pPr>
            <a:r>
              <a:rPr lang="en-GB" sz="3200" dirty="0"/>
              <a:t>     #statements which could generate </a:t>
            </a:r>
          </a:p>
          <a:p>
            <a:pPr marL="400050" lvl="1" indent="0">
              <a:buNone/>
            </a:pPr>
            <a:r>
              <a:rPr lang="en-GB" sz="3200" dirty="0"/>
              <a:t>     #exception</a:t>
            </a:r>
          </a:p>
          <a:p>
            <a:pPr marL="400050" lvl="1" indent="0">
              <a:buNone/>
            </a:pPr>
            <a:r>
              <a:rPr lang="en-GB" sz="3200" dirty="0"/>
              <a:t>except:</a:t>
            </a:r>
          </a:p>
          <a:p>
            <a:pPr marL="400050" lvl="1" indent="0">
              <a:buNone/>
            </a:pPr>
            <a:r>
              <a:rPr lang="en-GB" sz="3200" dirty="0"/>
              <a:t>     #Soloution of generated exception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96189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D8E4F-DF9D-27C6-A8D8-C5F9F43AF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5D24E-7DB7-9846-3446-6105C1D2D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try: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num</a:t>
            </a:r>
            <a:r>
              <a:rPr lang="en-GB" dirty="0"/>
              <a:t> = int(input("Enter an integer: "))</a:t>
            </a:r>
          </a:p>
          <a:p>
            <a:pPr marL="0" indent="0">
              <a:buNone/>
            </a:pPr>
            <a:r>
              <a:rPr lang="en-GB" dirty="0"/>
              <a:t>except </a:t>
            </a:r>
            <a:r>
              <a:rPr lang="en-GB" dirty="0" err="1"/>
              <a:t>ValueError</a:t>
            </a:r>
            <a:r>
              <a:rPr lang="en-GB" dirty="0"/>
              <a:t>:</a:t>
            </a:r>
          </a:p>
          <a:p>
            <a:pPr marL="0" indent="0">
              <a:buNone/>
            </a:pPr>
            <a:r>
              <a:rPr lang="en-GB" dirty="0"/>
              <a:t>    print("Number entered is not an integer.")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643180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7B7CA-A149-AD8B-7E79-600DEF7BA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BAE98-6F17-7B3B-5127-C9847A90C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try:</a:t>
            </a:r>
          </a:p>
          <a:p>
            <a:pPr marL="0" indent="0">
              <a:buNone/>
            </a:pPr>
            <a:r>
              <a:rPr lang="en-GB" dirty="0"/>
              <a:t>    x = 10 / 0  # Division by zero error</a:t>
            </a:r>
          </a:p>
          <a:p>
            <a:pPr marL="0" indent="0">
              <a:buNone/>
            </a:pPr>
            <a:r>
              <a:rPr lang="en-GB" dirty="0"/>
              <a:t>except </a:t>
            </a:r>
            <a:r>
              <a:rPr lang="en-GB" dirty="0" err="1"/>
              <a:t>ZeroDivisionError</a:t>
            </a:r>
            <a:r>
              <a:rPr lang="en-GB" dirty="0"/>
              <a:t>:</a:t>
            </a:r>
          </a:p>
          <a:p>
            <a:pPr marL="0" indent="0">
              <a:buNone/>
            </a:pPr>
            <a:r>
              <a:rPr lang="en-GB" dirty="0"/>
              <a:t>    print("Error: Cannot divide by zero!")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855245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BDAA2-95C2-2780-3F95-8BB0712D9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Handling Multiple Exceptions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35064-644F-6EAB-179F-CB5BA43F1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Use multiple except blocks to handle different types of errors.</a:t>
            </a:r>
          </a:p>
          <a:p>
            <a:r>
              <a:rPr lang="en-GB" dirty="0"/>
              <a:t>Example:</a:t>
            </a:r>
          </a:p>
          <a:p>
            <a:pPr marL="400050" lvl="1" indent="0">
              <a:buNone/>
            </a:pPr>
            <a:r>
              <a:rPr lang="en-GB" sz="3600" dirty="0"/>
              <a:t>try:</a:t>
            </a:r>
          </a:p>
          <a:p>
            <a:pPr marL="400050" lvl="1" indent="0">
              <a:buNone/>
            </a:pPr>
            <a:r>
              <a:rPr lang="en-GB" sz="3600" dirty="0"/>
              <a:t>    </a:t>
            </a:r>
            <a:r>
              <a:rPr lang="en-GB" sz="3600" dirty="0" err="1"/>
              <a:t>num</a:t>
            </a:r>
            <a:r>
              <a:rPr lang="en-GB" sz="3600" dirty="0"/>
              <a:t> = int(input("Enter a number: "))</a:t>
            </a:r>
          </a:p>
          <a:p>
            <a:pPr marL="400050" lvl="1" indent="0">
              <a:buNone/>
            </a:pPr>
            <a:r>
              <a:rPr lang="en-GB" sz="3600" dirty="0"/>
              <a:t>    result = 10 / </a:t>
            </a:r>
            <a:r>
              <a:rPr lang="en-GB" sz="3600" dirty="0" err="1"/>
              <a:t>num</a:t>
            </a:r>
            <a:endParaRPr lang="en-GB" sz="3600" dirty="0"/>
          </a:p>
          <a:p>
            <a:pPr marL="400050" lvl="1" indent="0">
              <a:buNone/>
            </a:pPr>
            <a:r>
              <a:rPr lang="en-GB" sz="3600" dirty="0"/>
              <a:t>except </a:t>
            </a:r>
            <a:r>
              <a:rPr lang="en-GB" sz="3600" dirty="0" err="1"/>
              <a:t>ZeroDivisionError</a:t>
            </a:r>
            <a:r>
              <a:rPr lang="en-GB" sz="3600" dirty="0"/>
              <a:t>:</a:t>
            </a:r>
          </a:p>
          <a:p>
            <a:pPr marL="400050" lvl="1" indent="0">
              <a:buNone/>
            </a:pPr>
            <a:r>
              <a:rPr lang="en-GB" sz="3600" dirty="0"/>
              <a:t>    print("You cannot divide by zero!")</a:t>
            </a:r>
          </a:p>
          <a:p>
            <a:pPr marL="400050" lvl="1" indent="0">
              <a:buNone/>
            </a:pPr>
            <a:r>
              <a:rPr lang="en-GB" sz="3600" dirty="0"/>
              <a:t>except </a:t>
            </a:r>
            <a:r>
              <a:rPr lang="en-GB" sz="3600" dirty="0" err="1"/>
              <a:t>ValueError</a:t>
            </a:r>
            <a:r>
              <a:rPr lang="en-GB" sz="3600" dirty="0"/>
              <a:t>:</a:t>
            </a:r>
          </a:p>
          <a:p>
            <a:pPr marL="400050" lvl="1" indent="0">
              <a:buNone/>
            </a:pPr>
            <a:r>
              <a:rPr lang="en-GB" sz="3600" dirty="0"/>
              <a:t>    print("Invalid input! Please enter a number.")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522995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66B67-43ED-B142-5AA8-AB0461F70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Catching Any Exception Using except Exception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DF904-ECA0-7E8F-929F-3DD1EDCF2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The Exception class is the parent of all exceptions.</a:t>
            </a:r>
          </a:p>
          <a:p>
            <a:r>
              <a:rPr lang="en-GB" dirty="0"/>
              <a:t>It catches any error, making debugging easier.</a:t>
            </a:r>
          </a:p>
          <a:p>
            <a:r>
              <a:rPr lang="en-GB" dirty="0"/>
              <a:t>Example</a:t>
            </a:r>
          </a:p>
          <a:p>
            <a:pPr marL="400050" lvl="1" indent="0">
              <a:buNone/>
            </a:pPr>
            <a:r>
              <a:rPr lang="en-GB" sz="3200" dirty="0"/>
              <a:t>try:</a:t>
            </a:r>
          </a:p>
          <a:p>
            <a:pPr marL="400050" lvl="1" indent="0">
              <a:buNone/>
            </a:pPr>
            <a:r>
              <a:rPr lang="en-GB" sz="3200" dirty="0"/>
              <a:t>    x = int("hello")  # Will cause </a:t>
            </a:r>
            <a:r>
              <a:rPr lang="en-GB" sz="3200" dirty="0" err="1"/>
              <a:t>ValueError</a:t>
            </a:r>
            <a:endParaRPr lang="en-GB" sz="3200" dirty="0"/>
          </a:p>
          <a:p>
            <a:pPr marL="400050" lvl="1" indent="0">
              <a:buNone/>
            </a:pPr>
            <a:r>
              <a:rPr lang="en-GB" sz="3200" dirty="0"/>
              <a:t>except Exception as e:</a:t>
            </a:r>
          </a:p>
          <a:p>
            <a:pPr marL="400050" lvl="1" indent="0">
              <a:buNone/>
            </a:pPr>
            <a:r>
              <a:rPr lang="en-GB" sz="3200" dirty="0"/>
              <a:t>    print(</a:t>
            </a:r>
            <a:r>
              <a:rPr lang="en-GB" sz="3200" dirty="0" err="1"/>
              <a:t>f"An</a:t>
            </a:r>
            <a:r>
              <a:rPr lang="en-GB" sz="3200" dirty="0"/>
              <a:t> error occurred: {e}")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72885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5162C-00B0-AA10-790B-1868AE595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else with try-except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B607D-F3B0-A20C-4087-4DBF0C9AB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The else block executes only if no exception occurs.</a:t>
            </a:r>
          </a:p>
          <a:p>
            <a:r>
              <a:rPr lang="en-AE" dirty="0"/>
              <a:t>Example:</a:t>
            </a:r>
          </a:p>
          <a:p>
            <a:pPr marL="400050" lvl="1" indent="0">
              <a:buNone/>
            </a:pPr>
            <a:r>
              <a:rPr lang="en-GB" dirty="0"/>
              <a:t>try:</a:t>
            </a:r>
          </a:p>
          <a:p>
            <a:pPr marL="400050" lvl="1" indent="0">
              <a:buNone/>
            </a:pPr>
            <a:r>
              <a:rPr lang="en-GB" dirty="0"/>
              <a:t>    </a:t>
            </a:r>
            <a:r>
              <a:rPr lang="en-GB" dirty="0" err="1"/>
              <a:t>num</a:t>
            </a:r>
            <a:r>
              <a:rPr lang="en-GB" dirty="0"/>
              <a:t> = int(input("Enter a number: "))  # May raise </a:t>
            </a:r>
            <a:r>
              <a:rPr lang="en-GB" dirty="0" err="1"/>
              <a:t>ValueError</a:t>
            </a:r>
            <a:endParaRPr lang="en-GB" dirty="0"/>
          </a:p>
          <a:p>
            <a:pPr marL="400050" lvl="1" indent="0">
              <a:buNone/>
            </a:pPr>
            <a:r>
              <a:rPr lang="en-GB" dirty="0"/>
              <a:t>    result = 10 / </a:t>
            </a:r>
            <a:r>
              <a:rPr lang="en-GB" dirty="0" err="1"/>
              <a:t>num</a:t>
            </a:r>
            <a:r>
              <a:rPr lang="en-GB" dirty="0"/>
              <a:t>  # May raise </a:t>
            </a:r>
            <a:r>
              <a:rPr lang="en-GB" dirty="0" err="1"/>
              <a:t>ZeroDivisionError</a:t>
            </a:r>
            <a:endParaRPr lang="en-GB" dirty="0"/>
          </a:p>
          <a:p>
            <a:pPr marL="400050" lvl="1" indent="0">
              <a:buNone/>
            </a:pPr>
            <a:r>
              <a:rPr lang="en-GB" dirty="0"/>
              <a:t>except </a:t>
            </a:r>
            <a:r>
              <a:rPr lang="en-GB" dirty="0" err="1"/>
              <a:t>ZeroDivisionError</a:t>
            </a:r>
            <a:r>
              <a:rPr lang="en-GB" dirty="0"/>
              <a:t>:</a:t>
            </a:r>
          </a:p>
          <a:p>
            <a:pPr marL="400050" lvl="1" indent="0">
              <a:buNone/>
            </a:pPr>
            <a:r>
              <a:rPr lang="en-GB" dirty="0"/>
              <a:t>    print("Cannot divide by zero!")</a:t>
            </a:r>
          </a:p>
          <a:p>
            <a:pPr marL="400050" lvl="1" indent="0">
              <a:buNone/>
            </a:pPr>
            <a:r>
              <a:rPr lang="en-GB" dirty="0"/>
              <a:t>except </a:t>
            </a:r>
            <a:r>
              <a:rPr lang="en-GB" dirty="0" err="1"/>
              <a:t>ValueError</a:t>
            </a:r>
            <a:r>
              <a:rPr lang="en-GB" dirty="0"/>
              <a:t>:</a:t>
            </a:r>
          </a:p>
          <a:p>
            <a:pPr marL="400050" lvl="1" indent="0">
              <a:buNone/>
            </a:pPr>
            <a:r>
              <a:rPr lang="en-GB" dirty="0"/>
              <a:t>    print("Invalid input!")</a:t>
            </a:r>
          </a:p>
          <a:p>
            <a:pPr marL="400050" lvl="1" indent="0">
              <a:buNone/>
            </a:pPr>
            <a:r>
              <a:rPr lang="en-GB" dirty="0"/>
              <a:t>else:</a:t>
            </a:r>
          </a:p>
          <a:p>
            <a:pPr marL="400050" lvl="1" indent="0">
              <a:buNone/>
            </a:pPr>
            <a:r>
              <a:rPr lang="en-GB" dirty="0"/>
              <a:t>    print(</a:t>
            </a:r>
            <a:r>
              <a:rPr lang="en-GB" dirty="0" err="1"/>
              <a:t>f"Division</a:t>
            </a:r>
            <a:r>
              <a:rPr lang="en-GB" dirty="0"/>
              <a:t> successful! Result: {result}")</a:t>
            </a:r>
          </a:p>
          <a:p>
            <a:pPr marL="400050" lvl="1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576696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4C4A-0796-5FB1-6C98-8B444900C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Finally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DF4EC-C00D-9A97-7AEC-BA418DCDE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GB" dirty="0"/>
              <a:t>The finally code block is also a part of exception handling. When we handle exception using the try and except block, we can include a finally block at the end. </a:t>
            </a:r>
          </a:p>
          <a:p>
            <a:pPr algn="just"/>
            <a:r>
              <a:rPr lang="en-GB" dirty="0"/>
              <a:t>The finally block is always executed. </a:t>
            </a:r>
          </a:p>
          <a:p>
            <a:pPr algn="just"/>
            <a:r>
              <a:rPr lang="en-GB" dirty="0"/>
              <a:t>It is generally used for doing the concluding tasks like closing file resources or closing database connection or may be ending the program execution with a delightful message.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615578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2B244-947B-A4E3-3AE0-336BD6FCC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i="0" dirty="0">
                <a:effectLst/>
              </a:rPr>
              <a:t>Finally Block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EFDFB-7F40-566A-7FEC-E54EE4396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Syntax:</a:t>
            </a:r>
          </a:p>
          <a:p>
            <a:pPr marL="457200" lvl="1" indent="0">
              <a:buNone/>
            </a:pPr>
            <a:r>
              <a:rPr lang="en-GB" dirty="0"/>
              <a:t>try:</a:t>
            </a:r>
          </a:p>
          <a:p>
            <a:pPr marL="457200" lvl="1" indent="0">
              <a:buNone/>
            </a:pPr>
            <a:r>
              <a:rPr lang="en-GB" dirty="0"/>
              <a:t>   #statements which could generate </a:t>
            </a:r>
          </a:p>
          <a:p>
            <a:pPr marL="457200" lvl="1" indent="0">
              <a:buNone/>
            </a:pPr>
            <a:r>
              <a:rPr lang="en-GB" dirty="0"/>
              <a:t>   #exception</a:t>
            </a:r>
          </a:p>
          <a:p>
            <a:pPr marL="457200" lvl="1" indent="0">
              <a:buNone/>
            </a:pPr>
            <a:r>
              <a:rPr lang="en-GB" dirty="0"/>
              <a:t>except:</a:t>
            </a:r>
          </a:p>
          <a:p>
            <a:pPr marL="457200" lvl="1" indent="0">
              <a:buNone/>
            </a:pPr>
            <a:r>
              <a:rPr lang="en-GB" dirty="0"/>
              <a:t>   #solution of generated exception</a:t>
            </a:r>
          </a:p>
          <a:p>
            <a:pPr marL="457200" lvl="1" indent="0">
              <a:buNone/>
            </a:pPr>
            <a:r>
              <a:rPr lang="en-GB" dirty="0"/>
              <a:t>finally:</a:t>
            </a:r>
          </a:p>
          <a:p>
            <a:pPr marL="457200" lvl="1" indent="0">
              <a:buNone/>
            </a:pPr>
            <a:r>
              <a:rPr lang="en-GB" dirty="0"/>
              <a:t>    #block of code which is going to </a:t>
            </a:r>
          </a:p>
          <a:p>
            <a:pPr marL="457200" lvl="1" indent="0">
              <a:buNone/>
            </a:pPr>
            <a:r>
              <a:rPr lang="en-GB" dirty="0"/>
              <a:t>    #execute in any situation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826791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5F21D-6C54-9003-9FA6-F52C55F48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14483-2DA6-FEE7-9FB0-920EA773B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0050" lvl="1" indent="0">
              <a:buNone/>
            </a:pPr>
            <a:r>
              <a:rPr lang="en-GB" dirty="0"/>
              <a:t>try:</a:t>
            </a:r>
          </a:p>
          <a:p>
            <a:pPr marL="400050" lvl="1" indent="0">
              <a:buNone/>
            </a:pPr>
            <a:r>
              <a:rPr lang="en-GB" dirty="0"/>
              <a:t>    </a:t>
            </a:r>
            <a:r>
              <a:rPr lang="en-GB" dirty="0" err="1"/>
              <a:t>num</a:t>
            </a:r>
            <a:r>
              <a:rPr lang="en-GB" dirty="0"/>
              <a:t> = int(input("Enter an integer: "))</a:t>
            </a:r>
          </a:p>
          <a:p>
            <a:pPr marL="400050" lvl="1" indent="0">
              <a:buNone/>
            </a:pPr>
            <a:r>
              <a:rPr lang="en-GB" dirty="0"/>
              <a:t>except </a:t>
            </a:r>
            <a:r>
              <a:rPr lang="en-GB" dirty="0" err="1"/>
              <a:t>ValueError</a:t>
            </a:r>
            <a:r>
              <a:rPr lang="en-GB" dirty="0"/>
              <a:t>:</a:t>
            </a:r>
          </a:p>
          <a:p>
            <a:pPr marL="400050" lvl="1" indent="0">
              <a:buNone/>
            </a:pPr>
            <a:r>
              <a:rPr lang="en-GB" dirty="0"/>
              <a:t>    print("Number entered is not an integer.")</a:t>
            </a:r>
          </a:p>
          <a:p>
            <a:pPr marL="400050" lvl="1" indent="0">
              <a:buNone/>
            </a:pPr>
            <a:r>
              <a:rPr lang="en-GB" dirty="0"/>
              <a:t>else:</a:t>
            </a:r>
          </a:p>
          <a:p>
            <a:pPr marL="400050" lvl="1" indent="0">
              <a:buNone/>
            </a:pPr>
            <a:r>
              <a:rPr lang="en-GB" dirty="0"/>
              <a:t>    print("Integer Accepted.")</a:t>
            </a:r>
          </a:p>
          <a:p>
            <a:pPr marL="400050" lvl="1" indent="0">
              <a:buNone/>
            </a:pPr>
            <a:r>
              <a:rPr lang="en-GB" dirty="0"/>
              <a:t>finally:</a:t>
            </a:r>
          </a:p>
          <a:p>
            <a:pPr marL="400050" lvl="1" indent="0">
              <a:buNone/>
            </a:pPr>
            <a:r>
              <a:rPr lang="en-GB" dirty="0"/>
              <a:t>    print("This block is always executed.")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792160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86315-3FC0-AD81-E9AA-544ECD005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Raising Custom errors Using raise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9D175-7F15-6C22-7983-CFA6911FD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python, we can raise custom errors by using the raise keyword.</a:t>
            </a:r>
          </a:p>
          <a:p>
            <a:r>
              <a:rPr lang="en-GB" dirty="0"/>
              <a:t>raise allows us to manually trigger exceptions when a condition is met.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212053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E9F59-39D1-208D-AE29-F01193367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426B1-CDDC-EE10-920E-FE19682A4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0050" lvl="1" indent="0">
              <a:buNone/>
            </a:pPr>
            <a:r>
              <a:rPr lang="en-GB" dirty="0"/>
              <a:t>age = int(input("Enter your age: "))</a:t>
            </a:r>
          </a:p>
          <a:p>
            <a:pPr marL="400050" lvl="1" indent="0">
              <a:buNone/>
            </a:pPr>
            <a:endParaRPr lang="en-GB" dirty="0"/>
          </a:p>
          <a:p>
            <a:pPr marL="400050" lvl="1" indent="0">
              <a:buNone/>
            </a:pPr>
            <a:r>
              <a:rPr lang="en-GB" dirty="0"/>
              <a:t>if age &lt; 18:</a:t>
            </a:r>
          </a:p>
          <a:p>
            <a:pPr marL="400050" lvl="1" indent="0">
              <a:buNone/>
            </a:pPr>
            <a:r>
              <a:rPr lang="en-GB" dirty="0"/>
              <a:t>    raise </a:t>
            </a:r>
            <a:r>
              <a:rPr lang="en-GB" dirty="0" err="1"/>
              <a:t>ValueError</a:t>
            </a:r>
            <a:r>
              <a:rPr lang="en-GB" dirty="0"/>
              <a:t>("You must be 18 or older to register!")</a:t>
            </a:r>
          </a:p>
          <a:p>
            <a:pPr marL="400050" lvl="1" indent="0">
              <a:buNone/>
            </a:pPr>
            <a:endParaRPr lang="en-GB" dirty="0"/>
          </a:p>
          <a:p>
            <a:pPr marL="400050" lvl="1" indent="0">
              <a:buNone/>
            </a:pPr>
            <a:r>
              <a:rPr lang="en-GB" dirty="0"/>
              <a:t>print("Registration successful.")</a:t>
            </a:r>
          </a:p>
          <a:p>
            <a:pPr marL="400050" lvl="1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420191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A15E5-BBE5-292A-30A8-6B0F6988D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Custom Exception Classes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C2D30-51C2-9C8B-72E5-49296A24F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In Python, we can define custom exceptions by creating a new class that is derived from the built-in Exception class.</a:t>
            </a:r>
          </a:p>
          <a:p>
            <a:pPr algn="just"/>
            <a:r>
              <a:rPr lang="en-GB" dirty="0"/>
              <a:t>This is useful because sometimes we might want to do something when a particular exception is raised. For example, sending an error report to the admin, calling an </a:t>
            </a:r>
            <a:r>
              <a:rPr lang="en-GB" dirty="0" err="1"/>
              <a:t>api</a:t>
            </a:r>
            <a:r>
              <a:rPr lang="en-GB" dirty="0"/>
              <a:t>, etc.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813847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98E07-FD54-A207-FDF7-C2AEA4777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syntax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9CB3E-383F-B41B-525D-37BEE6F7D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CustomError</a:t>
            </a:r>
            <a:r>
              <a:rPr lang="en-GB" dirty="0"/>
              <a:t>(Exception):</a:t>
            </a:r>
          </a:p>
          <a:p>
            <a:pPr marL="0" indent="0">
              <a:buNone/>
            </a:pPr>
            <a:r>
              <a:rPr lang="en-GB" dirty="0"/>
              <a:t>  # code ...</a:t>
            </a:r>
          </a:p>
          <a:p>
            <a:pPr marL="0" indent="0">
              <a:buNone/>
            </a:pPr>
            <a:r>
              <a:rPr lang="en-GB" dirty="0"/>
              <a:t>  pass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try:</a:t>
            </a:r>
          </a:p>
          <a:p>
            <a:pPr marL="0" indent="0">
              <a:buNone/>
            </a:pPr>
            <a:r>
              <a:rPr lang="en-GB" dirty="0"/>
              <a:t>  # code ...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except </a:t>
            </a:r>
            <a:r>
              <a:rPr lang="en-GB" dirty="0" err="1"/>
              <a:t>CustomError</a:t>
            </a:r>
            <a:r>
              <a:rPr lang="en-GB" dirty="0"/>
              <a:t>:</a:t>
            </a:r>
          </a:p>
          <a:p>
            <a:pPr marL="0" indent="0">
              <a:buNone/>
            </a:pPr>
            <a:r>
              <a:rPr lang="en-GB" dirty="0"/>
              <a:t>  # code...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283387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81126-1B40-E5F7-3C28-CD6228B6A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96D02-5AF1-C23C-DC59-C25C90F3E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00050" lvl="1" indent="0">
              <a:buNone/>
            </a:pPr>
            <a:r>
              <a:rPr lang="en-GB" dirty="0"/>
              <a:t>class </a:t>
            </a:r>
            <a:r>
              <a:rPr lang="en-GB" dirty="0" err="1"/>
              <a:t>NegativeNumberError</a:t>
            </a:r>
            <a:r>
              <a:rPr lang="en-GB" dirty="0"/>
              <a:t>(Exception):</a:t>
            </a:r>
          </a:p>
          <a:p>
            <a:pPr marL="400050" lvl="1" indent="0">
              <a:buNone/>
            </a:pPr>
            <a:r>
              <a:rPr lang="en-GB" dirty="0"/>
              <a:t>    pass</a:t>
            </a:r>
          </a:p>
          <a:p>
            <a:pPr marL="400050" lvl="1" indent="0">
              <a:buNone/>
            </a:pPr>
            <a:endParaRPr lang="en-GB" dirty="0"/>
          </a:p>
          <a:p>
            <a:pPr marL="400050" lvl="1" indent="0">
              <a:buNone/>
            </a:pPr>
            <a:r>
              <a:rPr lang="en-GB" dirty="0"/>
              <a:t>try:</a:t>
            </a:r>
          </a:p>
          <a:p>
            <a:pPr marL="400050" lvl="1" indent="0">
              <a:buNone/>
            </a:pPr>
            <a:r>
              <a:rPr lang="en-GB" dirty="0"/>
              <a:t>    </a:t>
            </a:r>
            <a:r>
              <a:rPr lang="en-GB" dirty="0" err="1"/>
              <a:t>num</a:t>
            </a:r>
            <a:r>
              <a:rPr lang="en-GB" dirty="0"/>
              <a:t> = int(input("Enter a positive number: "))</a:t>
            </a:r>
          </a:p>
          <a:p>
            <a:pPr marL="400050" lvl="1" indent="0">
              <a:buNone/>
            </a:pPr>
            <a:r>
              <a:rPr lang="en-GB" dirty="0"/>
              <a:t>    if </a:t>
            </a:r>
            <a:r>
              <a:rPr lang="en-GB" dirty="0" err="1"/>
              <a:t>num</a:t>
            </a:r>
            <a:r>
              <a:rPr lang="en-GB" dirty="0"/>
              <a:t> &lt; 0:</a:t>
            </a:r>
          </a:p>
          <a:p>
            <a:pPr marL="400050" lvl="1" indent="0">
              <a:buNone/>
            </a:pPr>
            <a:r>
              <a:rPr lang="en-GB" dirty="0"/>
              <a:t>        raise </a:t>
            </a:r>
            <a:r>
              <a:rPr lang="en-GB" dirty="0" err="1"/>
              <a:t>NegativeNumberError</a:t>
            </a:r>
            <a:r>
              <a:rPr lang="en-GB" dirty="0"/>
              <a:t>("Negative numbers are not allowed!")</a:t>
            </a:r>
          </a:p>
          <a:p>
            <a:pPr marL="400050" lvl="1" indent="0">
              <a:buNone/>
            </a:pPr>
            <a:r>
              <a:rPr lang="en-GB" dirty="0"/>
              <a:t>except </a:t>
            </a:r>
            <a:r>
              <a:rPr lang="en-GB" dirty="0" err="1"/>
              <a:t>NegativeNumberError</a:t>
            </a:r>
            <a:r>
              <a:rPr lang="en-GB" dirty="0"/>
              <a:t> as e:</a:t>
            </a:r>
          </a:p>
          <a:p>
            <a:pPr marL="400050" lvl="1" indent="0">
              <a:buNone/>
            </a:pPr>
            <a:r>
              <a:rPr lang="en-GB" dirty="0"/>
              <a:t>    print(e)</a:t>
            </a:r>
          </a:p>
          <a:p>
            <a:pPr marL="400050" lvl="1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108454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9FEE3-279E-6BE1-2CC6-BAA4905A09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Lab Activity 1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8213870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6E6D8-4226-97B6-5586-CC1D6411C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File Handling in Python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A4040-5CBF-223B-E1B7-8F066710E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GB" dirty="0"/>
              <a:t>File handling in Python allows us to work with </a:t>
            </a:r>
            <a:r>
              <a:rPr lang="en-GB" b="1" dirty="0"/>
              <a:t>files</a:t>
            </a:r>
            <a:r>
              <a:rPr lang="en-GB" dirty="0"/>
              <a:t> (reading, writing, and manipulating data) stored on a computer.</a:t>
            </a:r>
          </a:p>
          <a:p>
            <a:pPr algn="just"/>
            <a:r>
              <a:rPr lang="en-GB" dirty="0"/>
              <a:t>Why File Handling?</a:t>
            </a:r>
          </a:p>
          <a:p>
            <a:pPr lvl="1" algn="just"/>
            <a:r>
              <a:rPr lang="en-GB" sz="3200" dirty="0"/>
              <a:t>Saves data permanently instead of temporary variables.</a:t>
            </a:r>
          </a:p>
          <a:p>
            <a:pPr lvl="1" algn="just"/>
            <a:r>
              <a:rPr lang="en-GB" sz="3200" dirty="0"/>
              <a:t>Allows data retrieval and modification at any time.</a:t>
            </a:r>
          </a:p>
          <a:p>
            <a:pPr lvl="1" algn="just"/>
            <a:r>
              <a:rPr lang="en-GB" sz="3200" dirty="0"/>
              <a:t>Helps with tasks like data logging, storing configurations, and processing large files.</a:t>
            </a:r>
            <a:endParaRPr lang="en-AE" sz="3200" dirty="0"/>
          </a:p>
        </p:txBody>
      </p:sp>
    </p:spTree>
    <p:extLst>
      <p:ext uri="{BB962C8B-B14F-4D97-AF65-F5344CB8AC3E}">
        <p14:creationId xmlns:p14="http://schemas.microsoft.com/office/powerpoint/2010/main" val="33450932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9FC7B-71B4-C47C-9B5C-B5C0E6B79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Python’s open() Function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9AED7-43AB-4939-8B33-D0433F786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work with a file, we first open it using the open() function: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The mode specifies how the file should be accessed (read/write/etc.).</a:t>
            </a:r>
            <a:endParaRPr lang="en-AE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619B81E-CDA1-F81B-CF49-D7916D36409C}"/>
              </a:ext>
            </a:extLst>
          </p:cNvPr>
          <p:cNvSpPr/>
          <p:nvPr/>
        </p:nvSpPr>
        <p:spPr>
          <a:xfrm>
            <a:off x="739302" y="3054485"/>
            <a:ext cx="7548664" cy="157588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n-NO" sz="3600" dirty="0"/>
              <a:t>file = open("filename.txt", "mode")</a:t>
            </a:r>
          </a:p>
        </p:txBody>
      </p:sp>
    </p:spTree>
    <p:extLst>
      <p:ext uri="{BB962C8B-B14F-4D97-AF65-F5344CB8AC3E}">
        <p14:creationId xmlns:p14="http://schemas.microsoft.com/office/powerpoint/2010/main" val="33158907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F6C72-BD2F-5B84-275E-CC73177E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Different File Modes in Python</a:t>
            </a:r>
            <a:endParaRPr lang="en-A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66EED29-031B-420C-6A42-5E185F131F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088051"/>
              </p:ext>
            </p:extLst>
          </p:nvPr>
        </p:nvGraphicFramePr>
        <p:xfrm>
          <a:off x="457200" y="1417638"/>
          <a:ext cx="8229600" cy="5181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315">
                  <a:extLst>
                    <a:ext uri="{9D8B030D-6E8A-4147-A177-3AD203B41FA5}">
                      <a16:colId xmlns:a16="http://schemas.microsoft.com/office/drawing/2014/main" val="632116679"/>
                    </a:ext>
                  </a:extLst>
                </a:gridCol>
                <a:gridCol w="2723745">
                  <a:extLst>
                    <a:ext uri="{9D8B030D-6E8A-4147-A177-3AD203B41FA5}">
                      <a16:colId xmlns:a16="http://schemas.microsoft.com/office/drawing/2014/main" val="2881324647"/>
                    </a:ext>
                  </a:extLst>
                </a:gridCol>
                <a:gridCol w="4445540">
                  <a:extLst>
                    <a:ext uri="{9D8B030D-6E8A-4147-A177-3AD203B41FA5}">
                      <a16:colId xmlns:a16="http://schemas.microsoft.com/office/drawing/2014/main" val="1246443484"/>
                    </a:ext>
                  </a:extLst>
                </a:gridCol>
              </a:tblGrid>
              <a:tr h="442305">
                <a:tc>
                  <a:txBody>
                    <a:bodyPr/>
                    <a:lstStyle/>
                    <a:p>
                      <a:r>
                        <a:rPr lang="en-GB" sz="2200" b="1" dirty="0"/>
                        <a:t>Mode</a:t>
                      </a:r>
                      <a:endParaRPr lang="en-GB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200" b="1"/>
                        <a:t>Description</a:t>
                      </a:r>
                      <a:endParaRPr lang="en-GB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200" b="1" dirty="0"/>
                        <a:t>Behaviour</a:t>
                      </a:r>
                      <a:endParaRPr lang="en-GB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6625770"/>
                  </a:ext>
                </a:extLst>
              </a:tr>
              <a:tr h="789830">
                <a:tc>
                  <a:txBody>
                    <a:bodyPr/>
                    <a:lstStyle/>
                    <a:p>
                      <a:r>
                        <a:rPr lang="en-GB" sz="2200" dirty="0"/>
                        <a:t>'r'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Read mode (default)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Opens file for reading (raises an error if file doesn't exist)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888176"/>
                  </a:ext>
                </a:extLst>
              </a:tr>
              <a:tr h="789830">
                <a:tc>
                  <a:txBody>
                    <a:bodyPr/>
                    <a:lstStyle/>
                    <a:p>
                      <a:r>
                        <a:rPr lang="en-GB" sz="2200"/>
                        <a:t>'w'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Write 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Creates a new file or </a:t>
                      </a:r>
                      <a:r>
                        <a:rPr lang="en-GB" sz="2200" b="1"/>
                        <a:t>overwrites existing content</a:t>
                      </a:r>
                      <a:endParaRPr lang="en-GB" sz="2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1231881"/>
                  </a:ext>
                </a:extLst>
              </a:tr>
              <a:tr h="789830">
                <a:tc>
                  <a:txBody>
                    <a:bodyPr/>
                    <a:lstStyle/>
                    <a:p>
                      <a:r>
                        <a:rPr lang="en-GB" sz="2200"/>
                        <a:t>'a'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Append 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Creates a new file (if not exists) and </a:t>
                      </a:r>
                      <a:r>
                        <a:rPr lang="en-GB" sz="2200" b="1"/>
                        <a:t>adds new data without overwriting</a:t>
                      </a:r>
                      <a:endParaRPr lang="en-GB" sz="2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3677410"/>
                  </a:ext>
                </a:extLst>
              </a:tr>
              <a:tr h="789830">
                <a:tc>
                  <a:txBody>
                    <a:bodyPr/>
                    <a:lstStyle/>
                    <a:p>
                      <a:r>
                        <a:rPr lang="en-GB" sz="2200"/>
                        <a:t>'x'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Create 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Creates a </a:t>
                      </a:r>
                      <a:r>
                        <a:rPr lang="en-GB" sz="2200" b="1"/>
                        <a:t>new file</a:t>
                      </a:r>
                      <a:r>
                        <a:rPr lang="en-GB" sz="2200"/>
                        <a:t>, raises an error if it exists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6739686"/>
                  </a:ext>
                </a:extLst>
              </a:tr>
              <a:tr h="789830">
                <a:tc>
                  <a:txBody>
                    <a:bodyPr/>
                    <a:lstStyle/>
                    <a:p>
                      <a:r>
                        <a:rPr lang="en-GB" sz="2200"/>
                        <a:t>'b'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Binary 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Used for </a:t>
                      </a:r>
                      <a:r>
                        <a:rPr lang="en-GB" sz="2200" b="1"/>
                        <a:t>binary files</a:t>
                      </a:r>
                      <a:r>
                        <a:rPr lang="en-GB" sz="2200"/>
                        <a:t> like images, PDFs,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8018852"/>
                  </a:ext>
                </a:extLst>
              </a:tr>
              <a:tr h="789830">
                <a:tc>
                  <a:txBody>
                    <a:bodyPr/>
                    <a:lstStyle/>
                    <a:p>
                      <a:r>
                        <a:rPr lang="en-AE" sz="2200"/>
                        <a:t>'+'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Read &amp; Write 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Allows </a:t>
                      </a:r>
                      <a:r>
                        <a:rPr lang="en-GB" sz="2200" b="1" dirty="0"/>
                        <a:t>both reading and writing</a:t>
                      </a:r>
                      <a:r>
                        <a:rPr lang="en-GB" sz="2200" dirty="0"/>
                        <a:t> in a file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2667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8210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3A784-D912-CF2C-18D5-D7C72C107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from a File ('r' mode)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64F4B-1ACD-F02F-2D10-9018D303F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GB" dirty="0"/>
              <a:t>Opens a file and reads its contents.</a:t>
            </a:r>
          </a:p>
          <a:p>
            <a:pPr algn="just"/>
            <a:r>
              <a:rPr lang="en-GB" dirty="0"/>
              <a:t>The file must exist, or it will raise a </a:t>
            </a:r>
            <a:r>
              <a:rPr lang="en-GB" dirty="0" err="1"/>
              <a:t>FileNotFoundError</a:t>
            </a:r>
            <a:r>
              <a:rPr lang="en-GB" dirty="0"/>
              <a:t>.</a:t>
            </a:r>
          </a:p>
          <a:p>
            <a:pPr algn="just"/>
            <a:r>
              <a:rPr lang="en-AE" dirty="0"/>
              <a:t>Example:</a:t>
            </a:r>
          </a:p>
          <a:p>
            <a:pPr marL="400050" lvl="1" indent="0" algn="just">
              <a:buNone/>
            </a:pPr>
            <a:r>
              <a:rPr lang="en-GB" dirty="0"/>
              <a:t>file = open(“filename.txt", "r")  # Open file in read mode</a:t>
            </a:r>
          </a:p>
          <a:p>
            <a:pPr marL="400050" lvl="1" indent="0" algn="just">
              <a:buNone/>
            </a:pPr>
            <a:r>
              <a:rPr lang="en-GB" dirty="0"/>
              <a:t>content = </a:t>
            </a:r>
            <a:r>
              <a:rPr lang="en-GB" dirty="0" err="1"/>
              <a:t>file.read</a:t>
            </a:r>
            <a:r>
              <a:rPr lang="en-GB" dirty="0"/>
              <a:t>()  # Read entire content</a:t>
            </a:r>
          </a:p>
          <a:p>
            <a:pPr marL="400050" lvl="1" indent="0" algn="just">
              <a:buNone/>
            </a:pPr>
            <a:r>
              <a:rPr lang="en-GB" dirty="0"/>
              <a:t>print(content)</a:t>
            </a:r>
          </a:p>
          <a:p>
            <a:pPr marL="400050" lvl="1" indent="0" algn="just">
              <a:buNone/>
            </a:pPr>
            <a:r>
              <a:rPr lang="en-GB" dirty="0" err="1"/>
              <a:t>file.close</a:t>
            </a:r>
            <a:r>
              <a:rPr lang="en-GB" dirty="0"/>
              <a:t>()  # Close the file after reading</a:t>
            </a:r>
          </a:p>
          <a:p>
            <a:pPr marL="400050" lvl="1" indent="0" algn="just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3024732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0754E-994C-4D05-DD67-221EFCA0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b="1" dirty="0"/>
              <a:t>Important Points: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Always close the file after reading to free system resources.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file does not exist, it raises an </a:t>
            </a:r>
            <a:r>
              <a:rPr lang="en-GB" b="1" dirty="0"/>
              <a:t>error</a:t>
            </a:r>
            <a:r>
              <a:rPr lang="en-GB" dirty="0"/>
              <a:t>.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8891599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6E1DA-988B-DC22-28D8-85A4DA61F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a File Line by Line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3A961-4365-2E49-5FDB-D4C408635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Sometimes, files are too large to read at once.</a:t>
            </a:r>
          </a:p>
          <a:p>
            <a:r>
              <a:rPr lang="en-GB" dirty="0"/>
              <a:t>Reading line by line reduces memory usage.</a:t>
            </a:r>
          </a:p>
          <a:p>
            <a:r>
              <a:rPr lang="en-GB" dirty="0"/>
              <a:t>Example: Using </a:t>
            </a:r>
            <a:r>
              <a:rPr lang="en-GB" dirty="0" err="1"/>
              <a:t>readline</a:t>
            </a:r>
            <a:r>
              <a:rPr lang="en-GB" dirty="0"/>
              <a:t>()</a:t>
            </a:r>
          </a:p>
          <a:p>
            <a:pPr marL="400050" lvl="1" indent="0">
              <a:buNone/>
            </a:pPr>
            <a:r>
              <a:rPr lang="en-GB" dirty="0"/>
              <a:t>file = open(“filename.txt", "r")</a:t>
            </a:r>
          </a:p>
          <a:p>
            <a:pPr marL="400050" lvl="1" indent="0">
              <a:buNone/>
            </a:pPr>
            <a:r>
              <a:rPr lang="en-GB" dirty="0"/>
              <a:t>line1 = </a:t>
            </a:r>
            <a:r>
              <a:rPr lang="en-GB" dirty="0" err="1"/>
              <a:t>file.readline</a:t>
            </a:r>
            <a:r>
              <a:rPr lang="en-GB" dirty="0"/>
              <a:t>()  # Reads first line</a:t>
            </a:r>
          </a:p>
          <a:p>
            <a:pPr marL="400050" lvl="1" indent="0">
              <a:buNone/>
            </a:pPr>
            <a:r>
              <a:rPr lang="en-GB" dirty="0"/>
              <a:t>line2 = </a:t>
            </a:r>
            <a:r>
              <a:rPr lang="en-GB" dirty="0" err="1"/>
              <a:t>file.readline</a:t>
            </a:r>
            <a:r>
              <a:rPr lang="en-GB" dirty="0"/>
              <a:t>()  # Reads second line</a:t>
            </a:r>
          </a:p>
          <a:p>
            <a:pPr marL="400050" lvl="1" indent="0">
              <a:buNone/>
            </a:pPr>
            <a:r>
              <a:rPr lang="en-GB" dirty="0"/>
              <a:t>print(line1.strip())  # Remove extra newline</a:t>
            </a:r>
          </a:p>
          <a:p>
            <a:pPr marL="400050" lvl="1" indent="0">
              <a:buNone/>
            </a:pPr>
            <a:r>
              <a:rPr lang="en-GB" dirty="0"/>
              <a:t>print(line2.strip())</a:t>
            </a:r>
          </a:p>
          <a:p>
            <a:pPr marL="400050" lvl="1" indent="0">
              <a:buNone/>
            </a:pPr>
            <a:r>
              <a:rPr lang="en-GB" dirty="0" err="1"/>
              <a:t>file.close</a:t>
            </a:r>
            <a:r>
              <a:rPr lang="en-GB" dirty="0"/>
              <a:t>()</a:t>
            </a:r>
          </a:p>
          <a:p>
            <a:pPr marL="400050" lvl="1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477857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7FB87-A712-DB60-3B3E-5DCE7D180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Using </a:t>
            </a:r>
            <a:r>
              <a:rPr lang="en-GB" dirty="0" err="1"/>
              <a:t>readlines</a:t>
            </a:r>
            <a:r>
              <a:rPr lang="en-GB" dirty="0"/>
              <a:t>()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FF42C-26BE-444D-A597-E1B58DFEE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file = open("example.txt", "r")</a:t>
            </a:r>
          </a:p>
          <a:p>
            <a:pPr marL="0" indent="0">
              <a:buNone/>
            </a:pPr>
            <a:r>
              <a:rPr lang="en-GB" dirty="0"/>
              <a:t>lines = </a:t>
            </a:r>
            <a:r>
              <a:rPr lang="en-GB" dirty="0" err="1"/>
              <a:t>file.readlines</a:t>
            </a:r>
            <a:r>
              <a:rPr lang="en-GB" dirty="0"/>
              <a:t>()  # Reads all lines as a list</a:t>
            </a:r>
          </a:p>
          <a:p>
            <a:pPr marL="0" indent="0">
              <a:buNone/>
            </a:pPr>
            <a:r>
              <a:rPr lang="en-GB" dirty="0"/>
              <a:t>for line in lines:</a:t>
            </a:r>
          </a:p>
          <a:p>
            <a:pPr marL="0" indent="0">
              <a:buNone/>
            </a:pPr>
            <a:r>
              <a:rPr lang="en-GB" dirty="0"/>
              <a:t>    print(</a:t>
            </a:r>
            <a:r>
              <a:rPr lang="en-GB" dirty="0" err="1"/>
              <a:t>line.strip</a:t>
            </a:r>
            <a:r>
              <a:rPr lang="en-GB" dirty="0"/>
              <a:t>())</a:t>
            </a:r>
          </a:p>
          <a:p>
            <a:pPr marL="0" indent="0">
              <a:buNone/>
            </a:pPr>
            <a:r>
              <a:rPr lang="en-GB" dirty="0" err="1"/>
              <a:t>file.close</a:t>
            </a:r>
            <a:r>
              <a:rPr lang="en-GB" dirty="0"/>
              <a:t>()</a:t>
            </a:r>
          </a:p>
          <a:p>
            <a:pPr marL="0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0169887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82C0F-51E1-D4E8-9C18-2CA1C6860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to a File ('w' mode)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694D4-3DD8-FEA7-D2C4-D56891B93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Creates a new file (if it doesn't exist).Overwrites existing content.</a:t>
            </a:r>
          </a:p>
          <a:p>
            <a:r>
              <a:rPr lang="en-GB" dirty="0"/>
              <a:t>Example: Writing Data to a File</a:t>
            </a:r>
          </a:p>
          <a:p>
            <a:pPr marL="457200" lvl="1" indent="0">
              <a:buNone/>
            </a:pPr>
            <a:r>
              <a:rPr lang="en-GB" dirty="0"/>
              <a:t>file = open("example.txt", "w")  # Open file in write mode</a:t>
            </a:r>
          </a:p>
          <a:p>
            <a:pPr marL="457200" lvl="1" indent="0">
              <a:buNone/>
            </a:pPr>
            <a:r>
              <a:rPr lang="en-GB" dirty="0" err="1"/>
              <a:t>file.write</a:t>
            </a:r>
            <a:r>
              <a:rPr lang="en-GB" dirty="0"/>
              <a:t>("Hello, World!\n")  # Write a line</a:t>
            </a:r>
          </a:p>
          <a:p>
            <a:pPr marL="457200" lvl="1" indent="0">
              <a:buNone/>
            </a:pPr>
            <a:r>
              <a:rPr lang="en-GB" dirty="0" err="1"/>
              <a:t>file.write</a:t>
            </a:r>
            <a:r>
              <a:rPr lang="en-GB" dirty="0"/>
              <a:t>("This is a new file.\n")  # Write another line</a:t>
            </a:r>
          </a:p>
          <a:p>
            <a:pPr marL="457200" lvl="1" indent="0">
              <a:buNone/>
            </a:pPr>
            <a:r>
              <a:rPr lang="en-GB" dirty="0" err="1"/>
              <a:t>file.close</a:t>
            </a:r>
            <a:r>
              <a:rPr lang="en-GB" dirty="0"/>
              <a:t>()</a:t>
            </a:r>
          </a:p>
          <a:p>
            <a:r>
              <a:rPr lang="en-GB" dirty="0"/>
              <a:t>Warning: Running this multiple times overwrites previous content.</a:t>
            </a:r>
          </a:p>
          <a:p>
            <a:pPr marL="457200" lvl="1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71690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C864A-1034-AF00-6959-8A4D6D465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Appending to a File ('a' mode)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4EF0B-EFCD-4B74-19B9-C4111C637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Does not overwrite existing content.</a:t>
            </a:r>
          </a:p>
          <a:p>
            <a:r>
              <a:rPr lang="en-GB" dirty="0"/>
              <a:t>Adds new data at the end of the file.</a:t>
            </a:r>
          </a:p>
          <a:p>
            <a:r>
              <a:rPr lang="en-GB" dirty="0"/>
              <a:t>Example: Appending </a:t>
            </a:r>
            <a:r>
              <a:rPr lang="en-GB" dirty="0" err="1"/>
              <a:t>DatapythonCopyEdit</a:t>
            </a:r>
            <a:endParaRPr lang="en-GB" dirty="0"/>
          </a:p>
          <a:p>
            <a:pPr marL="400050" lvl="1" indent="0">
              <a:buNone/>
            </a:pPr>
            <a:r>
              <a:rPr lang="en-GB" dirty="0"/>
              <a:t>file = open("example.txt", "a")  # Open file in append mode</a:t>
            </a:r>
          </a:p>
          <a:p>
            <a:pPr marL="400050" lvl="1" indent="0">
              <a:buNone/>
            </a:pPr>
            <a:r>
              <a:rPr lang="en-GB" dirty="0" err="1"/>
              <a:t>file.write</a:t>
            </a:r>
            <a:r>
              <a:rPr lang="en-GB" dirty="0"/>
              <a:t>("\</a:t>
            </a:r>
            <a:r>
              <a:rPr lang="en-GB" dirty="0" err="1"/>
              <a:t>nAdding</a:t>
            </a:r>
            <a:r>
              <a:rPr lang="en-GB" dirty="0"/>
              <a:t> a new line!")  # Appends data</a:t>
            </a:r>
          </a:p>
          <a:p>
            <a:pPr marL="400050" lvl="1" indent="0">
              <a:buNone/>
            </a:pPr>
            <a:r>
              <a:rPr lang="en-GB" dirty="0" err="1"/>
              <a:t>file.close</a:t>
            </a:r>
            <a:r>
              <a:rPr lang="en-GB" dirty="0"/>
              <a:t>()</a:t>
            </a:r>
          </a:p>
          <a:p>
            <a:pPr marL="400050" lvl="1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9594162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BFC88-0898-00C2-A1CF-99371AF70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with open() (Best Practice)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B3BA8-F3C0-9D46-12D8-0808F0682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with open() automatically closes the file after reading/writing.</a:t>
            </a:r>
          </a:p>
          <a:p>
            <a:r>
              <a:rPr lang="en-AE" dirty="0"/>
              <a:t>Example:</a:t>
            </a:r>
          </a:p>
          <a:p>
            <a:pPr marL="457200" lvl="1" indent="0">
              <a:buNone/>
            </a:pPr>
            <a:r>
              <a:rPr lang="en-GB" dirty="0"/>
              <a:t>with open("example.txt", "r") as file:</a:t>
            </a:r>
          </a:p>
          <a:p>
            <a:pPr marL="457200" lvl="1" indent="0">
              <a:buNone/>
            </a:pPr>
            <a:r>
              <a:rPr lang="en-GB" dirty="0"/>
              <a:t>    content = </a:t>
            </a:r>
            <a:r>
              <a:rPr lang="en-GB" dirty="0" err="1"/>
              <a:t>file.read</a:t>
            </a:r>
            <a:r>
              <a:rPr lang="en-GB" dirty="0"/>
              <a:t>()</a:t>
            </a:r>
          </a:p>
          <a:p>
            <a:pPr marL="457200" lvl="1" indent="0">
              <a:buNone/>
            </a:pPr>
            <a:r>
              <a:rPr lang="en-GB" dirty="0"/>
              <a:t>    print(content)  # No need to call </a:t>
            </a:r>
            <a:r>
              <a:rPr lang="en-GB" dirty="0" err="1"/>
              <a:t>file.close</a:t>
            </a:r>
            <a:r>
              <a:rPr lang="en-GB" dirty="0"/>
              <a:t>()</a:t>
            </a:r>
          </a:p>
          <a:p>
            <a:pPr marL="457200" lvl="1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0469189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296D5-EE33-221A-11BD-224C89163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0F769-8B5D-48B0-E6FF-3E2BF5E5F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with open() (Best Practice)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7311D-2732-7F80-A89F-ADC5275F3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" indent="0">
              <a:buNone/>
            </a:pPr>
            <a:r>
              <a:rPr lang="en-GB" sz="3600" dirty="0"/>
              <a:t>Advantages:</a:t>
            </a:r>
          </a:p>
          <a:p>
            <a:pPr marL="628650" indent="-571500"/>
            <a:r>
              <a:rPr lang="en-GB" sz="3600" dirty="0"/>
              <a:t>Avoids memory leaks.</a:t>
            </a:r>
          </a:p>
          <a:p>
            <a:pPr marL="628650" indent="-571500"/>
            <a:r>
              <a:rPr lang="en-GB" sz="3600" dirty="0"/>
              <a:t>Prevents errors due to forgetting close().</a:t>
            </a:r>
            <a:endParaRPr lang="en-AE" sz="3600" dirty="0"/>
          </a:p>
        </p:txBody>
      </p:sp>
    </p:spTree>
    <p:extLst>
      <p:ext uri="{BB962C8B-B14F-4D97-AF65-F5344CB8AC3E}">
        <p14:creationId xmlns:p14="http://schemas.microsoft.com/office/powerpoint/2010/main" val="22672592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C73FA-09E9-7914-33E1-D3FBC5172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 Checking If a File Exists (</a:t>
            </a:r>
            <a:r>
              <a:rPr lang="en-GB" dirty="0" err="1"/>
              <a:t>os.path.exists</a:t>
            </a:r>
            <a:r>
              <a:rPr lang="en-GB" dirty="0"/>
              <a:t>())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E1137-5500-8B01-6F79-1DE0215C4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Prevents </a:t>
            </a:r>
            <a:r>
              <a:rPr lang="en-GB" dirty="0" err="1"/>
              <a:t>FileNotFoundError</a:t>
            </a:r>
            <a:r>
              <a:rPr lang="en-GB" dirty="0"/>
              <a:t> by checking before opening a file.</a:t>
            </a:r>
          </a:p>
          <a:p>
            <a:r>
              <a:rPr lang="en-GB" dirty="0"/>
              <a:t>Why Use It?</a:t>
            </a:r>
          </a:p>
          <a:p>
            <a:r>
              <a:rPr lang="en-GB" dirty="0"/>
              <a:t>If you try to open a non-existent file in 'r' (read) mode, Python raises an error:</a:t>
            </a:r>
          </a:p>
          <a:p>
            <a:r>
              <a:rPr lang="en-GB" dirty="0"/>
              <a:t>Example:</a:t>
            </a:r>
          </a:p>
          <a:p>
            <a:pPr marL="400050" lvl="1" indent="0">
              <a:buNone/>
            </a:pPr>
            <a:r>
              <a:rPr lang="en-GB" dirty="0"/>
              <a:t>file = open("non_existing_file.txt", "r")  # ❌ This will raise </a:t>
            </a:r>
            <a:r>
              <a:rPr lang="en-GB" dirty="0" err="1"/>
              <a:t>FileNotFoundError</a:t>
            </a:r>
            <a:endParaRPr lang="en-GB" dirty="0"/>
          </a:p>
          <a:p>
            <a:endParaRPr lang="en-GB" dirty="0"/>
          </a:p>
          <a:p>
            <a:pPr marL="400050" lvl="1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9016253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AACAE-1A7F-894A-73E2-F983ECBE1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A56DB-900A-1264-96FB-B1E6B7B0D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 Checking If a File Exists (</a:t>
            </a:r>
            <a:r>
              <a:rPr lang="en-GB" dirty="0" err="1"/>
              <a:t>os.path.exists</a:t>
            </a:r>
            <a:r>
              <a:rPr lang="en-GB" dirty="0"/>
              <a:t>())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8E696-017A-6222-678B-624F0B8D3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GB" dirty="0"/>
              <a:t>Instead, check first using </a:t>
            </a:r>
            <a:r>
              <a:rPr lang="en-GB" dirty="0" err="1"/>
              <a:t>os.path.exists</a:t>
            </a:r>
            <a:r>
              <a:rPr lang="en-GB" dirty="0"/>
              <a:t>():</a:t>
            </a:r>
          </a:p>
          <a:p>
            <a:pPr algn="just"/>
            <a:r>
              <a:rPr lang="en-GB" dirty="0"/>
              <a:t>Example:</a:t>
            </a:r>
          </a:p>
          <a:p>
            <a:pPr marL="400050" lvl="1" indent="0" algn="just">
              <a:buNone/>
            </a:pPr>
            <a:r>
              <a:rPr lang="en-GB" dirty="0"/>
              <a:t>import </a:t>
            </a:r>
            <a:r>
              <a:rPr lang="en-GB" dirty="0" err="1"/>
              <a:t>os</a:t>
            </a:r>
            <a:endParaRPr lang="en-GB" dirty="0"/>
          </a:p>
          <a:p>
            <a:pPr marL="400050" lvl="1" indent="0" algn="just">
              <a:buNone/>
            </a:pPr>
            <a:r>
              <a:rPr lang="en-GB" dirty="0"/>
              <a:t>if </a:t>
            </a:r>
            <a:r>
              <a:rPr lang="en-GB" dirty="0" err="1"/>
              <a:t>os.path.exists</a:t>
            </a:r>
            <a:r>
              <a:rPr lang="en-GB" dirty="0"/>
              <a:t>("example.txt"):</a:t>
            </a:r>
          </a:p>
          <a:p>
            <a:pPr marL="400050" lvl="1" indent="0" algn="just">
              <a:buNone/>
            </a:pPr>
            <a:r>
              <a:rPr lang="en-GB" dirty="0"/>
              <a:t>    with open("example.txt", "r") as file:</a:t>
            </a:r>
          </a:p>
          <a:p>
            <a:pPr marL="400050" lvl="1" indent="0" algn="just">
              <a:buNone/>
            </a:pPr>
            <a:r>
              <a:rPr lang="en-GB" dirty="0"/>
              <a:t>        print(</a:t>
            </a:r>
            <a:r>
              <a:rPr lang="en-GB" dirty="0" err="1"/>
              <a:t>file.read</a:t>
            </a:r>
            <a:r>
              <a:rPr lang="en-GB" dirty="0"/>
              <a:t>())</a:t>
            </a:r>
          </a:p>
          <a:p>
            <a:pPr marL="400050" lvl="1" indent="0" algn="just">
              <a:buNone/>
            </a:pPr>
            <a:r>
              <a:rPr lang="en-GB" dirty="0"/>
              <a:t>else:</a:t>
            </a:r>
          </a:p>
          <a:p>
            <a:pPr marL="400050" lvl="1" indent="0" algn="just">
              <a:buNone/>
            </a:pPr>
            <a:r>
              <a:rPr lang="en-GB" dirty="0"/>
              <a:t>    print("File does not exist!")</a:t>
            </a:r>
          </a:p>
          <a:p>
            <a:pPr algn="just"/>
            <a:r>
              <a:rPr lang="en-GB" b="1" dirty="0"/>
              <a:t>Prevents crashes</a:t>
            </a:r>
            <a:r>
              <a:rPr lang="en-GB" dirty="0"/>
              <a:t> by ensuring the file exists before attempting to open it.</a:t>
            </a:r>
          </a:p>
          <a:p>
            <a:pPr marL="400050" lvl="1" indent="0" algn="just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1330068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9AFC2-B3E5-9018-78B2-882AF190B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Deleting a File (</a:t>
            </a:r>
            <a:r>
              <a:rPr lang="en-GB" dirty="0" err="1"/>
              <a:t>os.remove</a:t>
            </a:r>
            <a:r>
              <a:rPr lang="en-GB" dirty="0"/>
              <a:t>())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6F3D8-77C8-DAA7-6BD3-DDB93B9EB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Deletes a file if it exists.</a:t>
            </a:r>
          </a:p>
          <a:p>
            <a:r>
              <a:rPr lang="en-GB" b="1" dirty="0"/>
              <a:t>Example: Deleting a File</a:t>
            </a:r>
            <a:endParaRPr lang="en-AE" b="1" dirty="0"/>
          </a:p>
          <a:p>
            <a:pPr marL="457200" lvl="1" indent="0">
              <a:buNone/>
            </a:pPr>
            <a:r>
              <a:rPr lang="en-GB" dirty="0"/>
              <a:t>import </a:t>
            </a:r>
            <a:r>
              <a:rPr lang="en-GB" dirty="0" err="1"/>
              <a:t>os</a:t>
            </a:r>
            <a:endParaRPr lang="en-GB" dirty="0"/>
          </a:p>
          <a:p>
            <a:pPr marL="457200" lvl="1" indent="0">
              <a:buNone/>
            </a:pPr>
            <a:r>
              <a:rPr lang="en-GB" dirty="0"/>
              <a:t>if </a:t>
            </a:r>
            <a:r>
              <a:rPr lang="en-GB" dirty="0" err="1"/>
              <a:t>os.path.exists</a:t>
            </a:r>
            <a:r>
              <a:rPr lang="en-GB" dirty="0"/>
              <a:t>("example.txt"):</a:t>
            </a:r>
          </a:p>
          <a:p>
            <a:pPr marL="457200" lvl="1" indent="0">
              <a:buNone/>
            </a:pPr>
            <a:r>
              <a:rPr lang="en-GB" dirty="0"/>
              <a:t>    </a:t>
            </a:r>
            <a:r>
              <a:rPr lang="en-GB" dirty="0" err="1"/>
              <a:t>os.remove</a:t>
            </a:r>
            <a:r>
              <a:rPr lang="en-GB" dirty="0"/>
              <a:t>("example.txt")</a:t>
            </a:r>
          </a:p>
          <a:p>
            <a:pPr marL="457200" lvl="1" indent="0">
              <a:buNone/>
            </a:pPr>
            <a:r>
              <a:rPr lang="en-GB" dirty="0"/>
              <a:t>    print("File deleted successfully!")</a:t>
            </a:r>
          </a:p>
          <a:p>
            <a:pPr marL="457200" lvl="1" indent="0">
              <a:buNone/>
            </a:pPr>
            <a:r>
              <a:rPr lang="en-GB" dirty="0"/>
              <a:t>else:</a:t>
            </a:r>
          </a:p>
          <a:p>
            <a:pPr marL="457200" lvl="1" indent="0">
              <a:buNone/>
            </a:pPr>
            <a:r>
              <a:rPr lang="en-GB" dirty="0"/>
              <a:t>    print("File not found!")</a:t>
            </a:r>
          </a:p>
          <a:p>
            <a:pPr marL="514350" indent="-457200"/>
            <a:r>
              <a:rPr lang="en-GB" b="1" dirty="0"/>
              <a:t>Warning:</a:t>
            </a:r>
            <a:r>
              <a:rPr lang="en-GB" dirty="0"/>
              <a:t> </a:t>
            </a:r>
            <a:r>
              <a:rPr lang="en-GB" b="1" dirty="0"/>
              <a:t>This action cannot be undone!</a:t>
            </a:r>
            <a:endParaRPr lang="en-GB" dirty="0"/>
          </a:p>
          <a:p>
            <a:pPr marL="457200" lvl="1" indent="0">
              <a:buNone/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9638423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7CF81-D817-BC19-6A35-A32EB13BD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Exception Handling in File Operations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ADFD2-2A21-8157-ECF0-63CFA5D18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Sometimes, files may be missing, locked, or inaccessible.</a:t>
            </a:r>
          </a:p>
          <a:p>
            <a:r>
              <a:rPr lang="en-GB" dirty="0"/>
              <a:t>Handling exceptions prevents program crashes.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8165987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738A7-E036-E659-1180-A5FE2AA69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Example: Handling File Not Found Errors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B36AF-40D7-9422-1433-2350B6406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try:</a:t>
            </a:r>
          </a:p>
          <a:p>
            <a:pPr marL="0" indent="0">
              <a:buNone/>
            </a:pPr>
            <a:r>
              <a:rPr lang="en-GB" dirty="0"/>
              <a:t>    with open("non_existent_file.txt", "r") as file:</a:t>
            </a:r>
          </a:p>
          <a:p>
            <a:pPr marL="0" indent="0">
              <a:buNone/>
            </a:pPr>
            <a:r>
              <a:rPr lang="en-GB" dirty="0"/>
              <a:t>        content = </a:t>
            </a:r>
            <a:r>
              <a:rPr lang="en-GB" dirty="0" err="1"/>
              <a:t>file.read</a:t>
            </a:r>
            <a:r>
              <a:rPr lang="en-GB" dirty="0"/>
              <a:t>()</a:t>
            </a:r>
          </a:p>
          <a:p>
            <a:pPr marL="0" indent="0">
              <a:buNone/>
            </a:pPr>
            <a:r>
              <a:rPr lang="en-GB" dirty="0"/>
              <a:t>        print(content)</a:t>
            </a:r>
          </a:p>
          <a:p>
            <a:pPr marL="0" indent="0">
              <a:buNone/>
            </a:pPr>
            <a:r>
              <a:rPr lang="en-GB" dirty="0"/>
              <a:t>except </a:t>
            </a:r>
            <a:r>
              <a:rPr lang="en-GB" dirty="0" err="1"/>
              <a:t>FileNotFoundError</a:t>
            </a:r>
            <a:r>
              <a:rPr lang="en-GB" dirty="0"/>
              <a:t>:</a:t>
            </a:r>
          </a:p>
          <a:p>
            <a:pPr marL="0" indent="0">
              <a:buNone/>
            </a:pPr>
            <a:r>
              <a:rPr lang="en-GB" dirty="0"/>
              <a:t>    print("Error: The file does not exist!")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Prevents </a:t>
            </a:r>
            <a:r>
              <a:rPr lang="en-GB" dirty="0" err="1"/>
              <a:t>FileNotFoundError</a:t>
            </a:r>
            <a:r>
              <a:rPr lang="en-GB" dirty="0"/>
              <a:t> when trying to open a missing file.</a:t>
            </a:r>
          </a:p>
          <a:p>
            <a:pPr marL="0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7596433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DE840-EF0C-D50D-FCA1-22B915B75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Renaming Files using </a:t>
            </a:r>
            <a:r>
              <a:rPr lang="en-GB" dirty="0" err="1"/>
              <a:t>os.rename</a:t>
            </a:r>
            <a:r>
              <a:rPr lang="en-GB" dirty="0"/>
              <a:t>()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9F2E8-F165-C9A6-2B9B-8E7858B5B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Used to </a:t>
            </a:r>
            <a:r>
              <a:rPr lang="en-GB" b="1" dirty="0"/>
              <a:t>change file names dynamically</a:t>
            </a:r>
            <a:r>
              <a:rPr lang="en-GB" dirty="0"/>
              <a:t>.</a:t>
            </a:r>
          </a:p>
          <a:p>
            <a:r>
              <a:rPr lang="en-GB" dirty="0"/>
              <a:t>Example: Renaming a File</a:t>
            </a:r>
          </a:p>
          <a:p>
            <a:pPr marL="457200" lvl="1" indent="0">
              <a:buNone/>
            </a:pPr>
            <a:r>
              <a:rPr lang="en-GB" dirty="0"/>
              <a:t>import </a:t>
            </a:r>
            <a:r>
              <a:rPr lang="en-GB" dirty="0" err="1"/>
              <a:t>os</a:t>
            </a:r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r>
              <a:rPr lang="en-GB" dirty="0"/>
              <a:t># Check if file exists before renaming</a:t>
            </a:r>
          </a:p>
          <a:p>
            <a:pPr marL="457200" lvl="1" indent="0">
              <a:buNone/>
            </a:pPr>
            <a:r>
              <a:rPr lang="en-GB" dirty="0"/>
              <a:t>if </a:t>
            </a:r>
            <a:r>
              <a:rPr lang="en-GB" dirty="0" err="1"/>
              <a:t>os.path.exists</a:t>
            </a:r>
            <a:r>
              <a:rPr lang="en-GB" dirty="0"/>
              <a:t>("old_file.txt"):</a:t>
            </a:r>
          </a:p>
          <a:p>
            <a:pPr marL="457200" lvl="1" indent="0">
              <a:buNone/>
            </a:pPr>
            <a:r>
              <a:rPr lang="en-GB" dirty="0"/>
              <a:t>    </a:t>
            </a:r>
            <a:r>
              <a:rPr lang="en-GB" dirty="0" err="1"/>
              <a:t>os.rename</a:t>
            </a:r>
            <a:r>
              <a:rPr lang="en-GB" dirty="0"/>
              <a:t>("old_file.txt", "new_file.txt")</a:t>
            </a:r>
          </a:p>
          <a:p>
            <a:pPr marL="457200" lvl="1" indent="0">
              <a:buNone/>
            </a:pPr>
            <a:r>
              <a:rPr lang="en-GB" dirty="0"/>
              <a:t>    print("File renamed successfully!")</a:t>
            </a:r>
          </a:p>
          <a:p>
            <a:pPr marL="457200" lvl="1" indent="0">
              <a:buNone/>
            </a:pPr>
            <a:r>
              <a:rPr lang="en-GB" dirty="0"/>
              <a:t>else:</a:t>
            </a:r>
          </a:p>
          <a:p>
            <a:pPr marL="457200" lvl="1" indent="0">
              <a:buNone/>
            </a:pPr>
            <a:r>
              <a:rPr lang="en-GB" dirty="0"/>
              <a:t>    print("File not found!")</a:t>
            </a:r>
          </a:p>
          <a:p>
            <a:pPr marL="457200" lvl="1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2957816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76F44-6F95-F032-251B-419A6B3C4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EB71F-49D3-4B4A-B9BD-4A7C2B4F1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Getting File Information (</a:t>
            </a:r>
            <a:r>
              <a:rPr lang="en-GB" dirty="0" err="1"/>
              <a:t>os.stat</a:t>
            </a:r>
            <a:r>
              <a:rPr lang="en-GB" dirty="0"/>
              <a:t>())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0A612-D967-457C-E395-C43351819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 err="1"/>
              <a:t>os.stat</a:t>
            </a:r>
            <a:r>
              <a:rPr lang="en-GB" dirty="0"/>
              <a:t>("filename") gives file size, creation/modification time.</a:t>
            </a:r>
          </a:p>
          <a:p>
            <a:pPr marL="457200" lvl="1" indent="0" algn="just">
              <a:buNone/>
            </a:pPr>
            <a:endParaRPr lang="en-AE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8B0765-3903-FD55-BA58-AA919AE884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93008"/>
              </p:ext>
            </p:extLst>
          </p:nvPr>
        </p:nvGraphicFramePr>
        <p:xfrm>
          <a:off x="1524000" y="3032760"/>
          <a:ext cx="6096000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49835490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7028589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Attribute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Description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6340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st_size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Size of file (in bytes)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6904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st_mtime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Last modified time (timestamp)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1074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st_ctime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st_ctime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876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st_atime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st_atime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59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st_mode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st_mode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104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st_uid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st_uid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4988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90905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36711-E3D7-FAD7-596C-5758107E2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GB" dirty="0"/>
              <a:t>Example: Checking File Size &amp; Last Modified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BE4B0-4DF0-C8B1-357F-FF0E779B7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 algn="just">
              <a:buNone/>
            </a:pPr>
            <a:r>
              <a:rPr lang="en-GB" dirty="0"/>
              <a:t>import </a:t>
            </a:r>
            <a:r>
              <a:rPr lang="en-GB" dirty="0" err="1"/>
              <a:t>os</a:t>
            </a:r>
            <a:endParaRPr lang="en-GB" dirty="0"/>
          </a:p>
          <a:p>
            <a:pPr marL="457200" lvl="1" indent="0" algn="just">
              <a:buNone/>
            </a:pPr>
            <a:endParaRPr lang="en-GB" dirty="0"/>
          </a:p>
          <a:p>
            <a:pPr marL="457200" lvl="1" indent="0" algn="just">
              <a:buNone/>
            </a:pPr>
            <a:r>
              <a:rPr lang="en-GB" dirty="0" err="1"/>
              <a:t>file_info</a:t>
            </a:r>
            <a:r>
              <a:rPr lang="en-GB" dirty="0"/>
              <a:t> = </a:t>
            </a:r>
            <a:r>
              <a:rPr lang="en-GB" dirty="0" err="1"/>
              <a:t>os.stat</a:t>
            </a:r>
            <a:r>
              <a:rPr lang="en-GB" dirty="0"/>
              <a:t>("example.txt")</a:t>
            </a:r>
          </a:p>
          <a:p>
            <a:pPr marL="457200" lvl="1" indent="0" algn="just">
              <a:buNone/>
            </a:pPr>
            <a:r>
              <a:rPr lang="en-GB" dirty="0"/>
              <a:t>print(</a:t>
            </a:r>
            <a:r>
              <a:rPr lang="en-GB" dirty="0" err="1"/>
              <a:t>f"File</a:t>
            </a:r>
            <a:r>
              <a:rPr lang="en-GB" dirty="0"/>
              <a:t> Size: {</a:t>
            </a:r>
            <a:r>
              <a:rPr lang="en-GB" dirty="0" err="1"/>
              <a:t>file_info.st_size</a:t>
            </a:r>
            <a:r>
              <a:rPr lang="en-GB" dirty="0"/>
              <a:t>} bytes")</a:t>
            </a:r>
          </a:p>
          <a:p>
            <a:pPr marL="457200" lvl="1" indent="0" algn="just">
              <a:buNone/>
            </a:pPr>
            <a:r>
              <a:rPr lang="en-GB" dirty="0"/>
              <a:t>print(</a:t>
            </a:r>
            <a:r>
              <a:rPr lang="en-GB" dirty="0" err="1"/>
              <a:t>f"Last</a:t>
            </a:r>
            <a:r>
              <a:rPr lang="en-GB" dirty="0"/>
              <a:t> Modified: {</a:t>
            </a:r>
            <a:r>
              <a:rPr lang="en-GB" dirty="0" err="1"/>
              <a:t>file_info.st_mtime</a:t>
            </a:r>
            <a:r>
              <a:rPr lang="en-GB" dirty="0"/>
              <a:t>}")</a:t>
            </a:r>
          </a:p>
          <a:p>
            <a:pPr marL="457200" lvl="1" indent="0" algn="just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0999676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7554B-6331-FCFF-825D-316C0AC3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Controlling File Cursor Position (seek(), tell())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B2C22-AE7D-5937-6DFB-483DD608C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file cursor position determines where reading/writing happens.</a:t>
            </a:r>
          </a:p>
          <a:p>
            <a:r>
              <a:rPr lang="en-GB" dirty="0"/>
              <a:t>seek(position) moves the cursor to a specific position.</a:t>
            </a:r>
          </a:p>
          <a:p>
            <a:r>
              <a:rPr lang="en-GB" dirty="0"/>
              <a:t>tell() returns the current cursor position.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7231491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618AF-8F02-7809-21BE-74FBDA999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Example: Using seek() and tell()</a:t>
            </a:r>
            <a:r>
              <a:rPr lang="en-GB" dirty="0" err="1"/>
              <a:t>pythonCopyEdit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F4A71-78C4-B386-B4AD-ADA9FE096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with open("example.txt", "r") as file:</a:t>
            </a:r>
          </a:p>
          <a:p>
            <a:pPr marL="0" indent="0">
              <a:buNone/>
            </a:pPr>
            <a:r>
              <a:rPr lang="en-GB" dirty="0"/>
              <a:t>    print(</a:t>
            </a:r>
            <a:r>
              <a:rPr lang="en-GB" dirty="0" err="1"/>
              <a:t>f"Cursor</a:t>
            </a:r>
            <a:r>
              <a:rPr lang="en-GB" dirty="0"/>
              <a:t> Position: {</a:t>
            </a:r>
            <a:r>
              <a:rPr lang="en-GB" dirty="0" err="1"/>
              <a:t>file.tell</a:t>
            </a:r>
            <a:r>
              <a:rPr lang="en-GB" dirty="0"/>
              <a:t>()}")  # Get current position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file.seek</a:t>
            </a:r>
            <a:r>
              <a:rPr lang="en-GB" dirty="0"/>
              <a:t>(5)  # Move cursor to position 5</a:t>
            </a:r>
          </a:p>
          <a:p>
            <a:pPr marL="0" indent="0">
              <a:buNone/>
            </a:pPr>
            <a:r>
              <a:rPr lang="en-GB" dirty="0"/>
              <a:t>    print(</a:t>
            </a:r>
            <a:r>
              <a:rPr lang="en-GB" dirty="0" err="1"/>
              <a:t>f"Cursor</a:t>
            </a:r>
            <a:r>
              <a:rPr lang="en-GB" dirty="0"/>
              <a:t> Moved to: {</a:t>
            </a:r>
            <a:r>
              <a:rPr lang="en-GB" dirty="0" err="1"/>
              <a:t>file.tell</a:t>
            </a:r>
            <a:r>
              <a:rPr lang="en-GB" dirty="0"/>
              <a:t>()}")</a:t>
            </a:r>
          </a:p>
          <a:p>
            <a:pPr marL="0" indent="0">
              <a:buNone/>
            </a:pPr>
            <a:r>
              <a:rPr lang="en-GB" dirty="0"/>
              <a:t>    print(</a:t>
            </a:r>
            <a:r>
              <a:rPr lang="en-GB" dirty="0" err="1"/>
              <a:t>file.read</a:t>
            </a:r>
            <a:r>
              <a:rPr lang="en-GB" dirty="0"/>
              <a:t>())  # Read from the new position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0416987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1FF96-70F1-8DF6-0E33-2D6188AE6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Working with Binary Files ('</a:t>
            </a:r>
            <a:r>
              <a:rPr lang="en-GB" dirty="0" err="1"/>
              <a:t>rb</a:t>
            </a:r>
            <a:r>
              <a:rPr lang="en-GB" dirty="0"/>
              <a:t>' and '</a:t>
            </a:r>
            <a:r>
              <a:rPr lang="en-GB" dirty="0" err="1"/>
              <a:t>wb</a:t>
            </a:r>
            <a:r>
              <a:rPr lang="en-GB" dirty="0"/>
              <a:t>' modes)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6A779-12FE-98E7-A107-4A9835097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Used for handling </a:t>
            </a:r>
            <a:r>
              <a:rPr lang="en-GB" b="1" dirty="0"/>
              <a:t>images, PDFs, videos</a:t>
            </a:r>
            <a:r>
              <a:rPr lang="en-GB" dirty="0"/>
              <a:t>, and other non-text files.</a:t>
            </a:r>
          </a:p>
          <a:p>
            <a:r>
              <a:rPr lang="en-GB" dirty="0" err="1"/>
              <a:t>rb</a:t>
            </a:r>
            <a:r>
              <a:rPr lang="en-GB" dirty="0"/>
              <a:t> : Read binary files</a:t>
            </a:r>
          </a:p>
          <a:p>
            <a:r>
              <a:rPr lang="en-GB" dirty="0" err="1"/>
              <a:t>wb</a:t>
            </a:r>
            <a:r>
              <a:rPr lang="en-GB" dirty="0"/>
              <a:t> : Write binary files</a:t>
            </a:r>
          </a:p>
          <a:p>
            <a:r>
              <a:rPr lang="en-GB" dirty="0"/>
              <a:t>Example:</a:t>
            </a:r>
          </a:p>
          <a:p>
            <a:pPr marL="457200" lvl="1" indent="0">
              <a:buNone/>
            </a:pPr>
            <a:r>
              <a:rPr lang="en-GB" dirty="0"/>
              <a:t>with open("source.jpg", "</a:t>
            </a:r>
            <a:r>
              <a:rPr lang="en-GB" dirty="0" err="1"/>
              <a:t>rb</a:t>
            </a:r>
            <a:r>
              <a:rPr lang="en-GB" dirty="0"/>
              <a:t>") as </a:t>
            </a:r>
            <a:r>
              <a:rPr lang="en-GB" dirty="0" err="1"/>
              <a:t>source_file</a:t>
            </a:r>
            <a:r>
              <a:rPr lang="en-GB" dirty="0"/>
              <a:t>:</a:t>
            </a:r>
          </a:p>
          <a:p>
            <a:pPr marL="457200" lvl="1" indent="0">
              <a:buNone/>
            </a:pPr>
            <a:r>
              <a:rPr lang="en-GB" dirty="0"/>
              <a:t>    content = </a:t>
            </a:r>
            <a:r>
              <a:rPr lang="en-GB" dirty="0" err="1"/>
              <a:t>source_file.read</a:t>
            </a:r>
            <a:r>
              <a:rPr lang="en-GB" dirty="0"/>
              <a:t>()</a:t>
            </a:r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r>
              <a:rPr lang="en-GB" dirty="0"/>
              <a:t>with open("copy.jpg", "</a:t>
            </a:r>
            <a:r>
              <a:rPr lang="en-GB" dirty="0" err="1"/>
              <a:t>wb</a:t>
            </a:r>
            <a:r>
              <a:rPr lang="en-GB" dirty="0"/>
              <a:t>") as </a:t>
            </a:r>
            <a:r>
              <a:rPr lang="en-GB" dirty="0" err="1"/>
              <a:t>target_file</a:t>
            </a:r>
            <a:r>
              <a:rPr lang="en-GB" dirty="0"/>
              <a:t>:</a:t>
            </a:r>
          </a:p>
          <a:p>
            <a:pPr marL="457200" lvl="1" indent="0">
              <a:buNone/>
            </a:pPr>
            <a:r>
              <a:rPr lang="en-GB" dirty="0"/>
              <a:t>    </a:t>
            </a:r>
            <a:r>
              <a:rPr lang="en-GB" dirty="0" err="1"/>
              <a:t>target_file.write</a:t>
            </a:r>
            <a:r>
              <a:rPr lang="en-GB" dirty="0"/>
              <a:t>(content)</a:t>
            </a:r>
          </a:p>
          <a:p>
            <a:pPr marL="457200" lvl="1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0645329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E6504-9CD4-1508-C66D-77DA5E3EE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C60CC-E0F3-ADED-84ED-23877CBF09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Lab Activity 2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615346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822</TotalTime>
  <Words>2433</Words>
  <Application>Microsoft Office PowerPoint</Application>
  <PresentationFormat>On-screen Show (4:3)</PresentationFormat>
  <Paragraphs>342</Paragraphs>
  <Slides>43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Calibri</vt:lpstr>
      <vt:lpstr>Courier New</vt:lpstr>
      <vt:lpstr>Poppins</vt:lpstr>
      <vt:lpstr>Times New Roman</vt:lpstr>
      <vt:lpstr>Office Theme</vt:lpstr>
      <vt:lpstr>Python Programming</vt:lpstr>
      <vt:lpstr>Exception Handling</vt:lpstr>
      <vt:lpstr>Exceptions in Python</vt:lpstr>
      <vt:lpstr>Exception</vt:lpstr>
      <vt:lpstr>Python try...except</vt:lpstr>
      <vt:lpstr>try...except</vt:lpstr>
      <vt:lpstr>Example:</vt:lpstr>
      <vt:lpstr>Example</vt:lpstr>
      <vt:lpstr>Handling Multiple Exceptions</vt:lpstr>
      <vt:lpstr>Catching Any Exception Using except Exception</vt:lpstr>
      <vt:lpstr>Using else with try-except</vt:lpstr>
      <vt:lpstr>Finally</vt:lpstr>
      <vt:lpstr>Finally Block</vt:lpstr>
      <vt:lpstr>Example</vt:lpstr>
      <vt:lpstr>Raising Custom errors Using raise</vt:lpstr>
      <vt:lpstr>Example</vt:lpstr>
      <vt:lpstr>Creating Custom Exception Classes</vt:lpstr>
      <vt:lpstr>syntax</vt:lpstr>
      <vt:lpstr>Example</vt:lpstr>
      <vt:lpstr>Lab Activity 1</vt:lpstr>
      <vt:lpstr>File Handling in Python</vt:lpstr>
      <vt:lpstr>Python’s open() Function</vt:lpstr>
      <vt:lpstr>Different File Modes in Python</vt:lpstr>
      <vt:lpstr>Reading from a File ('r' mode)</vt:lpstr>
      <vt:lpstr>PowerPoint Presentation</vt:lpstr>
      <vt:lpstr>Reading a File Line by Line</vt:lpstr>
      <vt:lpstr>Example: Using readlines()</vt:lpstr>
      <vt:lpstr>Writing to a File ('w' mode)</vt:lpstr>
      <vt:lpstr>Appending to a File ('a' mode)</vt:lpstr>
      <vt:lpstr>Using with open() (Best Practice)</vt:lpstr>
      <vt:lpstr>Using with open() (Best Practice)</vt:lpstr>
      <vt:lpstr> Checking If a File Exists (os.path.exists())</vt:lpstr>
      <vt:lpstr> Checking If a File Exists (os.path.exists())</vt:lpstr>
      <vt:lpstr>Deleting a File (os.remove())</vt:lpstr>
      <vt:lpstr>Exception Handling in File Operations</vt:lpstr>
      <vt:lpstr>Example: Handling File Not Found Errors</vt:lpstr>
      <vt:lpstr>Renaming Files using os.rename()</vt:lpstr>
      <vt:lpstr>Getting File Information (os.stat())</vt:lpstr>
      <vt:lpstr>Example: Checking File Size &amp; Last Modified Time</vt:lpstr>
      <vt:lpstr>Controlling File Cursor Position (seek(), tell())</vt:lpstr>
      <vt:lpstr>Example: Using seek() and tell()pythonCopyEdit</vt:lpstr>
      <vt:lpstr>Working with Binary Files ('rb' and 'wb' modes)</vt:lpstr>
      <vt:lpstr>Lab Activity 2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Manahil Fatima</cp:lastModifiedBy>
  <cp:revision>53</cp:revision>
  <dcterms:created xsi:type="dcterms:W3CDTF">2013-01-27T09:14:16Z</dcterms:created>
  <dcterms:modified xsi:type="dcterms:W3CDTF">2025-03-15T00:33:06Z</dcterms:modified>
  <cp:category/>
</cp:coreProperties>
</file>